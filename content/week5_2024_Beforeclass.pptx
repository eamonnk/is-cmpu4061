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57"/>
  </p:notesMasterIdLst>
  <p:handoutMasterIdLst>
    <p:handoutMasterId r:id="rId58"/>
  </p:handoutMasterIdLst>
  <p:sldIdLst>
    <p:sldId id="275" r:id="rId5"/>
    <p:sldId id="256" r:id="rId6"/>
    <p:sldId id="310" r:id="rId7"/>
    <p:sldId id="313" r:id="rId8"/>
    <p:sldId id="395" r:id="rId9"/>
    <p:sldId id="315" r:id="rId10"/>
    <p:sldId id="391" r:id="rId11"/>
    <p:sldId id="398" r:id="rId12"/>
    <p:sldId id="392" r:id="rId13"/>
    <p:sldId id="402" r:id="rId14"/>
    <p:sldId id="382" r:id="rId15"/>
    <p:sldId id="383" r:id="rId16"/>
    <p:sldId id="393" r:id="rId17"/>
    <p:sldId id="384" r:id="rId18"/>
    <p:sldId id="385" r:id="rId19"/>
    <p:sldId id="386" r:id="rId20"/>
    <p:sldId id="387" r:id="rId21"/>
    <p:sldId id="388" r:id="rId22"/>
    <p:sldId id="397" r:id="rId23"/>
    <p:sldId id="389" r:id="rId24"/>
    <p:sldId id="316" r:id="rId25"/>
    <p:sldId id="340" r:id="rId26"/>
    <p:sldId id="341" r:id="rId27"/>
    <p:sldId id="328" r:id="rId28"/>
    <p:sldId id="329" r:id="rId29"/>
    <p:sldId id="330" r:id="rId30"/>
    <p:sldId id="342" r:id="rId31"/>
    <p:sldId id="331" r:id="rId32"/>
    <p:sldId id="332" r:id="rId33"/>
    <p:sldId id="399" r:id="rId34"/>
    <p:sldId id="344" r:id="rId35"/>
    <p:sldId id="381" r:id="rId36"/>
    <p:sldId id="333" r:id="rId37"/>
    <p:sldId id="346" r:id="rId38"/>
    <p:sldId id="356" r:id="rId39"/>
    <p:sldId id="334" r:id="rId40"/>
    <p:sldId id="400" r:id="rId41"/>
    <p:sldId id="348" r:id="rId42"/>
    <p:sldId id="335" r:id="rId43"/>
    <p:sldId id="357" r:id="rId44"/>
    <p:sldId id="336" r:id="rId45"/>
    <p:sldId id="401" r:id="rId46"/>
    <p:sldId id="350" r:id="rId47"/>
    <p:sldId id="337" r:id="rId48"/>
    <p:sldId id="338" r:id="rId49"/>
    <p:sldId id="351" r:id="rId50"/>
    <p:sldId id="364" r:id="rId51"/>
    <p:sldId id="380" r:id="rId52"/>
    <p:sldId id="366" r:id="rId53"/>
    <p:sldId id="301" r:id="rId54"/>
    <p:sldId id="288" r:id="rId55"/>
    <p:sldId id="289" r:id="rId56"/>
  </p:sldIdLst>
  <p:sldSz cx="12192000" cy="6858000"/>
  <p:notesSz cx="7010400" cy="9296400"/>
  <p:custDataLst>
    <p:tags r:id="rId5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D03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504" autoAdjust="0"/>
    <p:restoredTop sz="71715" autoAdjust="0"/>
  </p:normalViewPr>
  <p:slideViewPr>
    <p:cSldViewPr snapToGrid="0">
      <p:cViewPr varScale="1">
        <p:scale>
          <a:sx n="82" d="100"/>
          <a:sy n="82" d="100"/>
        </p:scale>
        <p:origin x="116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3" d="100"/>
          <a:sy n="83" d="100"/>
        </p:scale>
        <p:origin x="381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61" Type="http://schemas.openxmlformats.org/officeDocument/2006/relationships/viewProps" Target="view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microsoft.com/office/2016/11/relationships/changesInfo" Target="changesInfos/changesInfo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gs" Target="tags/tag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sa Llorens Salvador" userId="c80fc008-d1da-4311-939b-b78dfe62e0c7" providerId="ADAL" clId="{2DB5BF38-C664-4D6A-8F64-356687E38E4F}"/>
    <pc:docChg chg="custSel delSld modSld">
      <pc:chgData name="Marisa Llorens Salvador" userId="c80fc008-d1da-4311-939b-b78dfe62e0c7" providerId="ADAL" clId="{2DB5BF38-C664-4D6A-8F64-356687E38E4F}" dt="2024-10-14T14:33:20.970" v="18" actId="47"/>
      <pc:docMkLst>
        <pc:docMk/>
      </pc:docMkLst>
      <pc:sldChg chg="modSp mod">
        <pc:chgData name="Marisa Llorens Salvador" userId="c80fc008-d1da-4311-939b-b78dfe62e0c7" providerId="ADAL" clId="{2DB5BF38-C664-4D6A-8F64-356687E38E4F}" dt="2024-10-14T14:32:52.180" v="11" actId="27636"/>
        <pc:sldMkLst>
          <pc:docMk/>
          <pc:sldMk cId="211219232" sldId="301"/>
        </pc:sldMkLst>
        <pc:spChg chg="mod">
          <ac:chgData name="Marisa Llorens Salvador" userId="c80fc008-d1da-4311-939b-b78dfe62e0c7" providerId="ADAL" clId="{2DB5BF38-C664-4D6A-8F64-356687E38E4F}" dt="2024-10-14T14:32:52.180" v="11" actId="27636"/>
          <ac:spMkLst>
            <pc:docMk/>
            <pc:sldMk cId="211219232" sldId="301"/>
            <ac:spMk id="4" creationId="{00000000-0000-0000-0000-000000000000}"/>
          </ac:spMkLst>
        </pc:spChg>
      </pc:sldChg>
      <pc:sldChg chg="del">
        <pc:chgData name="Marisa Llorens Salvador" userId="c80fc008-d1da-4311-939b-b78dfe62e0c7" providerId="ADAL" clId="{2DB5BF38-C664-4D6A-8F64-356687E38E4F}" dt="2024-10-14T14:33:13.987" v="13" actId="47"/>
        <pc:sldMkLst>
          <pc:docMk/>
          <pc:sldMk cId="3672836831" sldId="339"/>
        </pc:sldMkLst>
      </pc:sldChg>
      <pc:sldChg chg="del">
        <pc:chgData name="Marisa Llorens Salvador" userId="c80fc008-d1da-4311-939b-b78dfe62e0c7" providerId="ADAL" clId="{2DB5BF38-C664-4D6A-8F64-356687E38E4F}" dt="2024-10-14T14:33:14.891" v="14" actId="47"/>
        <pc:sldMkLst>
          <pc:docMk/>
          <pc:sldMk cId="555900565" sldId="353"/>
        </pc:sldMkLst>
      </pc:sldChg>
      <pc:sldChg chg="del">
        <pc:chgData name="Marisa Llorens Salvador" userId="c80fc008-d1da-4311-939b-b78dfe62e0c7" providerId="ADAL" clId="{2DB5BF38-C664-4D6A-8F64-356687E38E4F}" dt="2024-10-14T14:33:15.959" v="15" actId="47"/>
        <pc:sldMkLst>
          <pc:docMk/>
          <pc:sldMk cId="2460426440" sldId="354"/>
        </pc:sldMkLst>
      </pc:sldChg>
      <pc:sldChg chg="del">
        <pc:chgData name="Marisa Llorens Salvador" userId="c80fc008-d1da-4311-939b-b78dfe62e0c7" providerId="ADAL" clId="{2DB5BF38-C664-4D6A-8F64-356687E38E4F}" dt="2024-10-14T14:33:17.461" v="16" actId="47"/>
        <pc:sldMkLst>
          <pc:docMk/>
          <pc:sldMk cId="2785208638" sldId="359"/>
        </pc:sldMkLst>
      </pc:sldChg>
      <pc:sldChg chg="del">
        <pc:chgData name="Marisa Llorens Salvador" userId="c80fc008-d1da-4311-939b-b78dfe62e0c7" providerId="ADAL" clId="{2DB5BF38-C664-4D6A-8F64-356687E38E4F}" dt="2024-10-14T14:33:19.643" v="17" actId="47"/>
        <pc:sldMkLst>
          <pc:docMk/>
          <pc:sldMk cId="1837622776" sldId="360"/>
        </pc:sldMkLst>
      </pc:sldChg>
      <pc:sldChg chg="del">
        <pc:chgData name="Marisa Llorens Salvador" userId="c80fc008-d1da-4311-939b-b78dfe62e0c7" providerId="ADAL" clId="{2DB5BF38-C664-4D6A-8F64-356687E38E4F}" dt="2024-10-14T14:33:20.970" v="18" actId="47"/>
        <pc:sldMkLst>
          <pc:docMk/>
          <pc:sldMk cId="2647916470" sldId="361"/>
        </pc:sldMkLst>
      </pc:sldChg>
      <pc:sldChg chg="del">
        <pc:chgData name="Marisa Llorens Salvador" userId="c80fc008-d1da-4311-939b-b78dfe62e0c7" providerId="ADAL" clId="{2DB5BF38-C664-4D6A-8F64-356687E38E4F}" dt="2024-10-14T14:32:18.621" v="0" actId="47"/>
        <pc:sldMkLst>
          <pc:docMk/>
          <pc:sldMk cId="1092337731" sldId="365"/>
        </pc:sldMkLst>
      </pc:sldChg>
      <pc:sldChg chg="del">
        <pc:chgData name="Marisa Llorens Salvador" userId="c80fc008-d1da-4311-939b-b78dfe62e0c7" providerId="ADAL" clId="{2DB5BF38-C664-4D6A-8F64-356687E38E4F}" dt="2024-10-14T14:32:20.557" v="2" actId="47"/>
        <pc:sldMkLst>
          <pc:docMk/>
          <pc:sldMk cId="3263259151" sldId="367"/>
        </pc:sldMkLst>
      </pc:sldChg>
      <pc:sldChg chg="del">
        <pc:chgData name="Marisa Llorens Salvador" userId="c80fc008-d1da-4311-939b-b78dfe62e0c7" providerId="ADAL" clId="{2DB5BF38-C664-4D6A-8F64-356687E38E4F}" dt="2024-10-14T14:32:19.702" v="1" actId="47"/>
        <pc:sldMkLst>
          <pc:docMk/>
          <pc:sldMk cId="1717349079" sldId="368"/>
        </pc:sldMkLst>
      </pc:sldChg>
      <pc:sldChg chg="del">
        <pc:chgData name="Marisa Llorens Salvador" userId="c80fc008-d1da-4311-939b-b78dfe62e0c7" providerId="ADAL" clId="{2DB5BF38-C664-4D6A-8F64-356687E38E4F}" dt="2024-10-14T14:32:23.038" v="4" actId="47"/>
        <pc:sldMkLst>
          <pc:docMk/>
          <pc:sldMk cId="3667871970" sldId="369"/>
        </pc:sldMkLst>
      </pc:sldChg>
      <pc:sldChg chg="del">
        <pc:chgData name="Marisa Llorens Salvador" userId="c80fc008-d1da-4311-939b-b78dfe62e0c7" providerId="ADAL" clId="{2DB5BF38-C664-4D6A-8F64-356687E38E4F}" dt="2024-10-14T14:32:21.530" v="3" actId="47"/>
        <pc:sldMkLst>
          <pc:docMk/>
          <pc:sldMk cId="1448456348" sldId="370"/>
        </pc:sldMkLst>
      </pc:sldChg>
      <pc:sldChg chg="del">
        <pc:chgData name="Marisa Llorens Salvador" userId="c80fc008-d1da-4311-939b-b78dfe62e0c7" providerId="ADAL" clId="{2DB5BF38-C664-4D6A-8F64-356687E38E4F}" dt="2024-10-14T14:32:32.292" v="5" actId="47"/>
        <pc:sldMkLst>
          <pc:docMk/>
          <pc:sldMk cId="789150575" sldId="371"/>
        </pc:sldMkLst>
      </pc:sldChg>
      <pc:sldChg chg="del">
        <pc:chgData name="Marisa Llorens Salvador" userId="c80fc008-d1da-4311-939b-b78dfe62e0c7" providerId="ADAL" clId="{2DB5BF38-C664-4D6A-8F64-356687E38E4F}" dt="2024-10-14T14:32:33.424" v="6" actId="47"/>
        <pc:sldMkLst>
          <pc:docMk/>
          <pc:sldMk cId="1872535486" sldId="372"/>
        </pc:sldMkLst>
      </pc:sldChg>
      <pc:sldChg chg="del">
        <pc:chgData name="Marisa Llorens Salvador" userId="c80fc008-d1da-4311-939b-b78dfe62e0c7" providerId="ADAL" clId="{2DB5BF38-C664-4D6A-8F64-356687E38E4F}" dt="2024-10-14T14:32:34.599" v="7" actId="47"/>
        <pc:sldMkLst>
          <pc:docMk/>
          <pc:sldMk cId="2672448470" sldId="373"/>
        </pc:sldMkLst>
      </pc:sldChg>
      <pc:sldChg chg="del">
        <pc:chgData name="Marisa Llorens Salvador" userId="c80fc008-d1da-4311-939b-b78dfe62e0c7" providerId="ADAL" clId="{2DB5BF38-C664-4D6A-8F64-356687E38E4F}" dt="2024-10-14T14:32:35.644" v="8" actId="47"/>
        <pc:sldMkLst>
          <pc:docMk/>
          <pc:sldMk cId="245800863" sldId="374"/>
        </pc:sldMkLst>
      </pc:sldChg>
      <pc:sldChg chg="del">
        <pc:chgData name="Marisa Llorens Salvador" userId="c80fc008-d1da-4311-939b-b78dfe62e0c7" providerId="ADAL" clId="{2DB5BF38-C664-4D6A-8F64-356687E38E4F}" dt="2024-10-14T14:33:13.161" v="12" actId="47"/>
        <pc:sldMkLst>
          <pc:docMk/>
          <pc:sldMk cId="3770315031" sldId="375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2299BF62-F315-46FD-A225-AF40715BD720}" type="datetimeFigureOut">
              <a:rPr lang="en-IE" smtClean="0"/>
              <a:t>23/10/2024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9D678C69-1BE9-4AD4-8E49-7A2B3B5B7B7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687216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C8585DF0-59FF-4857-9F82-F93A5D9DD461}" type="datetimeFigureOut">
              <a:rPr lang="en-IE" smtClean="0"/>
              <a:t>23/10/2024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E71D7177-ECA0-45C5-A5EE-1EDD549F8A6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82688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007260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904950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9866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3648D39-2D5D-4913-8076-A34CB43E9015}" type="slidenum">
              <a:rPr lang="en-GB"/>
              <a:pPr/>
              <a:t>4</a:t>
            </a:fld>
            <a:endParaRPr lang="en-GB"/>
          </a:p>
        </p:txBody>
      </p:sp>
      <p:sp>
        <p:nvSpPr>
          <p:cNvPr id="3986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86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4817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3648D39-2D5D-4913-8076-A34CB43E9015}" type="slidenum">
              <a:rPr lang="en-GB"/>
              <a:pPr/>
              <a:t>5</a:t>
            </a:fld>
            <a:endParaRPr lang="en-GB"/>
          </a:p>
        </p:txBody>
      </p:sp>
      <p:sp>
        <p:nvSpPr>
          <p:cNvPr id="3986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86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2145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968477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CBEC 1404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10th Oct. '11</a:t>
            </a:r>
            <a:endParaRPr lang="en-GB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Databases I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4EC21DD-33E6-4D39-95A2-E4956CDF6250}" type="slidenum">
              <a:rPr lang="en-GB"/>
              <a:pPr/>
              <a:t>7</a:t>
            </a:fld>
            <a:endParaRPr lang="en-GB"/>
          </a:p>
        </p:txBody>
      </p:sp>
      <p:sp>
        <p:nvSpPr>
          <p:cNvPr id="39546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546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1774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CBEC 1404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10th Oct. '11</a:t>
            </a:r>
            <a:endParaRPr lang="en-GB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Databases I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4EC21DD-33E6-4D39-95A2-E4956CDF6250}" type="slidenum">
              <a:rPr lang="en-GB"/>
              <a:pPr/>
              <a:t>8</a:t>
            </a:fld>
            <a:endParaRPr lang="en-GB"/>
          </a:p>
        </p:txBody>
      </p:sp>
      <p:sp>
        <p:nvSpPr>
          <p:cNvPr id="39546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546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8635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CBEC 1404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10th Oct. '11</a:t>
            </a:r>
            <a:endParaRPr lang="en-GB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Databases I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4EC21DD-33E6-4D39-95A2-E4956CDF6250}" type="slidenum">
              <a:rPr lang="en-GB"/>
              <a:pPr/>
              <a:t>9</a:t>
            </a:fld>
            <a:endParaRPr lang="en-GB"/>
          </a:p>
        </p:txBody>
      </p:sp>
      <p:sp>
        <p:nvSpPr>
          <p:cNvPr id="39546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546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234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CBEC 1404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10th Oct. '11</a:t>
            </a:r>
            <a:endParaRPr lang="en-GB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Databases I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4EC21DD-33E6-4D39-95A2-E4956CDF6250}" type="slidenum">
              <a:rPr lang="en-GB"/>
              <a:pPr/>
              <a:t>10</a:t>
            </a:fld>
            <a:endParaRPr lang="en-GB"/>
          </a:p>
        </p:txBody>
      </p:sp>
      <p:sp>
        <p:nvSpPr>
          <p:cNvPr id="39546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546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0056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CBEC 1404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10th Oct. '11</a:t>
            </a:r>
            <a:endParaRPr lang="en-GB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Databases I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1E03F60-7411-469B-BA0E-4C84782FB480}" type="slidenum">
              <a:rPr lang="en-GB"/>
              <a:pPr/>
              <a:t>11</a:t>
            </a:fld>
            <a:endParaRPr lang="en-GB"/>
          </a:p>
        </p:txBody>
      </p:sp>
      <p:sp>
        <p:nvSpPr>
          <p:cNvPr id="4009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09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5959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CBEC 1404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10th Oct. '11</a:t>
            </a:r>
            <a:endParaRPr lang="en-GB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Databases I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BD5E705-A6C5-424B-BD4F-64318FE8EAE2}" type="slidenum">
              <a:rPr lang="en-GB"/>
              <a:pPr/>
              <a:t>12</a:t>
            </a:fld>
            <a:endParaRPr lang="en-GB"/>
          </a:p>
        </p:txBody>
      </p:sp>
      <p:sp>
        <p:nvSpPr>
          <p:cNvPr id="39557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557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0754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CBEC 1404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10th Oct. '11</a:t>
            </a:r>
            <a:endParaRPr lang="en-GB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Databases I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BD5E705-A6C5-424B-BD4F-64318FE8EAE2}" type="slidenum">
              <a:rPr lang="en-GB"/>
              <a:pPr/>
              <a:t>13</a:t>
            </a:fld>
            <a:endParaRPr lang="en-GB"/>
          </a:p>
        </p:txBody>
      </p:sp>
      <p:sp>
        <p:nvSpPr>
          <p:cNvPr id="39557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557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0463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CBEC 1404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10th Oct. '11</a:t>
            </a:r>
            <a:endParaRPr lang="en-GB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Databases I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BD5E705-A6C5-424B-BD4F-64318FE8EAE2}" type="slidenum">
              <a:rPr lang="en-GB"/>
              <a:pPr/>
              <a:t>14</a:t>
            </a:fld>
            <a:endParaRPr lang="en-GB"/>
          </a:p>
        </p:txBody>
      </p:sp>
      <p:sp>
        <p:nvSpPr>
          <p:cNvPr id="39557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557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86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CBEC 1404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10th Oct. '11</a:t>
            </a:r>
            <a:endParaRPr lang="en-GB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Databases I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352F4B8-8BB7-4560-B328-451EF6885848}" type="slidenum">
              <a:rPr lang="en-GB"/>
              <a:pPr/>
              <a:t>16</a:t>
            </a:fld>
            <a:endParaRPr lang="en-GB"/>
          </a:p>
        </p:txBody>
      </p:sp>
      <p:sp>
        <p:nvSpPr>
          <p:cNvPr id="39567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567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0143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CBEC 1404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10th Oct. '11</a:t>
            </a:r>
            <a:endParaRPr lang="en-GB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Databases I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D174904-3AC1-468A-9A85-EC5F35DA1763}" type="slidenum">
              <a:rPr lang="en-GB"/>
              <a:pPr/>
              <a:t>17</a:t>
            </a:fld>
            <a:endParaRPr lang="en-GB"/>
          </a:p>
        </p:txBody>
      </p:sp>
      <p:sp>
        <p:nvSpPr>
          <p:cNvPr id="39577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577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8950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CBEC 1404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10th Oct. '11</a:t>
            </a:r>
            <a:endParaRPr lang="en-GB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Databases I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1E03F60-7411-469B-BA0E-4C84782FB480}" type="slidenum">
              <a:rPr lang="en-GB"/>
              <a:pPr/>
              <a:t>18</a:t>
            </a:fld>
            <a:endParaRPr lang="en-GB"/>
          </a:p>
        </p:txBody>
      </p:sp>
      <p:sp>
        <p:nvSpPr>
          <p:cNvPr id="4009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09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8424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CBEC 1404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10th Oct. '11</a:t>
            </a:r>
            <a:endParaRPr lang="en-GB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Databases I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1E03F60-7411-469B-BA0E-4C84782FB480}" type="slidenum">
              <a:rPr lang="en-GB"/>
              <a:pPr/>
              <a:t>19</a:t>
            </a:fld>
            <a:endParaRPr lang="en-GB"/>
          </a:p>
        </p:txBody>
      </p:sp>
      <p:sp>
        <p:nvSpPr>
          <p:cNvPr id="4009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09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616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CBEC 1404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10th Oct. '11</a:t>
            </a:r>
            <a:endParaRPr lang="en-GB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Databases I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55489D0-F365-4FE4-8E66-57B46CB55102}" type="slidenum">
              <a:rPr lang="en-GB"/>
              <a:pPr/>
              <a:t>20</a:t>
            </a:fld>
            <a:endParaRPr lang="en-GB"/>
          </a:p>
        </p:txBody>
      </p:sp>
      <p:sp>
        <p:nvSpPr>
          <p:cNvPr id="39587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587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7189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CBEC 1404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10th Oct. '11</a:t>
            </a:r>
            <a:endParaRPr lang="en-GB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Databases I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A174CCC-3EB6-4547-AB0F-D9DBE6B8A0F4}" type="slidenum">
              <a:rPr lang="en-GB"/>
              <a:pPr/>
              <a:t>21</a:t>
            </a:fld>
            <a:endParaRPr lang="en-GB"/>
          </a:p>
        </p:txBody>
      </p:sp>
      <p:sp>
        <p:nvSpPr>
          <p:cNvPr id="3992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2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57777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A174CCC-3EB6-4547-AB0F-D9DBE6B8A0F4}" type="slidenum">
              <a:rPr lang="en-GB"/>
              <a:pPr/>
              <a:t>22</a:t>
            </a:fld>
            <a:endParaRPr lang="en-GB"/>
          </a:p>
        </p:txBody>
      </p:sp>
      <p:sp>
        <p:nvSpPr>
          <p:cNvPr id="3992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2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2557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A174CCC-3EB6-4547-AB0F-D9DBE6B8A0F4}" type="slidenum">
              <a:rPr lang="en-GB"/>
              <a:pPr/>
              <a:t>23</a:t>
            </a:fld>
            <a:endParaRPr lang="en-GB"/>
          </a:p>
        </p:txBody>
      </p:sp>
      <p:sp>
        <p:nvSpPr>
          <p:cNvPr id="3992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2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6945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A4388A2-1E37-4311-99EE-76561EFE8214}" type="slidenum">
              <a:rPr lang="en-GB"/>
              <a:pPr/>
              <a:t>24</a:t>
            </a:fld>
            <a:endParaRPr lang="en-GB"/>
          </a:p>
        </p:txBody>
      </p:sp>
      <p:sp>
        <p:nvSpPr>
          <p:cNvPr id="39598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598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50612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E9E6548-FEA7-4181-B31B-32F01CF89AE0}" type="slidenum">
              <a:rPr lang="en-GB"/>
              <a:pPr/>
              <a:t>25</a:t>
            </a:fld>
            <a:endParaRPr lang="en-GB"/>
          </a:p>
        </p:txBody>
      </p:sp>
      <p:sp>
        <p:nvSpPr>
          <p:cNvPr id="39690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690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6172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26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6316581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27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6071320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1315CE6-5B4C-4973-B365-FCCA4EFAF365}" type="slidenum">
              <a:rPr lang="en-GB"/>
              <a:pPr/>
              <a:t>28</a:t>
            </a:fld>
            <a:endParaRPr lang="en-GB"/>
          </a:p>
        </p:txBody>
      </p:sp>
      <p:sp>
        <p:nvSpPr>
          <p:cNvPr id="39608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608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3355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29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307955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30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802232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31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525183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32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4431177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3664A-F429-46F2-8AD9-06F573299D78}" type="slidenum">
              <a:rPr lang="en-GB"/>
              <a:pPr/>
              <a:t>33</a:t>
            </a:fld>
            <a:endParaRPr lang="en-GB"/>
          </a:p>
        </p:txBody>
      </p:sp>
      <p:sp>
        <p:nvSpPr>
          <p:cNvPr id="39628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628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05773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3664A-F429-46F2-8AD9-06F573299D78}" type="slidenum">
              <a:rPr lang="en-GB"/>
              <a:pPr/>
              <a:t>34</a:t>
            </a:fld>
            <a:endParaRPr lang="en-GB"/>
          </a:p>
        </p:txBody>
      </p:sp>
      <p:sp>
        <p:nvSpPr>
          <p:cNvPr id="39628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628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73300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3664A-F429-46F2-8AD9-06F573299D78}" type="slidenum">
              <a:rPr lang="en-GB"/>
              <a:pPr/>
              <a:t>35</a:t>
            </a:fld>
            <a:endParaRPr lang="en-GB"/>
          </a:p>
        </p:txBody>
      </p:sp>
      <p:sp>
        <p:nvSpPr>
          <p:cNvPr id="39628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628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2464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719B0F0-22EC-4223-ADF7-D88A4FB184CE}" type="slidenum">
              <a:rPr lang="en-GB" smtClean="0"/>
              <a:pPr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93607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719B0F0-22EC-4223-ADF7-D88A4FB184CE}" type="slidenum">
              <a:rPr lang="en-GB" smtClean="0"/>
              <a:pPr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864966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719B0F0-22EC-4223-ADF7-D88A4FB184CE}" type="slidenum">
              <a:rPr lang="en-GB" smtClean="0"/>
              <a:pPr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1493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83224FB-93FC-43C2-B830-7C53D23A4965}" type="slidenum">
              <a:rPr lang="en-GB"/>
              <a:pPr/>
              <a:t>39</a:t>
            </a:fld>
            <a:endParaRPr lang="en-GB"/>
          </a:p>
        </p:txBody>
      </p:sp>
      <p:sp>
        <p:nvSpPr>
          <p:cNvPr id="39649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649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24864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83224FB-93FC-43C2-B830-7C53D23A4965}" type="slidenum">
              <a:rPr lang="en-GB"/>
              <a:pPr/>
              <a:t>40</a:t>
            </a:fld>
            <a:endParaRPr lang="en-GB"/>
          </a:p>
        </p:txBody>
      </p:sp>
      <p:sp>
        <p:nvSpPr>
          <p:cNvPr id="39649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649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47448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41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9771318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42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3027429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43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5558882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3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9CEE33E-3F9C-419E-A60F-6C28FF2FD15C}" type="slidenum">
              <a:rPr lang="en-GB"/>
              <a:pPr/>
              <a:t>44</a:t>
            </a:fld>
            <a:endParaRPr lang="en-GB"/>
          </a:p>
        </p:txBody>
      </p:sp>
      <p:sp>
        <p:nvSpPr>
          <p:cNvPr id="39311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311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15383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45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9701674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46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1925329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47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5676382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48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074297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49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3166643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50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1367681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51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3211667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1D7177-ECA0-45C5-A5EE-1EDD549F8A65}" type="slidenum">
              <a:rPr lang="en-IE" smtClean="0"/>
              <a:t>52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325417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1317E-4B72-DDFC-3395-0AFCCE2FD9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926A8-BE5E-DB34-24F4-F8937FEFA6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5AE87C-D5AB-C13D-F314-AE2B2F1300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29649-D2FF-4264-8CCF-CA181E47AA8A}" type="datetimeFigureOut">
              <a:rPr lang="en-IE" smtClean="0"/>
              <a:t>23/10/2024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E1232-B827-66CE-45E4-0AC0EE014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97826-01BA-CB0F-0792-6716C4805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80467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6B007DB-BAC0-B5F7-CD3D-D722F4B0FC67}"/>
              </a:ext>
            </a:extLst>
          </p:cNvPr>
          <p:cNvSpPr/>
          <p:nvPr/>
        </p:nvSpPr>
        <p:spPr>
          <a:xfrm>
            <a:off x="0" y="6311900"/>
            <a:ext cx="12192000" cy="546100"/>
          </a:xfrm>
          <a:prstGeom prst="rect">
            <a:avLst/>
          </a:prstGeom>
          <a:solidFill>
            <a:srgbClr val="00A9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CCE980-C7F7-E4BB-3D60-AC4227DD6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A45A55-EFF2-43B6-B7BF-52DAEFC6D4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DE508-9D0D-1A12-5055-B8C9BE346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A629649-D2FF-4264-8CCF-CA181E47AA8A}" type="datetimeFigureOut">
              <a:rPr lang="en-IE" smtClean="0"/>
              <a:t>23/10/2024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60AB5E-027B-22C7-C21B-F11F469E4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86FA1-5E26-507E-BD6D-3316D06DE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646061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s">
    <p:bg>
      <p:bgPr>
        <a:solidFill>
          <a:srgbClr val="004C6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CE980-C7F7-E4BB-3D60-AC4227DD6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DE508-9D0D-1A12-5055-B8C9BE346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EA629649-D2FF-4264-8CCF-CA181E47AA8A}" type="datetimeFigureOut">
              <a:rPr lang="en-IE" smtClean="0"/>
              <a:t>23/10/2024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60AB5E-027B-22C7-C21B-F11F469E4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86FA1-5E26-507E-BD6D-3316D06DE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  <p:pic>
        <p:nvPicPr>
          <p:cNvPr id="8" name="Graphic 7" descr="The following is a quote: ">
            <a:extLst>
              <a:ext uri="{FF2B5EF4-FFF2-40B4-BE49-F238E27FC236}">
                <a16:creationId xmlns:a16="http://schemas.microsoft.com/office/drawing/2014/main" id="{BBC1D34B-9075-8D03-3A5C-E7D33712D62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4726" y="1825625"/>
            <a:ext cx="2084363" cy="2084363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1D05262-A873-B471-8864-15D00174DEC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43200" y="2147888"/>
            <a:ext cx="8610600" cy="379571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4251542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24196-08E0-BC7A-8733-4E756A5FA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DD4156-1D08-F755-3CB7-F04B4CB23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A864EA-CCA9-EB4F-A84F-BE9D5F986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EA629649-D2FF-4264-8CCF-CA181E47AA8A}" type="datetimeFigureOut">
              <a:rPr lang="en-IE" smtClean="0"/>
              <a:t>23/10/2024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BAC42-79B8-8591-472D-39FDD982E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9DDDC1-A48D-40A0-07DA-F99E091C3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90285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 Hea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24196-08E0-BC7A-8733-4E756A5FA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4816548"/>
            <a:ext cx="10515600" cy="1223851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A864EA-CCA9-EB4F-A84F-BE9D5F986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29649-D2FF-4264-8CCF-CA181E47AA8A}" type="datetimeFigureOut">
              <a:rPr lang="en-IE" smtClean="0"/>
              <a:t>23/10/2024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BAC42-79B8-8591-472D-39FDD982E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9DDDC1-A48D-40A0-07DA-F99E091C3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9A2BA5-1AB5-DB59-3C54-16713B4E427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754313" y="712788"/>
            <a:ext cx="6794500" cy="41037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12047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B0BE543-0448-3A4C-5F33-EAD956CEEC4F}"/>
              </a:ext>
            </a:extLst>
          </p:cNvPr>
          <p:cNvSpPr/>
          <p:nvPr/>
        </p:nvSpPr>
        <p:spPr>
          <a:xfrm>
            <a:off x="0" y="6311900"/>
            <a:ext cx="12192000" cy="546100"/>
          </a:xfrm>
          <a:prstGeom prst="rect">
            <a:avLst/>
          </a:prstGeom>
          <a:solidFill>
            <a:srgbClr val="00A9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9FF7AA-B49C-D561-FA47-CB24D2FBF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761E7E-A789-0692-DCFA-73EB3A13A5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5CDC2F-840C-693F-493D-EB4B70B829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413D37-E198-0C87-31DE-C825CE017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29649-D2FF-4264-8CCF-CA181E47AA8A}" type="datetimeFigureOut">
              <a:rPr lang="en-IE" smtClean="0"/>
              <a:t>23/10/2024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55D9D-23CD-C2B7-2CB9-63A7B666A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C84A3F-2DEF-A695-73CD-C8A79EDD7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768737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A557A7C-8356-9C4D-0FD4-A2809BBA22A6}"/>
              </a:ext>
            </a:extLst>
          </p:cNvPr>
          <p:cNvSpPr/>
          <p:nvPr/>
        </p:nvSpPr>
        <p:spPr>
          <a:xfrm>
            <a:off x="0" y="6311900"/>
            <a:ext cx="12192000" cy="546100"/>
          </a:xfrm>
          <a:prstGeom prst="rect">
            <a:avLst/>
          </a:prstGeom>
          <a:solidFill>
            <a:srgbClr val="00A9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23E5D6-F819-DF80-8C6A-FE0FD2368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634751-4015-7A9E-A494-E4825F6D8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D0E5A5-4B18-9989-88ED-D6B31265D2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85D65-C667-2456-E06F-F0E68B2E5C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44F890-33E6-BD4B-978A-E4B20968B8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26AA7C-81D8-7C95-3E01-76956024F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29649-D2FF-4264-8CCF-CA181E47AA8A}" type="datetimeFigureOut">
              <a:rPr lang="en-IE" smtClean="0"/>
              <a:t>23/10/2024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830B1-02EA-A7DB-8FCF-32C06C3E0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80A6F-5EBE-2DCC-8CCB-9F05EA664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618117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8C00E1A-F73B-4343-8C36-A161A0EDF3C9}"/>
              </a:ext>
            </a:extLst>
          </p:cNvPr>
          <p:cNvSpPr/>
          <p:nvPr/>
        </p:nvSpPr>
        <p:spPr>
          <a:xfrm>
            <a:off x="0" y="6311900"/>
            <a:ext cx="12192000" cy="546100"/>
          </a:xfrm>
          <a:prstGeom prst="rect">
            <a:avLst/>
          </a:prstGeom>
          <a:solidFill>
            <a:srgbClr val="00A9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CD2DC0-0D4F-4B0E-7C43-380735648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278B6D-6F61-EF5E-B5CC-F72AA2353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29649-D2FF-4264-8CCF-CA181E47AA8A}" type="datetimeFigureOut">
              <a:rPr lang="en-IE" smtClean="0"/>
              <a:t>23/10/2024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7A9D98-33BD-A8E4-155E-07D8B622B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44C4ED-AE87-B167-6C8F-8D62A01C4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382340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DD81B3-DF2D-90A5-75B5-5F66A4EEC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29649-D2FF-4264-8CCF-CA181E47AA8A}" type="datetimeFigureOut">
              <a:rPr lang="en-IE" smtClean="0"/>
              <a:t>23/10/2024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500BE0-7239-DF9F-8152-6A89D5FD4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27DB2-2307-A467-49D2-43198D154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180407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 colou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DD81B3-DF2D-90A5-75B5-5F66A4EEC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29649-D2FF-4264-8CCF-CA181E47AA8A}" type="datetimeFigureOut">
              <a:rPr lang="en-IE" smtClean="0"/>
              <a:t>23/10/2024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500BE0-7239-DF9F-8152-6A89D5FD4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27DB2-2307-A467-49D2-43198D154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75541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B3F2E4F-D69A-C303-0281-6BB8BC65FA1A}"/>
              </a:ext>
            </a:extLst>
          </p:cNvPr>
          <p:cNvSpPr/>
          <p:nvPr/>
        </p:nvSpPr>
        <p:spPr>
          <a:xfrm>
            <a:off x="0" y="6311900"/>
            <a:ext cx="12192000" cy="546100"/>
          </a:xfrm>
          <a:prstGeom prst="rect">
            <a:avLst/>
          </a:prstGeom>
          <a:solidFill>
            <a:srgbClr val="00A9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E483EC-461E-3DF8-7723-85858B620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0BA06-04AB-09B5-645C-2091343E99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D91B3F-7C7C-73B9-77CB-A11B1FCF85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67F290-2545-0C2B-78A6-D50CE3D00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29649-D2FF-4264-8CCF-CA181E47AA8A}" type="datetimeFigureOut">
              <a:rPr lang="en-IE" smtClean="0"/>
              <a:t>23/10/2024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E117D-2169-6E39-149C-5FBECD5E7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83838A-4F66-F529-E239-3AE7FBEDE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051662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54395A0-EB10-01E3-39B4-075A8ACEABC7}"/>
              </a:ext>
            </a:extLst>
          </p:cNvPr>
          <p:cNvSpPr/>
          <p:nvPr/>
        </p:nvSpPr>
        <p:spPr>
          <a:xfrm>
            <a:off x="0" y="6311900"/>
            <a:ext cx="12192000" cy="546100"/>
          </a:xfrm>
          <a:prstGeom prst="rect">
            <a:avLst/>
          </a:prstGeom>
          <a:solidFill>
            <a:srgbClr val="00A9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2FAE3E-C2EA-DDE4-4229-9EB50F2F1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131BBD-51CD-4DC2-4A60-8A48EA6C6A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3B0D01-09EF-1E92-D338-9CD0EBA943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20126-F846-16D0-EBDD-34D48607E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29649-D2FF-4264-8CCF-CA181E47AA8A}" type="datetimeFigureOut">
              <a:rPr lang="en-IE" smtClean="0"/>
              <a:t>23/10/2024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34FC57-C801-AEF4-1D0A-E095B6450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951B0C-275C-33D2-9A96-4D0314E6E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376275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A1A4EC-146B-3381-63D1-52F3C15CB004}"/>
              </a:ext>
            </a:extLst>
          </p:cNvPr>
          <p:cNvSpPr/>
          <p:nvPr/>
        </p:nvSpPr>
        <p:spPr>
          <a:xfrm>
            <a:off x="0" y="6311900"/>
            <a:ext cx="12192000" cy="546100"/>
          </a:xfrm>
          <a:prstGeom prst="rect">
            <a:avLst/>
          </a:prstGeom>
          <a:solidFill>
            <a:srgbClr val="00A9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BEF132-B0C4-CEBA-D9BB-A90CC2A65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5F3702-713A-C951-9CCF-955488BC64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34A4F3-ECB2-56FC-3055-081257812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29649-D2FF-4264-8CCF-CA181E47AA8A}" type="datetimeFigureOut">
              <a:rPr lang="en-IE" smtClean="0"/>
              <a:t>23/10/2024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1849C6-D413-92F0-6B5F-27BB8AC7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9A6DE-F917-5ECB-80DB-4C5C9924B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045858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9213BEA-D64A-CDAB-CB01-CACA6AEFB654}"/>
              </a:ext>
            </a:extLst>
          </p:cNvPr>
          <p:cNvSpPr/>
          <p:nvPr/>
        </p:nvSpPr>
        <p:spPr>
          <a:xfrm>
            <a:off x="0" y="6311900"/>
            <a:ext cx="12192000" cy="546100"/>
          </a:xfrm>
          <a:prstGeom prst="rect">
            <a:avLst/>
          </a:prstGeom>
          <a:solidFill>
            <a:srgbClr val="00A9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FFD24A-02C7-3C15-C6A2-2FE1816ED4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7E5EB9-6E42-B9D7-5671-A15D13E201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3BCAA2-15B7-B922-2788-5986E5EEA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29649-D2FF-4264-8CCF-CA181E47AA8A}" type="datetimeFigureOut">
              <a:rPr lang="en-IE" smtClean="0"/>
              <a:t>23/10/2024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AD40C5-A7B5-0CB8-7A77-77280AC6E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DA6257-1CC9-8C66-1C48-A645172DC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1285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E0A642-ABE6-FE0E-2BD1-AB0BC48CE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47573-978D-7FA9-0D26-40779E9769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631032-3BBA-DDD8-39F1-68FB671B8D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882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EA629649-D2FF-4264-8CCF-CA181E47AA8A}" type="datetimeFigureOut">
              <a:rPr lang="en-IE" smtClean="0"/>
              <a:t>23/10/2024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C0B08B-CD62-82DF-7BC9-CCDE7E5B63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8824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D453A8-267C-532B-1CCE-A59D105FDA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882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</a:lstStyle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40849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4C6C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5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e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pe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e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hyperlink" Target="mailto:ryana@tup.ie" TargetMode="External"/><Relationship Id="rId3" Type="http://schemas.openxmlformats.org/officeDocument/2006/relationships/hyperlink" Target="mailto:mary@tup.ie" TargetMode="External"/><Relationship Id="rId7" Type="http://schemas.openxmlformats.org/officeDocument/2006/relationships/hyperlink" Target="mailto:a.ryan@tup.ie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Relationship Id="rId6" Type="http://schemas.openxmlformats.org/officeDocument/2006/relationships/hyperlink" Target="mailto:John.murphy@tup.ie" TargetMode="External"/><Relationship Id="rId5" Type="http://schemas.openxmlformats.org/officeDocument/2006/relationships/hyperlink" Target="mailto:whitem@tup.ie" TargetMode="External"/><Relationship Id="rId4" Type="http://schemas.openxmlformats.org/officeDocument/2006/relationships/hyperlink" Target="mailto:m.white@tup.ie" TargetMode="External"/><Relationship Id="rId9" Type="http://schemas.openxmlformats.org/officeDocument/2006/relationships/hyperlink" Target="mailto:s.kennedy@tup.ie" TargetMode="Externa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hyperlink" Target="mailto:ryana@tup.ie" TargetMode="External"/><Relationship Id="rId3" Type="http://schemas.openxmlformats.org/officeDocument/2006/relationships/hyperlink" Target="mailto:mary@tup.ie" TargetMode="External"/><Relationship Id="rId7" Type="http://schemas.openxmlformats.org/officeDocument/2006/relationships/hyperlink" Target="mailto:a.ryan@tup.ie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Relationship Id="rId6" Type="http://schemas.openxmlformats.org/officeDocument/2006/relationships/hyperlink" Target="mailto:John.murphy@tup.ie" TargetMode="External"/><Relationship Id="rId5" Type="http://schemas.openxmlformats.org/officeDocument/2006/relationships/hyperlink" Target="mailto:whitem@tup.ie" TargetMode="External"/><Relationship Id="rId4" Type="http://schemas.openxmlformats.org/officeDocument/2006/relationships/hyperlink" Target="mailto:m.white@tup.ie" TargetMode="External"/><Relationship Id="rId9" Type="http://schemas.openxmlformats.org/officeDocument/2006/relationships/hyperlink" Target="mailto:s.kennedy@tup.ie" TargetMode="Externa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hyperlink" Target="mailto:ryana@tup.ie" TargetMode="External"/><Relationship Id="rId3" Type="http://schemas.openxmlformats.org/officeDocument/2006/relationships/hyperlink" Target="mailto:mary@tup.ie" TargetMode="External"/><Relationship Id="rId7" Type="http://schemas.openxmlformats.org/officeDocument/2006/relationships/hyperlink" Target="mailto:a.ryan@tup.ie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Relationship Id="rId6" Type="http://schemas.openxmlformats.org/officeDocument/2006/relationships/hyperlink" Target="mailto:John.murphy@tup.ie" TargetMode="External"/><Relationship Id="rId5" Type="http://schemas.openxmlformats.org/officeDocument/2006/relationships/hyperlink" Target="mailto:whitem@tup.ie" TargetMode="External"/><Relationship Id="rId4" Type="http://schemas.openxmlformats.org/officeDocument/2006/relationships/hyperlink" Target="mailto:m.white@tup.ie" TargetMode="External"/><Relationship Id="rId9" Type="http://schemas.openxmlformats.org/officeDocument/2006/relationships/hyperlink" Target="mailto:s.kennedy@tup.ie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036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Week 5 Information Systems</a:t>
            </a:r>
            <a:endParaRPr lang="en-I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TU257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092474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Normalisation</a:t>
            </a:r>
            <a:endParaRPr lang="en-US" dirty="0"/>
          </a:p>
          <a:p>
            <a:pPr lvl="1"/>
            <a:r>
              <a:rPr lang="en-US" dirty="0"/>
              <a:t>UNF</a:t>
            </a:r>
          </a:p>
          <a:p>
            <a:pPr lvl="1"/>
            <a:r>
              <a:rPr lang="en-US" dirty="0"/>
              <a:t>1NF</a:t>
            </a:r>
          </a:p>
          <a:p>
            <a:pPr lvl="1"/>
            <a:r>
              <a:rPr lang="en-US" dirty="0"/>
              <a:t>2NF</a:t>
            </a:r>
          </a:p>
          <a:p>
            <a:pPr lvl="1"/>
            <a:r>
              <a:rPr lang="en-US" dirty="0"/>
              <a:t>3NF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6509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5410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Normalisation</a:t>
            </a:r>
            <a:endParaRPr lang="en-GB" dirty="0"/>
          </a:p>
        </p:txBody>
      </p:sp>
      <p:sp>
        <p:nvSpPr>
          <p:cNvPr id="398541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en-IE" dirty="0"/>
              <a:t>The process of designing a database in the </a:t>
            </a:r>
            <a:r>
              <a:rPr lang="en-IE" b="1" dirty="0"/>
              <a:t>most efficient</a:t>
            </a:r>
            <a:r>
              <a:rPr lang="en-IE" dirty="0"/>
              <a:t> way possible.</a:t>
            </a:r>
          </a:p>
          <a:p>
            <a:pPr lvl="1">
              <a:lnSpc>
                <a:spcPct val="170000"/>
              </a:lnSpc>
            </a:pPr>
            <a:r>
              <a:rPr lang="en-IE" dirty="0"/>
              <a:t>A technique for designing relational database tables to minimise </a:t>
            </a:r>
            <a:r>
              <a:rPr lang="en-IE" b="1" dirty="0"/>
              <a:t>duplication of information</a:t>
            </a:r>
            <a:r>
              <a:rPr lang="en-IE" dirty="0"/>
              <a:t> and, in doing so, to safeguard the database against certain types of </a:t>
            </a:r>
            <a:r>
              <a:rPr lang="en-IE" b="1" dirty="0"/>
              <a:t>logical inconsistency</a:t>
            </a:r>
            <a:r>
              <a:rPr lang="en-IE" dirty="0"/>
              <a:t>.</a:t>
            </a:r>
          </a:p>
          <a:p>
            <a:pPr lvl="1">
              <a:lnSpc>
                <a:spcPct val="170000"/>
              </a:lnSpc>
            </a:pPr>
            <a:endParaRPr lang="en-IE" dirty="0"/>
          </a:p>
          <a:p>
            <a:pPr lvl="1">
              <a:lnSpc>
                <a:spcPct val="170000"/>
              </a:lnSpc>
            </a:pPr>
            <a:r>
              <a:rPr lang="en-IE" dirty="0"/>
              <a:t>More highly normalised tables greatly </a:t>
            </a:r>
            <a:r>
              <a:rPr lang="en-IE" b="1" dirty="0"/>
              <a:t>simplify development</a:t>
            </a:r>
            <a:r>
              <a:rPr lang="en-IE" dirty="0"/>
              <a:t> and </a:t>
            </a:r>
            <a:r>
              <a:rPr lang="en-IE" b="1" dirty="0"/>
              <a:t>maintenance</a:t>
            </a:r>
            <a:r>
              <a:rPr lang="en-IE" dirty="0"/>
              <a:t> of the database and </a:t>
            </a:r>
            <a:r>
              <a:rPr lang="en-IE" b="1" dirty="0"/>
              <a:t>contribute</a:t>
            </a:r>
            <a:r>
              <a:rPr lang="en-IE" dirty="0"/>
              <a:t> to its </a:t>
            </a:r>
            <a:r>
              <a:rPr lang="en-IE" b="1" dirty="0"/>
              <a:t>extensibility</a:t>
            </a:r>
            <a:r>
              <a:rPr lang="en-IE" dirty="0"/>
              <a:t>.</a:t>
            </a:r>
          </a:p>
          <a:p>
            <a:pPr>
              <a:lnSpc>
                <a:spcPct val="170000"/>
              </a:lnSpc>
            </a:pPr>
            <a:endParaRPr lang="en-IE" sz="400" dirty="0"/>
          </a:p>
          <a:p>
            <a:pPr>
              <a:lnSpc>
                <a:spcPct val="170000"/>
              </a:lnSpc>
              <a:buNone/>
            </a:pPr>
            <a:endParaRPr lang="en-IE" sz="16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0CC35-C2E9-43D0-B401-2C1E30C048B2}" type="slidenum">
              <a:rPr lang="en-IE" smtClean="0"/>
              <a:pPr/>
              <a:t>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60170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5410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Normalisation</a:t>
            </a:r>
            <a:endParaRPr lang="en-GB" dirty="0"/>
          </a:p>
        </p:txBody>
      </p:sp>
      <p:sp>
        <p:nvSpPr>
          <p:cNvPr id="398541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170000"/>
              </a:lnSpc>
            </a:pPr>
            <a:r>
              <a:rPr lang="en-IE" dirty="0"/>
              <a:t>Properly executed, the normalisation process </a:t>
            </a:r>
            <a:r>
              <a:rPr lang="en-IE" b="1" dirty="0"/>
              <a:t>eliminates uncontrolled data redundancies</a:t>
            </a:r>
            <a:r>
              <a:rPr lang="en-IE" dirty="0"/>
              <a:t>,</a:t>
            </a:r>
          </a:p>
          <a:p>
            <a:pPr lvl="1">
              <a:lnSpc>
                <a:spcPct val="170000"/>
              </a:lnSpc>
            </a:pPr>
            <a:r>
              <a:rPr lang="en-IE" dirty="0"/>
              <a:t>thus </a:t>
            </a:r>
            <a:r>
              <a:rPr lang="en-IE" b="1" dirty="0"/>
              <a:t>eliminating</a:t>
            </a:r>
            <a:r>
              <a:rPr lang="en-IE" dirty="0"/>
              <a:t> the </a:t>
            </a:r>
            <a:r>
              <a:rPr lang="en-IE" b="1" dirty="0"/>
              <a:t>data anomalies</a:t>
            </a:r>
            <a:r>
              <a:rPr lang="en-IE" dirty="0"/>
              <a:t>, and</a:t>
            </a:r>
          </a:p>
          <a:p>
            <a:pPr lvl="1">
              <a:lnSpc>
                <a:spcPct val="170000"/>
              </a:lnSpc>
            </a:pPr>
            <a:r>
              <a:rPr lang="en-IE" dirty="0"/>
              <a:t>the </a:t>
            </a:r>
            <a:r>
              <a:rPr lang="en-IE" b="1" dirty="0"/>
              <a:t>data integrity problems</a:t>
            </a:r>
            <a:r>
              <a:rPr lang="en-IE" dirty="0"/>
              <a:t> that are produced by such redundancies.</a:t>
            </a:r>
          </a:p>
          <a:p>
            <a:pPr>
              <a:lnSpc>
                <a:spcPct val="170000"/>
              </a:lnSpc>
            </a:pPr>
            <a:endParaRPr lang="en-IE" dirty="0"/>
          </a:p>
          <a:p>
            <a:pPr>
              <a:lnSpc>
                <a:spcPct val="170000"/>
              </a:lnSpc>
              <a:buNone/>
            </a:pPr>
            <a:r>
              <a:rPr lang="en-IE" dirty="0"/>
              <a:t>	</a:t>
            </a:r>
            <a:endParaRPr lang="en-IE" sz="16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0CC35-C2E9-43D0-B401-2C1E30C048B2}" type="slidenum">
              <a:rPr lang="en-IE" smtClean="0"/>
              <a:pPr/>
              <a:t>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10248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Stages of Normalisation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b="1" dirty="0" err="1"/>
              <a:t>Unnormalised</a:t>
            </a:r>
            <a:endParaRPr lang="en-US" b="1" dirty="0"/>
          </a:p>
          <a:p>
            <a:pPr lvl="1">
              <a:lnSpc>
                <a:spcPct val="100000"/>
              </a:lnSpc>
              <a:buFont typeface="Helvetica" panose="020B0604020202020204" pitchFamily="34" charset="0"/>
              <a:buChar char="↓"/>
            </a:pPr>
            <a:r>
              <a:rPr lang="en-US" dirty="0"/>
              <a:t>Remove repeating groups</a:t>
            </a:r>
          </a:p>
          <a:p>
            <a:pPr>
              <a:lnSpc>
                <a:spcPct val="100000"/>
              </a:lnSpc>
            </a:pPr>
            <a:r>
              <a:rPr lang="en-US" b="1" dirty="0"/>
              <a:t>1NF</a:t>
            </a:r>
          </a:p>
          <a:p>
            <a:pPr lvl="1">
              <a:lnSpc>
                <a:spcPct val="100000"/>
              </a:lnSpc>
              <a:buFont typeface="Helvetica" panose="020B0604020202020204" pitchFamily="34" charset="0"/>
              <a:buChar char="↓"/>
            </a:pPr>
            <a:r>
              <a:rPr lang="en-US" dirty="0"/>
              <a:t>Remove partial dependencies</a:t>
            </a:r>
          </a:p>
          <a:p>
            <a:pPr>
              <a:lnSpc>
                <a:spcPct val="100000"/>
              </a:lnSpc>
            </a:pPr>
            <a:r>
              <a:rPr lang="en-US" b="1" dirty="0"/>
              <a:t>2NF</a:t>
            </a:r>
          </a:p>
          <a:p>
            <a:pPr lvl="1">
              <a:lnSpc>
                <a:spcPct val="100000"/>
              </a:lnSpc>
              <a:buFont typeface="Helvetica" panose="020B0604020202020204" pitchFamily="34" charset="0"/>
              <a:buChar char="↓"/>
            </a:pPr>
            <a:r>
              <a:rPr lang="en-US" dirty="0"/>
              <a:t>Remove transitive dependencies</a:t>
            </a:r>
          </a:p>
          <a:p>
            <a:pPr>
              <a:lnSpc>
                <a:spcPct val="100000"/>
              </a:lnSpc>
            </a:pPr>
            <a:r>
              <a:rPr lang="en-US" b="1" dirty="0"/>
              <a:t>3NF</a:t>
            </a:r>
            <a:endParaRPr lang="en-IE" b="1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0F726-502A-4A13-B38C-4A07697E010C}" type="slidenum">
              <a:rPr lang="en-IE" smtClean="0"/>
              <a:pPr/>
              <a:t>6</a:t>
            </a:fld>
            <a:endParaRPr lang="en-IE"/>
          </a:p>
        </p:txBody>
      </p:sp>
      <p:sp>
        <p:nvSpPr>
          <p:cNvPr id="4" name="Lightning Bolt 3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5" name="Lightning Bolt 4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64675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4754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Repeating Groups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>
                <a:solidFill>
                  <a:srgbClr val="0066FF"/>
                </a:solidFill>
              </a:rPr>
              <a:t>repeating group</a:t>
            </a:r>
            <a:r>
              <a:rPr lang="en-US" dirty="0"/>
              <a:t> is an attribute (or set of attributes) that can have </a:t>
            </a:r>
            <a:r>
              <a:rPr lang="en-US" b="1" dirty="0">
                <a:solidFill>
                  <a:srgbClr val="0066FF"/>
                </a:solidFill>
              </a:rPr>
              <a:t>more than one</a:t>
            </a:r>
            <a:r>
              <a:rPr lang="en-US" dirty="0"/>
              <a:t> </a:t>
            </a:r>
            <a:r>
              <a:rPr lang="en-US" b="1" dirty="0">
                <a:solidFill>
                  <a:srgbClr val="0066FF"/>
                </a:solidFill>
              </a:rPr>
              <a:t>value</a:t>
            </a:r>
            <a:r>
              <a:rPr lang="en-US" dirty="0"/>
              <a:t> for a </a:t>
            </a:r>
            <a:r>
              <a:rPr lang="en-US" b="1" dirty="0">
                <a:solidFill>
                  <a:srgbClr val="0066FF"/>
                </a:solidFill>
              </a:rPr>
              <a:t>primary key value</a:t>
            </a:r>
            <a:r>
              <a:rPr lang="en-US" dirty="0"/>
              <a:t>.</a:t>
            </a:r>
          </a:p>
          <a:p>
            <a:r>
              <a:rPr lang="en-GB" b="1" dirty="0">
                <a:solidFill>
                  <a:srgbClr val="0066FF"/>
                </a:solidFill>
              </a:rPr>
              <a:t>Repeating Groups</a:t>
            </a:r>
            <a:r>
              <a:rPr lang="en-GB" dirty="0"/>
              <a:t> are </a:t>
            </a:r>
            <a:r>
              <a:rPr lang="en-GB" b="1" dirty="0"/>
              <a:t>not allowed</a:t>
            </a:r>
            <a:r>
              <a:rPr lang="en-GB" dirty="0"/>
              <a:t> in a relational design, since all attributes have to be ‘</a:t>
            </a:r>
            <a:r>
              <a:rPr lang="en-GB" b="1" dirty="0">
                <a:solidFill>
                  <a:srgbClr val="0066FF"/>
                </a:solidFill>
              </a:rPr>
              <a:t>atomic</a:t>
            </a:r>
            <a:r>
              <a:rPr lang="en-GB" dirty="0"/>
              <a:t>’ - i.e. there can only be one value per cell in a table.</a:t>
            </a:r>
          </a:p>
          <a:p>
            <a:endParaRPr lang="en-US" dirty="0"/>
          </a:p>
          <a:p>
            <a:endParaRPr lang="en-IE" dirty="0"/>
          </a:p>
        </p:txBody>
      </p:sp>
      <p:sp>
        <p:nvSpPr>
          <p:cNvPr id="41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78FF3-211C-4195-A314-963D04169570}" type="slidenum">
              <a:rPr lang="en-IE"/>
              <a:pPr/>
              <a:t>7</a:t>
            </a:fld>
            <a:endParaRPr lang="en-IE" dirty="0"/>
          </a:p>
        </p:txBody>
      </p:sp>
      <p:sp>
        <p:nvSpPr>
          <p:cNvPr id="3914755" name="Rectangle 3"/>
          <p:cNvSpPr>
            <a:spLocks noChangeArrowheads="1"/>
          </p:cNvSpPr>
          <p:nvPr/>
        </p:nvSpPr>
        <p:spPr bwMode="auto">
          <a:xfrm>
            <a:off x="838200" y="1520826"/>
            <a:ext cx="7916863" cy="587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just" eaLnBrk="1" hangingPunct="1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SzPct val="85000"/>
              <a:buFont typeface="Wingdings" pitchFamily="2" charset="2"/>
              <a:buNone/>
            </a:pPr>
            <a:endParaRPr lang="en-US" dirty="0"/>
          </a:p>
        </p:txBody>
      </p:sp>
      <p:sp>
        <p:nvSpPr>
          <p:cNvPr id="3914757" name="Text Box 5"/>
          <p:cNvSpPr txBox="1">
            <a:spLocks noChangeArrowheads="1"/>
          </p:cNvSpPr>
          <p:nvPr/>
        </p:nvSpPr>
        <p:spPr bwMode="auto">
          <a:xfrm>
            <a:off x="1136195" y="4717861"/>
            <a:ext cx="7916863" cy="9720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endParaRPr lang="en-GB" dirty="0"/>
          </a:p>
        </p:txBody>
      </p:sp>
      <p:sp>
        <p:nvSpPr>
          <p:cNvPr id="3" name="Lightning Bolt 2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4" name="Lightning Bolt 3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86306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4754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Repeating Groups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737715" cy="1411975"/>
          </a:xfrm>
        </p:spPr>
        <p:txBody>
          <a:bodyPr>
            <a:normAutofit fontScale="92500"/>
          </a:bodyPr>
          <a:lstStyle/>
          <a:p>
            <a:r>
              <a:rPr lang="en-GB" b="1" dirty="0">
                <a:solidFill>
                  <a:srgbClr val="C00000"/>
                </a:solidFill>
              </a:rPr>
              <a:t>Example</a:t>
            </a:r>
            <a:r>
              <a:rPr lang="en-GB" dirty="0">
                <a:solidFill>
                  <a:srgbClr val="C00000"/>
                </a:solidFill>
              </a:rPr>
              <a:t>: </a:t>
            </a:r>
            <a:r>
              <a:rPr lang="en-GB" dirty="0"/>
              <a:t>The following relation contains staff and department details and a list of telephone contact numbers for each member of staff.</a:t>
            </a:r>
          </a:p>
          <a:p>
            <a:endParaRPr lang="en-IE" dirty="0"/>
          </a:p>
        </p:txBody>
      </p:sp>
      <p:sp>
        <p:nvSpPr>
          <p:cNvPr id="41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78FF3-211C-4195-A314-963D04169570}" type="slidenum">
              <a:rPr lang="en-IE"/>
              <a:pPr/>
              <a:t>8</a:t>
            </a:fld>
            <a:endParaRPr lang="en-IE" dirty="0"/>
          </a:p>
        </p:txBody>
      </p:sp>
      <p:sp>
        <p:nvSpPr>
          <p:cNvPr id="3914756" name="Text Box 4"/>
          <p:cNvSpPr txBox="1">
            <a:spLocks noChangeArrowheads="1"/>
          </p:cNvSpPr>
          <p:nvPr/>
        </p:nvSpPr>
        <p:spPr bwMode="auto">
          <a:xfrm>
            <a:off x="838200" y="2375989"/>
            <a:ext cx="7916863" cy="64135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endParaRPr lang="en-GB" dirty="0"/>
          </a:p>
        </p:txBody>
      </p:sp>
      <p:sp>
        <p:nvSpPr>
          <p:cNvPr id="4" name="Lightning Bolt 3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5" name="Lightning Bolt 4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2" name="Content Placeholder 11" descr="Fig06.jpg"/>
          <p:cNvPicPr>
            <a:picLocks noGrp="1" noChangeAspect="1"/>
          </p:cNvPicPr>
          <p:nvPr>
            <p:ph sz="half" idx="2"/>
          </p:nvPr>
        </p:nvPicPr>
        <p:blipFill>
          <a:blip r:embed="rId3" cstate="print"/>
          <a:stretch>
            <a:fillRect/>
          </a:stretch>
        </p:blipFill>
        <p:spPr>
          <a:xfrm>
            <a:off x="916540" y="4148472"/>
            <a:ext cx="10659374" cy="178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446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4754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Repeating Groups</a:t>
            </a:r>
          </a:p>
        </p:txBody>
      </p:sp>
      <p:sp>
        <p:nvSpPr>
          <p:cNvPr id="41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78FF3-211C-4195-A314-963D04169570}" type="slidenum">
              <a:rPr lang="en-IE"/>
              <a:pPr/>
              <a:t>9</a:t>
            </a:fld>
            <a:endParaRPr lang="en-IE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l="4031" t="50794" r="84061" b="23751"/>
          <a:stretch/>
        </p:blipFill>
        <p:spPr>
          <a:xfrm>
            <a:off x="2947337" y="1690688"/>
            <a:ext cx="6297325" cy="442400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101797" y="4474842"/>
            <a:ext cx="6463146" cy="1288473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57881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4754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Repeating Groups</a:t>
            </a:r>
          </a:p>
        </p:txBody>
      </p:sp>
      <p:sp>
        <p:nvSpPr>
          <p:cNvPr id="41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78FF3-211C-4195-A314-963D04169570}" type="slidenum">
              <a:rPr lang="en-IE"/>
              <a:pPr/>
              <a:t>10</a:t>
            </a:fld>
            <a:endParaRPr lang="en-IE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l="4031" t="50794" r="84061" b="23751"/>
          <a:stretch/>
        </p:blipFill>
        <p:spPr>
          <a:xfrm>
            <a:off x="6603492" y="890242"/>
            <a:ext cx="4014216" cy="282007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BD76A5-E18B-F60E-8BDC-801116C117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6841721"/>
              </p:ext>
            </p:extLst>
          </p:nvPr>
        </p:nvGraphicFramePr>
        <p:xfrm>
          <a:off x="0" y="4557723"/>
          <a:ext cx="12192001" cy="1696804"/>
        </p:xfrm>
        <a:graphic>
          <a:graphicData uri="http://schemas.openxmlformats.org/drawingml/2006/table">
            <a:tbl>
              <a:tblPr/>
              <a:tblGrid>
                <a:gridCol w="914713">
                  <a:extLst>
                    <a:ext uri="{9D8B030D-6E8A-4147-A177-3AD203B41FA5}">
                      <a16:colId xmlns:a16="http://schemas.microsoft.com/office/drawing/2014/main" val="4188408582"/>
                    </a:ext>
                  </a:extLst>
                </a:gridCol>
                <a:gridCol w="885692">
                  <a:extLst>
                    <a:ext uri="{9D8B030D-6E8A-4147-A177-3AD203B41FA5}">
                      <a16:colId xmlns:a16="http://schemas.microsoft.com/office/drawing/2014/main" val="3531631677"/>
                    </a:ext>
                  </a:extLst>
                </a:gridCol>
                <a:gridCol w="1413740">
                  <a:extLst>
                    <a:ext uri="{9D8B030D-6E8A-4147-A177-3AD203B41FA5}">
                      <a16:colId xmlns:a16="http://schemas.microsoft.com/office/drawing/2014/main" val="484236088"/>
                    </a:ext>
                  </a:extLst>
                </a:gridCol>
                <a:gridCol w="1425824">
                  <a:extLst>
                    <a:ext uri="{9D8B030D-6E8A-4147-A177-3AD203B41FA5}">
                      <a16:colId xmlns:a16="http://schemas.microsoft.com/office/drawing/2014/main" val="3404030835"/>
                    </a:ext>
                  </a:extLst>
                </a:gridCol>
                <a:gridCol w="3040991">
                  <a:extLst>
                    <a:ext uri="{9D8B030D-6E8A-4147-A177-3AD203B41FA5}">
                      <a16:colId xmlns:a16="http://schemas.microsoft.com/office/drawing/2014/main" val="1428514285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392260703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393363245"/>
                    </a:ext>
                  </a:extLst>
                </a:gridCol>
                <a:gridCol w="1938529">
                  <a:extLst>
                    <a:ext uri="{9D8B030D-6E8A-4147-A177-3AD203B41FA5}">
                      <a16:colId xmlns:a16="http://schemas.microsoft.com/office/drawing/2014/main" val="3780596223"/>
                    </a:ext>
                  </a:extLst>
                </a:gridCol>
              </a:tblGrid>
              <a:tr h="573657">
                <a:tc>
                  <a:txBody>
                    <a:bodyPr/>
                    <a:lstStyle/>
                    <a:p>
                      <a:pPr rtl="0" fontAlgn="b"/>
                      <a:r>
                        <a:rPr lang="en-IE">
                          <a:effectLst/>
                        </a:rPr>
                        <a:t>Invoice Number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IE">
                          <a:effectLst/>
                        </a:rPr>
                        <a:t>ClientID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IE">
                          <a:effectLst/>
                        </a:rPr>
                        <a:t>OrderDate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IE">
                          <a:effectLst/>
                        </a:rPr>
                        <a:t>ProductID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IE">
                          <a:effectLst/>
                        </a:rPr>
                        <a:t>Product Name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IE">
                          <a:effectLst/>
                        </a:rPr>
                        <a:t>Quantity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IE">
                          <a:effectLst/>
                        </a:rPr>
                        <a:t>Price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IE">
                          <a:effectLst/>
                        </a:rPr>
                        <a:t>total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4752031"/>
                  </a:ext>
                </a:extLst>
              </a:tr>
              <a:tr h="1110064">
                <a:tc>
                  <a:txBody>
                    <a:bodyPr/>
                    <a:lstStyle/>
                    <a:p>
                      <a:pPr algn="r" rtl="0" fontAlgn="b"/>
                      <a:r>
                        <a:rPr lang="en-IE" dirty="0">
                          <a:effectLst/>
                        </a:rPr>
                        <a:t>1234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IE" dirty="0">
                          <a:effectLst/>
                        </a:rPr>
                        <a:t>432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IE">
                          <a:effectLst/>
                        </a:rPr>
                        <a:t>2023-01-01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IE" dirty="0">
                          <a:effectLst/>
                        </a:rPr>
                        <a:t>43,23,455,23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IE">
                          <a:effectLst/>
                        </a:rPr>
                        <a:t>Table, Chair, Pillow, Cushion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IE" dirty="0">
                          <a:effectLst/>
                        </a:rPr>
                        <a:t>1,6,4,4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IE" dirty="0">
                          <a:effectLst/>
                        </a:rPr>
                        <a:t>900,190,42,25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IE" dirty="0">
                          <a:effectLst/>
                        </a:rPr>
                        <a:t>900,1140,168,100</a:t>
                      </a:r>
                    </a:p>
                  </a:txBody>
                  <a:tcPr marL="0" marR="0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2354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7651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8964" name="AutoShap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Dependencies</a:t>
            </a:r>
            <a:endParaRPr lang="en-GB" dirty="0"/>
          </a:p>
        </p:txBody>
      </p:sp>
      <p:sp>
        <p:nvSpPr>
          <p:cNvPr id="4008965" name="Rectangle 5"/>
          <p:cNvSpPr>
            <a:spLocks noGrp="1" noChangeArrowheads="1"/>
          </p:cNvSpPr>
          <p:nvPr>
            <p:ph idx="1"/>
          </p:nvPr>
        </p:nvSpPr>
        <p:spPr>
          <a:xfrm>
            <a:off x="838200" y="2285999"/>
            <a:ext cx="10515600" cy="3890963"/>
          </a:xfrm>
        </p:spPr>
        <p:txBody>
          <a:bodyPr>
            <a:normAutofit/>
          </a:bodyPr>
          <a:lstStyle/>
          <a:p>
            <a:r>
              <a:rPr lang="en-IE" b="1" dirty="0"/>
              <a:t>Functional Dependency:</a:t>
            </a:r>
          </a:p>
          <a:p>
            <a:pPr lvl="1"/>
            <a:r>
              <a:rPr lang="en-US" b="1" dirty="0"/>
              <a:t>Fully Functional Dependency</a:t>
            </a:r>
          </a:p>
          <a:p>
            <a:pPr lvl="1"/>
            <a:r>
              <a:rPr lang="en-US" b="1" dirty="0"/>
              <a:t>Partial Functional Dependency</a:t>
            </a:r>
          </a:p>
          <a:p>
            <a:endParaRPr lang="en-US" b="1" dirty="0"/>
          </a:p>
          <a:p>
            <a:r>
              <a:rPr lang="en-US" b="1" dirty="0"/>
              <a:t>Transitive Dependency</a:t>
            </a:r>
          </a:p>
          <a:p>
            <a:pPr lvl="1"/>
            <a:endParaRPr lang="en-IE" b="1" dirty="0"/>
          </a:p>
          <a:p>
            <a:endParaRPr lang="en-IE" sz="4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B8EFD-8544-4FAF-A80A-2594AC6640A9}" type="slidenum">
              <a:rPr lang="en-IE" smtClean="0"/>
              <a:pPr/>
              <a:t>11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06200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5778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Functional Dependency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SzPct val="85000"/>
            </a:pPr>
            <a:r>
              <a:rPr lang="en-US" b="1" dirty="0">
                <a:solidFill>
                  <a:srgbClr val="C00000"/>
                </a:solidFill>
              </a:rPr>
              <a:t>Formal Definition: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Attribute </a:t>
            </a:r>
            <a:r>
              <a:rPr lang="en-US" b="1" dirty="0"/>
              <a:t>B</a:t>
            </a:r>
            <a:r>
              <a:rPr lang="en-US" dirty="0"/>
              <a:t> is functionally dependent upon attribute </a:t>
            </a:r>
            <a:r>
              <a:rPr lang="en-US" b="1" dirty="0"/>
              <a:t>A</a:t>
            </a:r>
            <a:r>
              <a:rPr lang="en-US" dirty="0"/>
              <a:t> (or a collection of attributes) if a value of </a:t>
            </a:r>
            <a:r>
              <a:rPr lang="en-US" b="1" dirty="0"/>
              <a:t>A</a:t>
            </a:r>
            <a:r>
              <a:rPr lang="en-US" dirty="0"/>
              <a:t> determines a single value of attribute </a:t>
            </a:r>
            <a:r>
              <a:rPr lang="en-US" b="1" dirty="0"/>
              <a:t>B</a:t>
            </a:r>
            <a:r>
              <a:rPr lang="en-US" dirty="0"/>
              <a:t> at any one time.</a:t>
            </a:r>
          </a:p>
          <a:p>
            <a:pPr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SzPct val="85000"/>
            </a:pPr>
            <a:endParaRPr lang="en-US" dirty="0"/>
          </a:p>
          <a:p>
            <a:pPr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SzPct val="85000"/>
            </a:pPr>
            <a:r>
              <a:rPr lang="en-IE" dirty="0"/>
              <a:t>In other words, attribute </a:t>
            </a:r>
            <a:r>
              <a:rPr lang="en-IE" b="1" dirty="0"/>
              <a:t>B</a:t>
            </a:r>
            <a:r>
              <a:rPr lang="en-IE" dirty="0"/>
              <a:t> has a functional dependency on attribute </a:t>
            </a:r>
            <a:r>
              <a:rPr lang="en-IE" b="1" dirty="0"/>
              <a:t>A</a:t>
            </a:r>
            <a:r>
              <a:rPr lang="en-IE" dirty="0"/>
              <a:t> if, for each value of </a:t>
            </a:r>
            <a:r>
              <a:rPr lang="en-IE" b="1" dirty="0"/>
              <a:t>A</a:t>
            </a:r>
            <a:r>
              <a:rPr lang="en-IE" dirty="0"/>
              <a:t>, there is exactly one value of attribute </a:t>
            </a:r>
            <a:r>
              <a:rPr lang="en-IE" b="1" dirty="0"/>
              <a:t>B</a:t>
            </a:r>
            <a:r>
              <a:rPr lang="en-IE" dirty="0"/>
              <a:t>.</a:t>
            </a:r>
          </a:p>
          <a:p>
            <a:endParaRPr lang="en-IE" dirty="0"/>
          </a:p>
        </p:txBody>
      </p:sp>
      <p:sp>
        <p:nvSpPr>
          <p:cNvPr id="3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6419B3-C485-43ED-8C74-3C3C7F674362}" type="slidenum">
              <a:rPr lang="en-IE"/>
              <a:pPr/>
              <a:t>12</a:t>
            </a:fld>
            <a:endParaRPr lang="en-IE"/>
          </a:p>
        </p:txBody>
      </p:sp>
      <p:sp>
        <p:nvSpPr>
          <p:cNvPr id="3" name="Lightning Bolt 2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4" name="Lightning Bolt 3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949078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5778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Dependency </a:t>
            </a:r>
            <a:br>
              <a:rPr lang="en-US" dirty="0"/>
            </a:br>
            <a:r>
              <a:rPr lang="en-US" dirty="0">
                <a:solidFill>
                  <a:srgbClr val="C00000"/>
                </a:solidFill>
              </a:rPr>
              <a:t>Formal Notation     </a:t>
            </a:r>
            <a:r>
              <a:rPr lang="en-US" dirty="0">
                <a:solidFill>
                  <a:srgbClr val="00B050"/>
                </a:solidFill>
              </a:rPr>
              <a:t>A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  <a:sym typeface="Symbol" pitchFamily="18" charset="2"/>
              </a:rPr>
              <a:t>→</a:t>
            </a:r>
            <a:r>
              <a:rPr lang="en-US" dirty="0">
                <a:sym typeface="Symbol" pitchFamily="18" charset="2"/>
              </a:rPr>
              <a:t> </a:t>
            </a:r>
            <a:r>
              <a:rPr lang="en-US" dirty="0">
                <a:solidFill>
                  <a:srgbClr val="00B050"/>
                </a:solidFill>
                <a:sym typeface="Symbol" pitchFamily="18" charset="2"/>
              </a:rPr>
              <a:t>B</a:t>
            </a:r>
            <a:r>
              <a:rPr lang="en-US" dirty="0">
                <a:sym typeface="Symbol" pitchFamily="18" charset="2"/>
              </a:rPr>
              <a:t> </a:t>
            </a:r>
            <a:endParaRPr lang="en-US" dirty="0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Symbol" pitchFamily="18" charset="2"/>
              </a:rPr>
              <a:t>This should be read as ‘</a:t>
            </a:r>
            <a:r>
              <a:rPr lang="en-US" b="1" dirty="0">
                <a:solidFill>
                  <a:srgbClr val="00B050"/>
                </a:solidFill>
                <a:sym typeface="Symbol" pitchFamily="18" charset="2"/>
              </a:rPr>
              <a:t>A</a:t>
            </a:r>
            <a:r>
              <a:rPr lang="en-US" b="1" dirty="0">
                <a:solidFill>
                  <a:srgbClr val="0066FF"/>
                </a:solidFill>
                <a:sym typeface="Symbol" pitchFamily="18" charset="2"/>
              </a:rPr>
              <a:t> determines </a:t>
            </a:r>
            <a:r>
              <a:rPr lang="en-US" b="1" dirty="0">
                <a:solidFill>
                  <a:srgbClr val="00B050"/>
                </a:solidFill>
                <a:sym typeface="Symbol" pitchFamily="18" charset="2"/>
              </a:rPr>
              <a:t>B</a:t>
            </a:r>
            <a:r>
              <a:rPr lang="en-US" dirty="0">
                <a:sym typeface="Symbol" pitchFamily="18" charset="2"/>
              </a:rPr>
              <a:t>’ or ‘</a:t>
            </a:r>
            <a:r>
              <a:rPr lang="en-US" b="1" dirty="0">
                <a:solidFill>
                  <a:srgbClr val="00B050"/>
                </a:solidFill>
                <a:sym typeface="Symbol" pitchFamily="18" charset="2"/>
              </a:rPr>
              <a:t>B</a:t>
            </a:r>
            <a:r>
              <a:rPr lang="en-US" b="1" dirty="0">
                <a:solidFill>
                  <a:srgbClr val="0066FF"/>
                </a:solidFill>
                <a:sym typeface="Symbol" pitchFamily="18" charset="2"/>
              </a:rPr>
              <a:t> is functionally dependent on </a:t>
            </a:r>
            <a:r>
              <a:rPr lang="en-US" b="1" dirty="0">
                <a:solidFill>
                  <a:srgbClr val="00B050"/>
                </a:solidFill>
                <a:sym typeface="Symbol" pitchFamily="18" charset="2"/>
              </a:rPr>
              <a:t>A</a:t>
            </a:r>
            <a:r>
              <a:rPr lang="en-US" dirty="0">
                <a:sym typeface="Symbol" pitchFamily="18" charset="2"/>
              </a:rPr>
              <a:t>’. </a:t>
            </a:r>
            <a:r>
              <a:rPr lang="en-US" b="1" dirty="0">
                <a:sym typeface="Symbol" pitchFamily="18" charset="2"/>
              </a:rPr>
              <a:t>A</a:t>
            </a:r>
            <a:r>
              <a:rPr lang="en-US" dirty="0">
                <a:sym typeface="Symbol" pitchFamily="18" charset="2"/>
              </a:rPr>
              <a:t> is called the determinant and </a:t>
            </a:r>
            <a:r>
              <a:rPr lang="en-US" b="1" dirty="0">
                <a:sym typeface="Symbol" pitchFamily="18" charset="2"/>
              </a:rPr>
              <a:t>B</a:t>
            </a:r>
            <a:r>
              <a:rPr lang="en-US" dirty="0">
                <a:sym typeface="Symbol" pitchFamily="18" charset="2"/>
              </a:rPr>
              <a:t> is called the object of the determinant.</a:t>
            </a:r>
            <a:endParaRPr lang="en-US" dirty="0"/>
          </a:p>
          <a:p>
            <a:endParaRPr lang="en-IE" dirty="0"/>
          </a:p>
        </p:txBody>
      </p:sp>
      <p:sp>
        <p:nvSpPr>
          <p:cNvPr id="3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6419B3-C485-43ED-8C74-3C3C7F674362}" type="slidenum">
              <a:rPr lang="en-IE"/>
              <a:pPr/>
              <a:t>13</a:t>
            </a:fld>
            <a:endParaRPr lang="en-IE"/>
          </a:p>
        </p:txBody>
      </p:sp>
      <p:pic>
        <p:nvPicPr>
          <p:cNvPr id="36" name="Picture 35" descr="Fig07.jpg"/>
          <p:cNvPicPr>
            <a:picLocks noChangeAspect="1"/>
          </p:cNvPicPr>
          <p:nvPr/>
        </p:nvPicPr>
        <p:blipFill rotWithShape="1">
          <a:blip r:embed="rId3" cstate="print"/>
          <a:srcRect r="35647"/>
          <a:stretch/>
        </p:blipFill>
        <p:spPr>
          <a:xfrm>
            <a:off x="3488853" y="4278960"/>
            <a:ext cx="5779406" cy="1898003"/>
          </a:xfrm>
          <a:prstGeom prst="rect">
            <a:avLst/>
          </a:prstGeom>
        </p:spPr>
      </p:pic>
      <p:sp>
        <p:nvSpPr>
          <p:cNvPr id="3" name="Lightning Bolt 2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4" name="Lightning Bolt 3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761528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5778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Dependency Example</a:t>
            </a:r>
          </a:p>
        </p:txBody>
      </p:sp>
      <p:sp>
        <p:nvSpPr>
          <p:cNvPr id="3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6419B3-C485-43ED-8C74-3C3C7F674362}" type="slidenum">
              <a:rPr lang="en-IE"/>
              <a:pPr/>
              <a:t>14</a:t>
            </a:fld>
            <a:endParaRPr lang="en-IE"/>
          </a:p>
        </p:txBody>
      </p:sp>
      <p:sp>
        <p:nvSpPr>
          <p:cNvPr id="3915780" name="Rectangle 4"/>
          <p:cNvSpPr>
            <a:spLocks noChangeArrowheads="1"/>
          </p:cNvSpPr>
          <p:nvPr/>
        </p:nvSpPr>
        <p:spPr bwMode="auto">
          <a:xfrm>
            <a:off x="643647" y="1608015"/>
            <a:ext cx="11353800" cy="21212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92075" tIns="46038" rIns="92075" bIns="46038">
            <a:spAutoFit/>
          </a:bodyPr>
          <a:lstStyle/>
          <a:p>
            <a:pPr eaLnBrk="1" hangingPunct="1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SzPct val="85000"/>
              <a:buFont typeface="Wingdings" pitchFamily="2" charset="2"/>
              <a:buNone/>
            </a:pPr>
            <a:r>
              <a:rPr lang="en-US" sz="2800" b="1" dirty="0" err="1">
                <a:solidFill>
                  <a:srgbClr val="00B050"/>
                </a:solidFill>
              </a:rPr>
              <a:t>Dept</a:t>
            </a:r>
            <a:r>
              <a:rPr lang="en-US" sz="2800" b="1" dirty="0"/>
              <a:t> </a:t>
            </a:r>
            <a:r>
              <a:rPr lang="en-US" sz="2800" b="1" dirty="0">
                <a:solidFill>
                  <a:srgbClr val="FF0000"/>
                </a:solidFill>
                <a:sym typeface="Symbol" pitchFamily="18" charset="2"/>
              </a:rPr>
              <a:t>→</a:t>
            </a:r>
            <a:r>
              <a:rPr lang="en-US" sz="2800" b="1" dirty="0">
                <a:sym typeface="Symbol" pitchFamily="18" charset="2"/>
              </a:rPr>
              <a:t> </a:t>
            </a:r>
            <a:r>
              <a:rPr lang="en-US" sz="2800" b="1" dirty="0" err="1">
                <a:solidFill>
                  <a:srgbClr val="00B050"/>
                </a:solidFill>
                <a:sym typeface="Symbol" pitchFamily="18" charset="2"/>
              </a:rPr>
              <a:t>DeptName</a:t>
            </a:r>
            <a:endParaRPr lang="en-US" sz="2800" b="1" dirty="0">
              <a:solidFill>
                <a:srgbClr val="00B050"/>
              </a:solidFill>
              <a:sym typeface="Symbol" pitchFamily="18" charset="2"/>
            </a:endParaRPr>
          </a:p>
          <a:p>
            <a:pPr eaLnBrk="1" hangingPunct="1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SzPct val="85000"/>
              <a:buFont typeface="Wingdings" pitchFamily="2" charset="2"/>
              <a:buNone/>
            </a:pPr>
            <a:r>
              <a:rPr lang="en-US" sz="2800" dirty="0">
                <a:sym typeface="Symbol" pitchFamily="18" charset="2"/>
              </a:rPr>
              <a:t>  This should be read as ‘</a:t>
            </a:r>
            <a:r>
              <a:rPr lang="en-US" sz="2800" b="1" dirty="0">
                <a:solidFill>
                  <a:srgbClr val="00B050"/>
                </a:solidFill>
                <a:sym typeface="Symbol" pitchFamily="18" charset="2"/>
              </a:rPr>
              <a:t>Department</a:t>
            </a:r>
            <a:r>
              <a:rPr lang="en-US" sz="2800" b="1" dirty="0">
                <a:solidFill>
                  <a:srgbClr val="0066FF"/>
                </a:solidFill>
                <a:sym typeface="Symbol" pitchFamily="18" charset="2"/>
              </a:rPr>
              <a:t> determines </a:t>
            </a:r>
            <a:r>
              <a:rPr lang="en-US" sz="2800" b="1" dirty="0" err="1">
                <a:solidFill>
                  <a:srgbClr val="0066FF"/>
                </a:solidFill>
                <a:sym typeface="Symbol" pitchFamily="18" charset="2"/>
              </a:rPr>
              <a:t>DepartmentName</a:t>
            </a:r>
            <a:r>
              <a:rPr lang="en-US" sz="2800" dirty="0">
                <a:sym typeface="Symbol" pitchFamily="18" charset="2"/>
              </a:rPr>
              <a:t>’ or </a:t>
            </a:r>
          </a:p>
          <a:p>
            <a:pPr eaLnBrk="1" hangingPunct="1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SzPct val="85000"/>
              <a:buFont typeface="Wingdings" pitchFamily="2" charset="2"/>
              <a:buNone/>
            </a:pPr>
            <a:r>
              <a:rPr lang="en-US" sz="2800" dirty="0">
                <a:sym typeface="Symbol" pitchFamily="18" charset="2"/>
              </a:rPr>
              <a:t>‘</a:t>
            </a:r>
            <a:r>
              <a:rPr lang="en-US" sz="2800" dirty="0" err="1">
                <a:sym typeface="Symbol" pitchFamily="18" charset="2"/>
              </a:rPr>
              <a:t>DepartmentName</a:t>
            </a:r>
            <a:r>
              <a:rPr lang="en-US" sz="2800" b="1" dirty="0">
                <a:solidFill>
                  <a:srgbClr val="0066FF"/>
                </a:solidFill>
                <a:sym typeface="Symbol" pitchFamily="18" charset="2"/>
              </a:rPr>
              <a:t> is functionally dependant on Department</a:t>
            </a:r>
            <a:r>
              <a:rPr lang="en-US" sz="2800" dirty="0">
                <a:sym typeface="Symbol" pitchFamily="18" charset="2"/>
              </a:rPr>
              <a:t>’. </a:t>
            </a:r>
          </a:p>
          <a:p>
            <a:pPr eaLnBrk="1" hangingPunct="1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SzPct val="85000"/>
              <a:buFont typeface="Wingdings" pitchFamily="2" charset="2"/>
              <a:buNone/>
            </a:pPr>
            <a:endParaRPr lang="en-US" dirty="0"/>
          </a:p>
        </p:txBody>
      </p:sp>
      <p:pic>
        <p:nvPicPr>
          <p:cNvPr id="36" name="Picture 35" descr="Fig07.jpg"/>
          <p:cNvPicPr>
            <a:picLocks noChangeAspect="1"/>
          </p:cNvPicPr>
          <p:nvPr/>
        </p:nvPicPr>
        <p:blipFill rotWithShape="1">
          <a:blip r:embed="rId3" cstate="print"/>
          <a:srcRect r="35647"/>
          <a:stretch/>
        </p:blipFill>
        <p:spPr>
          <a:xfrm>
            <a:off x="1905703" y="4268647"/>
            <a:ext cx="5779406" cy="1898003"/>
          </a:xfrm>
          <a:prstGeom prst="rect">
            <a:avLst/>
          </a:prstGeom>
        </p:spPr>
      </p:pic>
      <p:sp>
        <p:nvSpPr>
          <p:cNvPr id="2" name="Curved Down Arrow 1"/>
          <p:cNvSpPr/>
          <p:nvPr/>
        </p:nvSpPr>
        <p:spPr>
          <a:xfrm>
            <a:off x="5411654" y="3838487"/>
            <a:ext cx="1342417" cy="369332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>
              <a:solidFill>
                <a:schemeClr val="tx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812831" y="3576118"/>
            <a:ext cx="3540969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3200" dirty="0" err="1">
                <a:solidFill>
                  <a:srgbClr val="00B050"/>
                </a:solidFill>
              </a:rPr>
              <a:t>Dept</a:t>
            </a:r>
            <a:r>
              <a:rPr lang="en-US" sz="3200" dirty="0"/>
              <a:t> </a:t>
            </a:r>
            <a:r>
              <a:rPr lang="en-US" sz="4000" b="1" dirty="0">
                <a:solidFill>
                  <a:srgbClr val="FF0000"/>
                </a:solidFill>
                <a:sym typeface="Symbol" pitchFamily="18" charset="2"/>
              </a:rPr>
              <a:t>→</a:t>
            </a:r>
            <a:r>
              <a:rPr lang="en-US" sz="3200" dirty="0">
                <a:sym typeface="Symbol" pitchFamily="18" charset="2"/>
              </a:rPr>
              <a:t> </a:t>
            </a:r>
            <a:r>
              <a:rPr lang="en-US" sz="3200" dirty="0" err="1">
                <a:solidFill>
                  <a:srgbClr val="00B050"/>
                </a:solidFill>
                <a:sym typeface="Symbol" pitchFamily="18" charset="2"/>
              </a:rPr>
              <a:t>DeptName</a:t>
            </a:r>
            <a:r>
              <a:rPr lang="en-US" sz="3200" dirty="0">
                <a:sym typeface="Symbol" pitchFamily="18" charset="2"/>
              </a:rPr>
              <a:t> </a:t>
            </a:r>
            <a:endParaRPr lang="en-IE" sz="3200" dirty="0"/>
          </a:p>
        </p:txBody>
      </p:sp>
    </p:spTree>
    <p:extLst>
      <p:ext uri="{BB962C8B-B14F-4D97-AF65-F5344CB8AC3E}">
        <p14:creationId xmlns:p14="http://schemas.microsoft.com/office/powerpoint/2010/main" val="9968571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Full Functional Dependency</a:t>
            </a:r>
            <a:endParaRPr lang="en-I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IE" dirty="0"/>
              <a:t>An attribute is fully functional dependent on a set of attributes </a:t>
            </a:r>
            <a:r>
              <a:rPr lang="en-IE" b="1" dirty="0"/>
              <a:t>X</a:t>
            </a:r>
            <a:r>
              <a:rPr lang="en-IE" dirty="0"/>
              <a:t> if it is…</a:t>
            </a:r>
          </a:p>
          <a:p>
            <a:pPr lvl="2"/>
            <a:r>
              <a:rPr lang="en-IE" dirty="0"/>
              <a:t>functionally dependent on </a:t>
            </a:r>
            <a:r>
              <a:rPr lang="en-IE" b="1" dirty="0"/>
              <a:t>X</a:t>
            </a:r>
            <a:r>
              <a:rPr lang="en-IE" dirty="0"/>
              <a:t>, and</a:t>
            </a:r>
          </a:p>
          <a:p>
            <a:pPr lvl="2"/>
            <a:r>
              <a:rPr lang="en-IE" dirty="0"/>
              <a:t>not functionally dependent on any proper subset of </a:t>
            </a:r>
            <a:r>
              <a:rPr lang="en-IE" b="1" dirty="0"/>
              <a:t>X</a:t>
            </a:r>
          </a:p>
          <a:p>
            <a:pPr lvl="2"/>
            <a:endParaRPr lang="en-US" sz="400" b="1" dirty="0"/>
          </a:p>
          <a:p>
            <a:pPr lvl="2"/>
            <a:r>
              <a:rPr lang="en-US" sz="2400" b="1" dirty="0"/>
              <a:t>Only relevant for composite determinants</a:t>
            </a:r>
          </a:p>
          <a:p>
            <a:pPr lvl="2"/>
            <a:endParaRPr lang="en-IE" sz="400" b="1" dirty="0"/>
          </a:p>
          <a:p>
            <a:endParaRPr lang="en-IE" b="1" dirty="0"/>
          </a:p>
          <a:p>
            <a:pPr>
              <a:spcBef>
                <a:spcPct val="20000"/>
              </a:spcBef>
              <a:buClr>
                <a:schemeClr val="accent2"/>
              </a:buClr>
              <a:buSzPct val="85000"/>
              <a:buNone/>
            </a:pPr>
            <a:endParaRPr lang="en-US" dirty="0"/>
          </a:p>
          <a:p>
            <a:endParaRPr lang="en-I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15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101140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6802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Functional Dependency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SzPct val="85000"/>
              <a:buNone/>
            </a:pPr>
            <a:r>
              <a:rPr lang="en-US" dirty="0"/>
              <a:t>Only of relevance with composite determinants. </a:t>
            </a:r>
          </a:p>
          <a:p>
            <a:pPr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SzPct val="85000"/>
              <a:buNone/>
            </a:pPr>
            <a:endParaRPr lang="en-US" dirty="0"/>
          </a:p>
          <a:p>
            <a:pPr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SzPct val="85000"/>
              <a:buNone/>
            </a:pPr>
            <a:r>
              <a:rPr lang="en-US" dirty="0"/>
              <a:t>All the attributes of the composite determinant (Course# and </a:t>
            </a:r>
            <a:r>
              <a:rPr lang="en-US" dirty="0" err="1"/>
              <a:t>Subject_Code</a:t>
            </a:r>
            <a:r>
              <a:rPr lang="en-US" dirty="0"/>
              <a:t>)  are needed to determine the Subject Type.</a:t>
            </a:r>
          </a:p>
          <a:p>
            <a:endParaRPr lang="en-IE" dirty="0"/>
          </a:p>
        </p:txBody>
      </p:sp>
      <p:sp>
        <p:nvSpPr>
          <p:cNvPr id="3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1353-C7FC-45CF-A0FE-A9F8C6C6F68C}" type="slidenum">
              <a:rPr lang="en-IE"/>
              <a:pPr/>
              <a:t>16</a:t>
            </a:fld>
            <a:endParaRPr lang="en-IE"/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994917" y="4571894"/>
          <a:ext cx="5903943" cy="1249680"/>
        </p:xfrm>
        <a:graphic>
          <a:graphicData uri="http://schemas.openxmlformats.org/drawingml/2006/table">
            <a:tbl>
              <a:tblPr/>
              <a:tblGrid>
                <a:gridCol w="1948301">
                  <a:extLst>
                    <a:ext uri="{9D8B030D-6E8A-4147-A177-3AD203B41FA5}">
                      <a16:colId xmlns:a16="http://schemas.microsoft.com/office/drawing/2014/main" val="4255800420"/>
                    </a:ext>
                  </a:extLst>
                </a:gridCol>
                <a:gridCol w="1948301">
                  <a:extLst>
                    <a:ext uri="{9D8B030D-6E8A-4147-A177-3AD203B41FA5}">
                      <a16:colId xmlns:a16="http://schemas.microsoft.com/office/drawing/2014/main" val="3450399542"/>
                    </a:ext>
                  </a:extLst>
                </a:gridCol>
                <a:gridCol w="2007341">
                  <a:extLst>
                    <a:ext uri="{9D8B030D-6E8A-4147-A177-3AD203B41FA5}">
                      <a16:colId xmlns:a16="http://schemas.microsoft.com/office/drawing/2014/main" val="34147301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IE" b="1" dirty="0"/>
                        <a:t>  Course#</a:t>
                      </a:r>
                      <a:endParaRPr lang="en-IE" dirty="0"/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b="1" dirty="0"/>
                        <a:t>  </a:t>
                      </a:r>
                      <a:r>
                        <a:rPr lang="en-IE" b="1" dirty="0" err="1"/>
                        <a:t>Subject_Code</a:t>
                      </a:r>
                      <a:endParaRPr lang="en-IE" dirty="0"/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b="1" dirty="0"/>
                        <a:t>  </a:t>
                      </a:r>
                      <a:r>
                        <a:rPr lang="en-IE" b="1" dirty="0" err="1"/>
                        <a:t>Subject_Type</a:t>
                      </a:r>
                      <a:endParaRPr lang="en-IE" dirty="0"/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27011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E" dirty="0"/>
                        <a:t>  ICA40299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  ICAITB060A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dirty="0">
                          <a:solidFill>
                            <a:srgbClr val="00B0F0"/>
                          </a:solidFill>
                        </a:rPr>
                        <a:t>  Core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8683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E" dirty="0"/>
                        <a:t>  ICA40299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  ICAITU018B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dirty="0">
                          <a:solidFill>
                            <a:srgbClr val="00B0F0"/>
                          </a:solidFill>
                        </a:rPr>
                        <a:t>  Elective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64270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E" dirty="0"/>
                        <a:t>  ICA40199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  ICAITU018B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dirty="0">
                          <a:solidFill>
                            <a:srgbClr val="00B0F0"/>
                          </a:solidFill>
                        </a:rPr>
                        <a:t>  Core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8446373"/>
                  </a:ext>
                </a:extLst>
              </a:tr>
            </a:tbl>
          </a:graphicData>
        </a:graphic>
      </p:graphicFrame>
      <p:sp>
        <p:nvSpPr>
          <p:cNvPr id="4" name="Lightning Bolt 3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5" name="Lightning Bolt 4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839215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7826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Partial Functional Dependency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situation that exists if it is necessary to only use a </a:t>
            </a:r>
            <a:r>
              <a:rPr lang="en-US" b="1" dirty="0"/>
              <a:t>subset</a:t>
            </a:r>
            <a:r>
              <a:rPr lang="en-US" dirty="0"/>
              <a:t> of the attributes of the composite determinant to identify its object uniquely.</a:t>
            </a:r>
          </a:p>
          <a:p>
            <a:endParaRPr lang="en-IE" dirty="0"/>
          </a:p>
        </p:txBody>
      </p:sp>
      <p:sp>
        <p:nvSpPr>
          <p:cNvPr id="39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030FF-CB3D-4FE2-AEDE-C6BA78E0BFB6}" type="slidenum">
              <a:rPr lang="en-IE"/>
              <a:pPr/>
              <a:t>17</a:t>
            </a:fld>
            <a:endParaRPr lang="en-IE"/>
          </a:p>
        </p:txBody>
      </p:sp>
      <p:pic>
        <p:nvPicPr>
          <p:cNvPr id="40" name="Picture 39" descr="Fig09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028966" y="3840334"/>
            <a:ext cx="8231632" cy="2471566"/>
          </a:xfrm>
          <a:prstGeom prst="rect">
            <a:avLst/>
          </a:prstGeom>
        </p:spPr>
      </p:pic>
      <p:sp>
        <p:nvSpPr>
          <p:cNvPr id="3" name="Lightning Bolt 2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4" name="Lightning Bolt 3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248199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8964" name="AutoShap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Transitive Dependency</a:t>
            </a:r>
            <a:endParaRPr lang="en-GB" dirty="0"/>
          </a:p>
        </p:txBody>
      </p:sp>
      <p:sp>
        <p:nvSpPr>
          <p:cNvPr id="4008965" name="Rectangle 5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10515600" cy="2938880"/>
          </a:xfrm>
        </p:spPr>
        <p:txBody>
          <a:bodyPr>
            <a:normAutofit fontScale="77500" lnSpcReduction="20000"/>
          </a:bodyPr>
          <a:lstStyle/>
          <a:p>
            <a:endParaRPr lang="en-IE" sz="400" dirty="0"/>
          </a:p>
          <a:p>
            <a:pPr lvl="1"/>
            <a:r>
              <a:rPr lang="en-US" dirty="0"/>
              <a:t>A </a:t>
            </a:r>
            <a:r>
              <a:rPr lang="en-US" b="1" dirty="0">
                <a:solidFill>
                  <a:srgbClr val="0066FF"/>
                </a:solidFill>
              </a:rPr>
              <a:t>transitive dependency</a:t>
            </a:r>
            <a:r>
              <a:rPr lang="en-US" dirty="0"/>
              <a:t> exists when there is an intermediate functional dependency.</a:t>
            </a:r>
          </a:p>
          <a:p>
            <a:pPr lvl="1"/>
            <a:r>
              <a:rPr lang="en-US" dirty="0"/>
              <a:t>A condition in which an attribute is dependent on another attribute that is not part of the primary key.</a:t>
            </a:r>
            <a:endParaRPr lang="en-IE" dirty="0"/>
          </a:p>
          <a:p>
            <a:pPr lvl="2"/>
            <a:r>
              <a:rPr lang="en-IE" dirty="0"/>
              <a:t>i.e. an indirect functional dependency, </a:t>
            </a:r>
          </a:p>
          <a:p>
            <a:pPr lvl="2"/>
            <a:r>
              <a:rPr lang="en-IE" dirty="0"/>
              <a:t>one in which </a:t>
            </a:r>
            <a:r>
              <a:rPr lang="en-IE" b="1" dirty="0">
                <a:solidFill>
                  <a:srgbClr val="00B050"/>
                </a:solidFill>
              </a:rPr>
              <a:t>X</a:t>
            </a:r>
            <a:r>
              <a:rPr lang="en-IE" b="1" dirty="0">
                <a:solidFill>
                  <a:srgbClr val="0066FF"/>
                </a:solidFill>
              </a:rPr>
              <a:t> </a:t>
            </a:r>
            <a:r>
              <a:rPr lang="en-IE" b="1" dirty="0">
                <a:solidFill>
                  <a:srgbClr val="FF0000"/>
                </a:solidFill>
              </a:rPr>
              <a:t>→</a:t>
            </a:r>
            <a:r>
              <a:rPr lang="en-IE" b="1" dirty="0">
                <a:solidFill>
                  <a:srgbClr val="0066FF"/>
                </a:solidFill>
              </a:rPr>
              <a:t> </a:t>
            </a:r>
            <a:r>
              <a:rPr lang="en-IE" b="1" dirty="0">
                <a:solidFill>
                  <a:srgbClr val="00B050"/>
                </a:solidFill>
              </a:rPr>
              <a:t>Z</a:t>
            </a:r>
            <a:r>
              <a:rPr lang="en-IE" dirty="0"/>
              <a:t> only by virtue of </a:t>
            </a:r>
            <a:r>
              <a:rPr lang="en-IE" b="1" dirty="0">
                <a:solidFill>
                  <a:srgbClr val="00B050"/>
                </a:solidFill>
              </a:rPr>
              <a:t>X</a:t>
            </a:r>
            <a:r>
              <a:rPr lang="en-IE" dirty="0"/>
              <a:t> </a:t>
            </a:r>
            <a:r>
              <a:rPr lang="en-IE" b="1" dirty="0">
                <a:solidFill>
                  <a:srgbClr val="FF0000"/>
                </a:solidFill>
              </a:rPr>
              <a:t>→</a:t>
            </a:r>
            <a:r>
              <a:rPr lang="en-IE" dirty="0"/>
              <a:t> </a:t>
            </a:r>
            <a:r>
              <a:rPr lang="en-IE" b="1" dirty="0">
                <a:solidFill>
                  <a:srgbClr val="00B050"/>
                </a:solidFill>
              </a:rPr>
              <a:t>Y</a:t>
            </a:r>
            <a:r>
              <a:rPr lang="en-IE" dirty="0"/>
              <a:t> and </a:t>
            </a:r>
            <a:r>
              <a:rPr lang="en-IE" b="1" dirty="0">
                <a:solidFill>
                  <a:srgbClr val="00B050"/>
                </a:solidFill>
              </a:rPr>
              <a:t>Y</a:t>
            </a:r>
            <a:r>
              <a:rPr lang="en-IE" dirty="0"/>
              <a:t> </a:t>
            </a:r>
            <a:r>
              <a:rPr lang="en-IE" b="1" dirty="0">
                <a:solidFill>
                  <a:srgbClr val="FF0000"/>
                </a:solidFill>
              </a:rPr>
              <a:t>→</a:t>
            </a:r>
            <a:r>
              <a:rPr lang="en-IE" dirty="0"/>
              <a:t> </a:t>
            </a:r>
            <a:r>
              <a:rPr lang="en-IE" b="1" dirty="0">
                <a:solidFill>
                  <a:srgbClr val="00B050"/>
                </a:solidFill>
              </a:rPr>
              <a:t>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B8EFD-8544-4FAF-A80A-2594AC6640A9}" type="slidenum">
              <a:rPr lang="en-IE" smtClean="0"/>
              <a:pPr/>
              <a:t>18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1656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8964" name="AutoShape 4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Transitive Dependency</a:t>
            </a:r>
            <a:br>
              <a:rPr lang="en-IE" dirty="0"/>
            </a:br>
            <a:r>
              <a:rPr lang="en-US" dirty="0">
                <a:solidFill>
                  <a:srgbClr val="C00000"/>
                </a:solidFill>
              </a:rPr>
              <a:t>Formal Notation</a:t>
            </a:r>
            <a:endParaRPr lang="en-GB" dirty="0"/>
          </a:p>
        </p:txBody>
      </p:sp>
      <p:sp>
        <p:nvSpPr>
          <p:cNvPr id="4008965" name="Rectangle 5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10515600" cy="2938880"/>
          </a:xfrm>
        </p:spPr>
        <p:txBody>
          <a:bodyPr>
            <a:normAutofit/>
          </a:bodyPr>
          <a:lstStyle/>
          <a:p>
            <a:endParaRPr lang="en-IE" dirty="0"/>
          </a:p>
          <a:p>
            <a:pPr lvl="2"/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If </a:t>
            </a:r>
            <a:r>
              <a:rPr lang="en-US" sz="2800" b="1" dirty="0">
                <a:solidFill>
                  <a:srgbClr val="00B050"/>
                </a:solidFill>
              </a:rPr>
              <a:t>A</a:t>
            </a:r>
            <a:r>
              <a:rPr lang="en-US" sz="2800" b="1" dirty="0"/>
              <a:t> </a:t>
            </a:r>
            <a:r>
              <a:rPr lang="en-US" sz="2800" b="1" dirty="0">
                <a:solidFill>
                  <a:srgbClr val="FF0000"/>
                </a:solidFill>
                <a:sym typeface="Symbol" pitchFamily="18" charset="2"/>
              </a:rPr>
              <a:t>→</a:t>
            </a:r>
            <a:r>
              <a:rPr lang="en-US" sz="2800" b="1" dirty="0">
                <a:sym typeface="Symbol" pitchFamily="18" charset="2"/>
              </a:rPr>
              <a:t> </a:t>
            </a:r>
            <a:r>
              <a:rPr lang="en-US" sz="2800" b="1" dirty="0">
                <a:solidFill>
                  <a:srgbClr val="00B050"/>
                </a:solidFill>
                <a:sym typeface="Symbol" pitchFamily="18" charset="2"/>
              </a:rPr>
              <a:t>B</a:t>
            </a:r>
            <a:r>
              <a:rPr lang="en-US" sz="2800" b="1" dirty="0">
                <a:sym typeface="Symbol" pitchFamily="18" charset="2"/>
              </a:rPr>
              <a:t> </a:t>
            </a:r>
            <a:r>
              <a:rPr lang="en-US" sz="2800" dirty="0">
                <a:sym typeface="Symbol" pitchFamily="18" charset="2"/>
              </a:rPr>
              <a:t>and</a:t>
            </a:r>
            <a:r>
              <a:rPr lang="en-US" sz="2800" b="1" dirty="0">
                <a:sym typeface="Symbol" pitchFamily="18" charset="2"/>
              </a:rPr>
              <a:t> </a:t>
            </a:r>
            <a:r>
              <a:rPr lang="en-US" sz="2800" b="1" dirty="0">
                <a:solidFill>
                  <a:srgbClr val="00B050"/>
                </a:solidFill>
                <a:sym typeface="Symbol" pitchFamily="18" charset="2"/>
              </a:rPr>
              <a:t>B</a:t>
            </a:r>
            <a:r>
              <a:rPr lang="en-US" sz="2800" b="1" dirty="0">
                <a:sym typeface="Symbol" pitchFamily="18" charset="2"/>
              </a:rPr>
              <a:t> </a:t>
            </a:r>
            <a:r>
              <a:rPr lang="en-US" sz="2800" b="1" dirty="0">
                <a:solidFill>
                  <a:srgbClr val="FF0000"/>
                </a:solidFill>
                <a:sym typeface="Symbol" pitchFamily="18" charset="2"/>
              </a:rPr>
              <a:t>→</a:t>
            </a:r>
            <a:r>
              <a:rPr lang="en-US" sz="2800" b="1" dirty="0">
                <a:sym typeface="Symbol" pitchFamily="18" charset="2"/>
              </a:rPr>
              <a:t> </a:t>
            </a:r>
            <a:r>
              <a:rPr lang="en-US" sz="2800" b="1" dirty="0">
                <a:solidFill>
                  <a:srgbClr val="00B050"/>
                </a:solidFill>
                <a:sym typeface="Symbol" pitchFamily="18" charset="2"/>
              </a:rPr>
              <a:t>C</a:t>
            </a:r>
            <a:r>
              <a:rPr lang="en-US" sz="2800" dirty="0">
                <a:sym typeface="Symbol" pitchFamily="18" charset="2"/>
              </a:rPr>
              <a:t>, then it can be stated that the following transitive dependency exists:                                     </a:t>
            </a:r>
            <a:r>
              <a:rPr lang="en-US" sz="2800" b="1" dirty="0">
                <a:solidFill>
                  <a:srgbClr val="00B050"/>
                </a:solidFill>
              </a:rPr>
              <a:t>A</a:t>
            </a:r>
            <a:r>
              <a:rPr lang="en-US" sz="2800" b="1" dirty="0"/>
              <a:t> </a:t>
            </a:r>
            <a:r>
              <a:rPr lang="en-US" sz="2800" b="1" dirty="0">
                <a:solidFill>
                  <a:srgbClr val="FF0000"/>
                </a:solidFill>
                <a:sym typeface="Symbol" pitchFamily="18" charset="2"/>
              </a:rPr>
              <a:t>→</a:t>
            </a:r>
            <a:r>
              <a:rPr lang="en-US" sz="2800" b="1" dirty="0">
                <a:sym typeface="Symbol" pitchFamily="18" charset="2"/>
              </a:rPr>
              <a:t> </a:t>
            </a:r>
            <a:r>
              <a:rPr lang="en-US" sz="2800" b="1" dirty="0">
                <a:solidFill>
                  <a:srgbClr val="00B050"/>
                </a:solidFill>
                <a:sym typeface="Symbol" pitchFamily="18" charset="2"/>
              </a:rPr>
              <a:t>B</a:t>
            </a:r>
            <a:r>
              <a:rPr lang="en-US" sz="2800" b="1" dirty="0">
                <a:sym typeface="Symbol" pitchFamily="18" charset="2"/>
              </a:rPr>
              <a:t> </a:t>
            </a:r>
            <a:r>
              <a:rPr lang="en-US" sz="2800" b="1" dirty="0">
                <a:solidFill>
                  <a:srgbClr val="FF0000"/>
                </a:solidFill>
                <a:sym typeface="Symbol" pitchFamily="18" charset="2"/>
              </a:rPr>
              <a:t>→</a:t>
            </a:r>
            <a:r>
              <a:rPr lang="en-US" sz="2800" b="1" dirty="0">
                <a:sym typeface="Symbol" pitchFamily="18" charset="2"/>
              </a:rPr>
              <a:t> </a:t>
            </a:r>
            <a:r>
              <a:rPr lang="en-US" sz="2800" b="1" dirty="0">
                <a:solidFill>
                  <a:srgbClr val="00B050"/>
                </a:solidFill>
                <a:sym typeface="Symbol" pitchFamily="18" charset="2"/>
              </a:rPr>
              <a:t>C</a:t>
            </a:r>
            <a:endParaRPr lang="en-IE" sz="2800" b="1" dirty="0">
              <a:solidFill>
                <a:srgbClr val="00B050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B8EFD-8544-4FAF-A80A-2594AC6640A9}" type="slidenum">
              <a:rPr lang="en-IE" smtClean="0"/>
              <a:pPr/>
              <a:t>19</a:t>
            </a:fld>
            <a:endParaRPr lang="en-IE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116602" y="4941154"/>
            <a:ext cx="10449756" cy="4807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92075" tIns="46038" rIns="92075" bIns="46038">
            <a:spAutoFit/>
          </a:bodyPr>
          <a:lstStyle/>
          <a:p>
            <a:pPr eaLnBrk="1" hangingPunct="1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SzPct val="85000"/>
              <a:buFont typeface="Wingdings" pitchFamily="2" charset="2"/>
              <a:buNone/>
            </a:pPr>
            <a:r>
              <a:rPr lang="en-US" sz="2800" b="1" dirty="0">
                <a:solidFill>
                  <a:schemeClr val="accent2"/>
                </a:solidFill>
                <a:latin typeface="Arial Narrow" pitchFamily="34" charset="0"/>
                <a:sym typeface="Symbol" pitchFamily="18" charset="2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17949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8850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Transitive Dependency</a:t>
            </a:r>
          </a:p>
        </p:txBody>
      </p:sp>
      <p:sp>
        <p:nvSpPr>
          <p:cNvPr id="40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FB99CA-ECDC-479A-98C2-B2124B982B70}" type="slidenum">
              <a:rPr lang="en-IE"/>
              <a:pPr/>
              <a:t>20</a:t>
            </a:fld>
            <a:endParaRPr lang="en-IE"/>
          </a:p>
        </p:txBody>
      </p:sp>
      <p:sp>
        <p:nvSpPr>
          <p:cNvPr id="3918854" name="Text Box 6"/>
          <p:cNvSpPr txBox="1">
            <a:spLocks noChangeArrowheads="1"/>
          </p:cNvSpPr>
          <p:nvPr/>
        </p:nvSpPr>
        <p:spPr bwMode="auto">
          <a:xfrm>
            <a:off x="983229" y="1690688"/>
            <a:ext cx="1059521" cy="36933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</a:rPr>
              <a:t>Example: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342307"/>
              </p:ext>
            </p:extLst>
          </p:nvPr>
        </p:nvGraphicFramePr>
        <p:xfrm>
          <a:off x="983229" y="2371794"/>
          <a:ext cx="5541295" cy="1828800"/>
        </p:xfrm>
        <a:graphic>
          <a:graphicData uri="http://schemas.openxmlformats.org/drawingml/2006/table">
            <a:tbl>
              <a:tblPr/>
              <a:tblGrid>
                <a:gridCol w="1370865">
                  <a:extLst>
                    <a:ext uri="{9D8B030D-6E8A-4147-A177-3AD203B41FA5}">
                      <a16:colId xmlns:a16="http://schemas.microsoft.com/office/drawing/2014/main" val="913173423"/>
                    </a:ext>
                  </a:extLst>
                </a:gridCol>
                <a:gridCol w="3054485">
                  <a:extLst>
                    <a:ext uri="{9D8B030D-6E8A-4147-A177-3AD203B41FA5}">
                      <a16:colId xmlns:a16="http://schemas.microsoft.com/office/drawing/2014/main" val="4266193455"/>
                    </a:ext>
                  </a:extLst>
                </a:gridCol>
                <a:gridCol w="1115945">
                  <a:extLst>
                    <a:ext uri="{9D8B030D-6E8A-4147-A177-3AD203B41FA5}">
                      <a16:colId xmlns:a16="http://schemas.microsoft.com/office/drawing/2014/main" val="19940286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Company</a:t>
                      </a:r>
                      <a:endParaRPr lang="en-IE" dirty="0">
                        <a:effectLst/>
                      </a:endParaRPr>
                    </a:p>
                  </a:txBody>
                  <a:tcPr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E" b="1" dirty="0">
                          <a:effectLst/>
                        </a:rPr>
                        <a:t>CEO</a:t>
                      </a:r>
                      <a:endParaRPr lang="en-IE" dirty="0">
                        <a:effectLst/>
                      </a:endParaRPr>
                    </a:p>
                  </a:txBody>
                  <a:tcPr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E" b="1" dirty="0">
                          <a:effectLst/>
                        </a:rPr>
                        <a:t>age</a:t>
                      </a:r>
                      <a:endParaRPr lang="en-IE" dirty="0">
                        <a:effectLst/>
                      </a:endParaRPr>
                    </a:p>
                  </a:txBody>
                  <a:tcPr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253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Microsoft</a:t>
                      </a:r>
                      <a:endParaRPr lang="en-IE" dirty="0">
                        <a:effectLst/>
                      </a:endParaRPr>
                    </a:p>
                  </a:txBody>
                  <a:tcPr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lvl="1" algn="l"/>
                      <a:r>
                        <a:rPr lang="en-IE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Satya Nadella</a:t>
                      </a:r>
                      <a:endParaRPr lang="en-IE" dirty="0">
                        <a:solidFill>
                          <a:srgbClr val="00B0F0"/>
                        </a:solidFill>
                        <a:effectLst/>
                      </a:endParaRPr>
                    </a:p>
                  </a:txBody>
                  <a:tcPr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1" algn="l"/>
                      <a:r>
                        <a:rPr lang="en-IE" dirty="0">
                          <a:solidFill>
                            <a:srgbClr val="00B0F0"/>
                          </a:solidFill>
                          <a:effectLst/>
                        </a:rPr>
                        <a:t>56</a:t>
                      </a:r>
                    </a:p>
                  </a:txBody>
                  <a:tcPr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39263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Alphabet/</a:t>
                      </a:r>
                    </a:p>
                    <a:p>
                      <a:pPr algn="l"/>
                      <a:r>
                        <a:rPr lang="en-US" dirty="0">
                          <a:effectLst/>
                        </a:rPr>
                        <a:t>Google</a:t>
                      </a:r>
                      <a:endParaRPr lang="en-IE" dirty="0">
                        <a:effectLst/>
                      </a:endParaRPr>
                    </a:p>
                  </a:txBody>
                  <a:tcPr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lvl="1" algn="l"/>
                      <a:r>
                        <a:rPr lang="en-IE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Sundar</a:t>
                      </a:r>
                      <a:r>
                        <a:rPr lang="en-IE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IE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Pichai</a:t>
                      </a:r>
                      <a:endParaRPr lang="en-IE" dirty="0">
                        <a:solidFill>
                          <a:srgbClr val="00B0F0"/>
                        </a:solidFill>
                        <a:effectLst/>
                      </a:endParaRPr>
                    </a:p>
                  </a:txBody>
                  <a:tcPr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1" algn="l"/>
                      <a:r>
                        <a:rPr lang="en-IE" dirty="0">
                          <a:solidFill>
                            <a:srgbClr val="00B0F0"/>
                          </a:solidFill>
                          <a:effectLst/>
                        </a:rPr>
                        <a:t>51</a:t>
                      </a:r>
                    </a:p>
                  </a:txBody>
                  <a:tcPr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58029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Alibaba</a:t>
                      </a:r>
                      <a:endParaRPr lang="en-IE" dirty="0">
                        <a:effectLst/>
                      </a:endParaRPr>
                    </a:p>
                  </a:txBody>
                  <a:tcPr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lvl="1" algn="l"/>
                      <a:r>
                        <a:rPr lang="en-IE" dirty="0">
                          <a:solidFill>
                            <a:schemeClr val="tx1"/>
                          </a:solidFill>
                          <a:effectLst/>
                        </a:rPr>
                        <a:t>Jack Ma</a:t>
                      </a:r>
                    </a:p>
                  </a:txBody>
                  <a:tcPr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1" algn="l"/>
                      <a:r>
                        <a:rPr lang="en-IE" dirty="0">
                          <a:solidFill>
                            <a:srgbClr val="00B0F0"/>
                          </a:solidFill>
                          <a:effectLst/>
                        </a:rPr>
                        <a:t>59</a:t>
                      </a:r>
                    </a:p>
                  </a:txBody>
                  <a:tcPr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0403593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983229" y="4607380"/>
            <a:ext cx="1014422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If </a:t>
            </a:r>
            <a:r>
              <a:rPr lang="en-US" sz="2400" b="1" dirty="0">
                <a:solidFill>
                  <a:srgbClr val="00B050"/>
                </a:solidFill>
              </a:rPr>
              <a:t>company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FF0000"/>
                </a:solidFill>
                <a:sym typeface="Symbol" pitchFamily="18" charset="2"/>
              </a:rPr>
              <a:t>→</a:t>
            </a:r>
            <a:r>
              <a:rPr lang="en-US" sz="2400" b="1" dirty="0">
                <a:sym typeface="Symbol" pitchFamily="18" charset="2"/>
              </a:rPr>
              <a:t> CEO </a:t>
            </a:r>
            <a:r>
              <a:rPr lang="en-US" sz="2400" dirty="0">
                <a:sym typeface="Symbol" pitchFamily="18" charset="2"/>
              </a:rPr>
              <a:t>and</a:t>
            </a:r>
            <a:r>
              <a:rPr lang="en-US" sz="2400" b="1" dirty="0">
                <a:sym typeface="Symbol" pitchFamily="18" charset="2"/>
              </a:rPr>
              <a:t> CEO </a:t>
            </a:r>
            <a:r>
              <a:rPr lang="en-US" sz="2400" b="1" dirty="0">
                <a:solidFill>
                  <a:srgbClr val="FF0000"/>
                </a:solidFill>
                <a:sym typeface="Symbol" pitchFamily="18" charset="2"/>
              </a:rPr>
              <a:t>→</a:t>
            </a:r>
            <a:r>
              <a:rPr lang="en-US" sz="2400" b="1" dirty="0">
                <a:sym typeface="Symbol" pitchFamily="18" charset="2"/>
              </a:rPr>
              <a:t> </a:t>
            </a:r>
            <a:r>
              <a:rPr lang="en-US" sz="2400" b="1" dirty="0">
                <a:solidFill>
                  <a:srgbClr val="00B050"/>
                </a:solidFill>
                <a:sym typeface="Symbol" pitchFamily="18" charset="2"/>
              </a:rPr>
              <a:t>age</a:t>
            </a:r>
            <a:r>
              <a:rPr lang="en-US" sz="2400" dirty="0">
                <a:sym typeface="Symbol" pitchFamily="18" charset="2"/>
              </a:rPr>
              <a:t>, then it can be stated that the following transitive dependency exists:                                    </a:t>
            </a:r>
          </a:p>
          <a:p>
            <a:pPr algn="ctr"/>
            <a:r>
              <a:rPr lang="en-US" sz="2400" b="1" dirty="0">
                <a:solidFill>
                  <a:srgbClr val="00B050"/>
                </a:solidFill>
              </a:rPr>
              <a:t>company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FF0000"/>
                </a:solidFill>
                <a:sym typeface="Symbol" pitchFamily="18" charset="2"/>
              </a:rPr>
              <a:t>→</a:t>
            </a:r>
            <a:r>
              <a:rPr lang="en-US" sz="2400" b="1" dirty="0">
                <a:sym typeface="Symbol" pitchFamily="18" charset="2"/>
              </a:rPr>
              <a:t> CEO</a:t>
            </a:r>
            <a:r>
              <a:rPr lang="en-US" sz="2400" b="1" dirty="0">
                <a:solidFill>
                  <a:srgbClr val="00B050"/>
                </a:solidFill>
              </a:rPr>
              <a:t> 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FF0000"/>
                </a:solidFill>
                <a:sym typeface="Symbol" pitchFamily="18" charset="2"/>
              </a:rPr>
              <a:t>→</a:t>
            </a:r>
            <a:r>
              <a:rPr lang="en-US" sz="2400" b="1" dirty="0">
                <a:sym typeface="Symbol" pitchFamily="18" charset="2"/>
              </a:rPr>
              <a:t> </a:t>
            </a:r>
            <a:r>
              <a:rPr lang="en-US" sz="2400" b="1" dirty="0">
                <a:solidFill>
                  <a:srgbClr val="00B050"/>
                </a:solidFill>
                <a:sym typeface="Symbol" pitchFamily="18" charset="2"/>
              </a:rPr>
              <a:t>age</a:t>
            </a:r>
            <a:endParaRPr lang="en-US" sz="2400" dirty="0">
              <a:sym typeface="Symbol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28656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1554" name="AutoShap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Normal Forms</a:t>
            </a:r>
            <a:r>
              <a:rPr lang="en-GB" dirty="0"/>
              <a:t>  </a:t>
            </a:r>
            <a:br>
              <a:rPr lang="en-GB" dirty="0"/>
            </a:br>
            <a:r>
              <a:rPr lang="en-US" dirty="0"/>
              <a:t>When is a table in </a:t>
            </a:r>
            <a:r>
              <a:rPr lang="en-US" dirty="0">
                <a:solidFill>
                  <a:srgbClr val="0066FF"/>
                </a:solidFill>
              </a:rPr>
              <a:t>1NF</a:t>
            </a:r>
            <a:r>
              <a:rPr lang="en-US" dirty="0"/>
              <a:t>?</a:t>
            </a:r>
            <a:endParaRPr lang="en-GB" dirty="0"/>
          </a:p>
        </p:txBody>
      </p:sp>
      <p:sp>
        <p:nvSpPr>
          <p:cNvPr id="399155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A table is in </a:t>
            </a:r>
            <a:r>
              <a:rPr lang="en-US" sz="3200" b="1" dirty="0"/>
              <a:t>1NF</a:t>
            </a:r>
            <a:r>
              <a:rPr lang="en-US" sz="3200" dirty="0"/>
              <a:t> when…</a:t>
            </a:r>
          </a:p>
          <a:p>
            <a:pPr lvl="1"/>
            <a:r>
              <a:rPr lang="en-US" sz="2800" dirty="0"/>
              <a:t>All the key attributes are defined (</a:t>
            </a:r>
            <a:r>
              <a:rPr lang="en-US" sz="2800" b="1" dirty="0">
                <a:solidFill>
                  <a:srgbClr val="0066FF"/>
                </a:solidFill>
              </a:rPr>
              <a:t>no repeating groups</a:t>
            </a:r>
            <a:r>
              <a:rPr lang="en-US" sz="2800" dirty="0"/>
              <a:t> in the table) and when,</a:t>
            </a:r>
          </a:p>
          <a:p>
            <a:pPr lvl="1"/>
            <a:r>
              <a:rPr lang="en-US" sz="2800" dirty="0"/>
              <a:t>All remaining attributes are </a:t>
            </a:r>
            <a:r>
              <a:rPr lang="en-US" sz="2800" b="1" dirty="0">
                <a:solidFill>
                  <a:srgbClr val="0066FF"/>
                </a:solidFill>
              </a:rPr>
              <a:t>dependent</a:t>
            </a:r>
            <a:r>
              <a:rPr lang="en-US" sz="2800" dirty="0"/>
              <a:t> on the primary key</a:t>
            </a:r>
          </a:p>
          <a:p>
            <a:pPr lvl="1"/>
            <a:r>
              <a:rPr lang="en-US" sz="2000" b="1" dirty="0"/>
              <a:t>Note: </a:t>
            </a:r>
            <a:r>
              <a:rPr lang="en-US" sz="2000" dirty="0"/>
              <a:t>A table in </a:t>
            </a:r>
            <a:r>
              <a:rPr lang="en-US" sz="2000" b="1" dirty="0"/>
              <a:t>1NF</a:t>
            </a:r>
            <a:r>
              <a:rPr lang="en-US" sz="2000" dirty="0"/>
              <a:t> still </a:t>
            </a:r>
            <a:r>
              <a:rPr lang="en-US" sz="2000" b="1" dirty="0"/>
              <a:t>may</a:t>
            </a:r>
            <a:r>
              <a:rPr lang="en-US" sz="2000" dirty="0"/>
              <a:t> </a:t>
            </a:r>
            <a:r>
              <a:rPr lang="en-US" sz="2000" b="1" dirty="0"/>
              <a:t>contain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0066FF"/>
                </a:solidFill>
              </a:rPr>
              <a:t>partial dependencies</a:t>
            </a:r>
            <a:r>
              <a:rPr lang="en-US" sz="2000" dirty="0"/>
              <a:t>, i.e., dependencies based on </a:t>
            </a:r>
            <a:r>
              <a:rPr lang="en-US" sz="2000" b="1" dirty="0"/>
              <a:t>only</a:t>
            </a:r>
            <a:r>
              <a:rPr lang="en-US" sz="2000" dirty="0"/>
              <a:t> </a:t>
            </a:r>
            <a:r>
              <a:rPr lang="en-US" sz="2000" b="1" dirty="0"/>
              <a:t>part</a:t>
            </a:r>
            <a:r>
              <a:rPr lang="en-US" sz="2000" dirty="0"/>
              <a:t> of the primary key.</a:t>
            </a:r>
            <a:endParaRPr lang="en-GB" sz="2000" dirty="0"/>
          </a:p>
          <a:p>
            <a:pPr marL="0" indent="0">
              <a:buNone/>
            </a:pPr>
            <a:endParaRPr lang="en-US" sz="10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6CBC4-3321-462F-AE19-538735BDB06E}" type="slidenum">
              <a:rPr lang="en-IE" smtClean="0"/>
              <a:pPr/>
              <a:t>21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002293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1554" name="AutoShap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Normal Forms</a:t>
            </a:r>
            <a:br>
              <a:rPr lang="en-US" dirty="0"/>
            </a:br>
            <a:r>
              <a:rPr lang="en-US" dirty="0"/>
              <a:t>When is a table in </a:t>
            </a:r>
            <a:r>
              <a:rPr lang="en-US" dirty="0">
                <a:solidFill>
                  <a:srgbClr val="0066FF"/>
                </a:solidFill>
              </a:rPr>
              <a:t>2NF</a:t>
            </a:r>
            <a:r>
              <a:rPr lang="en-US" dirty="0"/>
              <a:t>?</a:t>
            </a:r>
            <a:r>
              <a:rPr lang="en-GB" dirty="0"/>
              <a:t> </a:t>
            </a:r>
          </a:p>
        </p:txBody>
      </p:sp>
      <p:sp>
        <p:nvSpPr>
          <p:cNvPr id="399155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A table is in </a:t>
            </a:r>
            <a:r>
              <a:rPr lang="en-US" sz="3200" b="1" dirty="0"/>
              <a:t>2NF</a:t>
            </a:r>
            <a:r>
              <a:rPr lang="en-US" sz="3200" dirty="0"/>
              <a:t> when</a:t>
            </a:r>
          </a:p>
          <a:p>
            <a:pPr lvl="1"/>
            <a:r>
              <a:rPr lang="en-US" sz="2800" dirty="0"/>
              <a:t>it is in </a:t>
            </a:r>
            <a:r>
              <a:rPr lang="en-US" sz="2800" b="1" dirty="0"/>
              <a:t>1NF</a:t>
            </a:r>
            <a:r>
              <a:rPr lang="en-US" sz="2800" dirty="0"/>
              <a:t> and,</a:t>
            </a:r>
          </a:p>
          <a:p>
            <a:pPr lvl="1"/>
            <a:r>
              <a:rPr lang="en-US" sz="2800" dirty="0"/>
              <a:t>it includes </a:t>
            </a:r>
            <a:r>
              <a:rPr lang="en-US" sz="2800" b="1" dirty="0">
                <a:solidFill>
                  <a:srgbClr val="0066FF"/>
                </a:solidFill>
              </a:rPr>
              <a:t>no partial dependencies</a:t>
            </a:r>
            <a:r>
              <a:rPr lang="en-US" sz="2800" dirty="0"/>
              <a:t>.</a:t>
            </a:r>
            <a:endParaRPr lang="en-US" sz="1000" dirty="0"/>
          </a:p>
          <a:p>
            <a:pPr>
              <a:buNone/>
            </a:pPr>
            <a:r>
              <a:rPr lang="en-US" sz="4000" dirty="0"/>
              <a:t>	</a:t>
            </a:r>
            <a:r>
              <a:rPr lang="en-US" sz="2000" b="1" dirty="0"/>
              <a:t>Note: </a:t>
            </a:r>
            <a:r>
              <a:rPr lang="en-US" sz="2000" dirty="0"/>
              <a:t>A table in </a:t>
            </a:r>
            <a:r>
              <a:rPr lang="en-US" sz="2000" b="1" dirty="0"/>
              <a:t>2NF</a:t>
            </a:r>
            <a:r>
              <a:rPr lang="en-US" sz="2000" dirty="0"/>
              <a:t> still </a:t>
            </a:r>
            <a:r>
              <a:rPr lang="en-US" sz="2000" b="1" dirty="0"/>
              <a:t>may</a:t>
            </a:r>
            <a:r>
              <a:rPr lang="en-US" sz="2000" dirty="0"/>
              <a:t> </a:t>
            </a:r>
            <a:r>
              <a:rPr lang="en-US" sz="2000" b="1" dirty="0"/>
              <a:t>contain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0066FF"/>
                </a:solidFill>
              </a:rPr>
              <a:t>transitive dependencies</a:t>
            </a:r>
            <a:r>
              <a:rPr lang="en-US" sz="2000" dirty="0"/>
              <a:t>, i.e., dependencies based on attributes that are </a:t>
            </a:r>
            <a:r>
              <a:rPr lang="en-US" sz="2000" b="1" dirty="0"/>
              <a:t>not</a:t>
            </a:r>
            <a:r>
              <a:rPr lang="en-US" sz="2000" dirty="0"/>
              <a:t> </a:t>
            </a:r>
            <a:r>
              <a:rPr lang="en-US" sz="2000" b="1" dirty="0"/>
              <a:t>part</a:t>
            </a:r>
            <a:r>
              <a:rPr lang="en-US" sz="2000" dirty="0"/>
              <a:t> of the primary key.</a:t>
            </a:r>
          </a:p>
          <a:p>
            <a:pPr>
              <a:buNone/>
            </a:pPr>
            <a:endParaRPr lang="en-US" sz="10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6CBC4-3321-462F-AE19-538735BDB06E}" type="slidenum">
              <a:rPr lang="en-IE" smtClean="0"/>
              <a:pPr/>
              <a:t>22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516548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1554" name="AutoShap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Normal Forms</a:t>
            </a:r>
            <a:r>
              <a:rPr lang="en-GB" dirty="0"/>
              <a:t> </a:t>
            </a:r>
            <a:br>
              <a:rPr lang="en-GB" dirty="0"/>
            </a:br>
            <a:r>
              <a:rPr lang="en-US" dirty="0"/>
              <a:t>When is a table in </a:t>
            </a:r>
            <a:r>
              <a:rPr lang="en-US" dirty="0">
                <a:solidFill>
                  <a:srgbClr val="0066FF"/>
                </a:solidFill>
              </a:rPr>
              <a:t>3NF</a:t>
            </a:r>
            <a:r>
              <a:rPr lang="en-US" dirty="0"/>
              <a:t>?</a:t>
            </a:r>
            <a:endParaRPr lang="en-GB" dirty="0"/>
          </a:p>
        </p:txBody>
      </p:sp>
      <p:sp>
        <p:nvSpPr>
          <p:cNvPr id="399155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A table is in </a:t>
            </a:r>
            <a:r>
              <a:rPr lang="en-US" sz="3200" b="1" dirty="0"/>
              <a:t>3NF</a:t>
            </a:r>
            <a:r>
              <a:rPr lang="en-US" sz="3200" dirty="0"/>
              <a:t> when…</a:t>
            </a:r>
          </a:p>
          <a:p>
            <a:pPr lvl="1"/>
            <a:r>
              <a:rPr lang="en-US" sz="2800" dirty="0"/>
              <a:t>it is in </a:t>
            </a:r>
            <a:r>
              <a:rPr lang="en-US" sz="2800" b="1" dirty="0"/>
              <a:t>2NF</a:t>
            </a:r>
            <a:r>
              <a:rPr lang="en-US" sz="2800" dirty="0"/>
              <a:t>, and</a:t>
            </a:r>
          </a:p>
          <a:p>
            <a:pPr lvl="1"/>
            <a:r>
              <a:rPr lang="en-US" sz="2800" dirty="0"/>
              <a:t>it contains no </a:t>
            </a:r>
            <a:r>
              <a:rPr lang="en-US" sz="2800" b="1" dirty="0">
                <a:solidFill>
                  <a:srgbClr val="0066FF"/>
                </a:solidFill>
              </a:rPr>
              <a:t>transitive dependencies</a:t>
            </a:r>
            <a:r>
              <a:rPr lang="en-US" sz="2800" dirty="0"/>
              <a:t>.</a:t>
            </a:r>
            <a:endParaRPr lang="en-GB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6CBC4-3321-462F-AE19-538735BDB06E}" type="slidenum">
              <a:rPr lang="en-IE" smtClean="0"/>
              <a:pPr/>
              <a:t>23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603177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1922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Un-</a:t>
            </a:r>
            <a:r>
              <a:rPr lang="en-US" dirty="0" err="1"/>
              <a:t>normalised</a:t>
            </a:r>
            <a:r>
              <a:rPr lang="en-US" dirty="0"/>
              <a:t> Normal Form (UNF </a:t>
            </a:r>
            <a:r>
              <a:rPr lang="en-US" b="0" dirty="0"/>
              <a:t>or</a:t>
            </a:r>
            <a:r>
              <a:rPr lang="en-US" dirty="0"/>
              <a:t> 0NF)</a:t>
            </a:r>
          </a:p>
        </p:txBody>
      </p:sp>
      <p:sp>
        <p:nvSpPr>
          <p:cNvPr id="3921923" name="Rectangle 3"/>
          <p:cNvSpPr>
            <a:spLocks noGrp="1" noChangeArrowheads="1"/>
          </p:cNvSpPr>
          <p:nvPr>
            <p:ph idx="1"/>
          </p:nvPr>
        </p:nvSpPr>
        <p:spPr>
          <a:xfrm>
            <a:off x="468549" y="1690688"/>
            <a:ext cx="11107366" cy="4301550"/>
          </a:xfrm>
        </p:spPr>
        <p:txBody>
          <a:bodyPr>
            <a:normAutofit lnSpcReduction="10000"/>
          </a:bodyPr>
          <a:lstStyle/>
          <a:p>
            <a:r>
              <a:rPr lang="en-IE" b="1" dirty="0"/>
              <a:t>Un-normalised</a:t>
            </a:r>
            <a:r>
              <a:rPr lang="en-US" b="1" dirty="0"/>
              <a:t> Normal Form (UNF </a:t>
            </a:r>
            <a:r>
              <a:rPr lang="en-US" dirty="0"/>
              <a:t>or</a:t>
            </a:r>
            <a:r>
              <a:rPr lang="en-US" b="1" dirty="0"/>
              <a:t> 0NF)</a:t>
            </a:r>
            <a:endParaRPr lang="en-IE" b="1" dirty="0"/>
          </a:p>
          <a:p>
            <a:pPr lvl="1"/>
            <a:r>
              <a:rPr lang="en-IE" b="1" dirty="0"/>
              <a:t>Definition:</a:t>
            </a:r>
            <a:r>
              <a:rPr lang="en-IE" dirty="0"/>
              <a:t> A relation is un-normalised when it has not had any normalisation rules applied to it, and it suffers from various anomalies.</a:t>
            </a:r>
          </a:p>
          <a:p>
            <a:pPr lvl="1"/>
            <a:r>
              <a:rPr lang="en-IE" sz="2400" dirty="0"/>
              <a:t>This only tends to occur where the relation has been designed using a ‘</a:t>
            </a:r>
            <a:r>
              <a:rPr lang="en-IE" sz="2400" i="1" dirty="0"/>
              <a:t>bottom-up approach</a:t>
            </a:r>
            <a:r>
              <a:rPr lang="en-IE" sz="2400" dirty="0"/>
              <a:t>’ i.e. the capturing of attributes to a ‘universal relation’ from a screen layout, manual report, manual document, etc...</a:t>
            </a:r>
          </a:p>
          <a:p>
            <a:endParaRPr lang="en-IE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5AD845-CEB0-4A63-BC62-3E377154D459}" type="slidenum">
              <a:rPr lang="en-IE" smtClean="0"/>
              <a:pPr/>
              <a:t>24</a:t>
            </a:fld>
            <a:endParaRPr lang="en-IE"/>
          </a:p>
        </p:txBody>
      </p:sp>
      <p:sp>
        <p:nvSpPr>
          <p:cNvPr id="3921924" name="Rectangle 4"/>
          <p:cNvSpPr>
            <a:spLocks noChangeArrowheads="1"/>
          </p:cNvSpPr>
          <p:nvPr/>
        </p:nvSpPr>
        <p:spPr bwMode="auto">
          <a:xfrm>
            <a:off x="2132014" y="3529014"/>
            <a:ext cx="8207375" cy="106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/>
          <a:lstStyle/>
          <a:p>
            <a:pPr eaLnBrk="1" hangingPunct="1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SzPct val="85000"/>
              <a:buFont typeface="Wingdings" pitchFamily="2" charset="2"/>
              <a:buNone/>
            </a:pPr>
            <a:endParaRPr lang="en-US" sz="1900" b="1">
              <a:solidFill>
                <a:schemeClr val="accent2"/>
              </a:solidFill>
              <a:latin typeface="Times New Roman" pitchFamily="18" charset="0"/>
              <a:sym typeface="Symbol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8566956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2946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b="0" dirty="0"/>
              <a:t>Logical Design (‘Bottom-up’ Approach)</a:t>
            </a:r>
          </a:p>
        </p:txBody>
      </p:sp>
      <p:sp>
        <p:nvSpPr>
          <p:cNvPr id="7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632D9D-3B1E-46D4-A174-F5F84DAC7596}" type="slidenum">
              <a:rPr lang="en-IE"/>
              <a:pPr/>
              <a:t>25</a:t>
            </a:fld>
            <a:endParaRPr lang="en-IE"/>
          </a:p>
        </p:txBody>
      </p:sp>
      <p:pic>
        <p:nvPicPr>
          <p:cNvPr id="10" name="Picture 9" descr="orders form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287949" y="1690688"/>
            <a:ext cx="6498076" cy="5223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0120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b="0" dirty="0"/>
              <a:t>Place in UNF</a:t>
            </a:r>
            <a:endParaRPr lang="en-IE" b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362109" cy="4351338"/>
          </a:xfrm>
        </p:spPr>
        <p:txBody>
          <a:bodyPr>
            <a:noAutofit/>
          </a:bodyPr>
          <a:lstStyle/>
          <a:p>
            <a:r>
              <a:rPr lang="en-IE" sz="2400" dirty="0"/>
              <a:t>Gather attributes in the following schema form: </a:t>
            </a:r>
          </a:p>
          <a:p>
            <a:r>
              <a:rPr lang="en-IE" sz="2400" b="1" dirty="0">
                <a:solidFill>
                  <a:srgbClr val="0066FF"/>
                </a:solidFill>
              </a:rPr>
              <a:t>Entity</a:t>
            </a:r>
            <a:r>
              <a:rPr lang="en-IE" sz="2400" dirty="0"/>
              <a:t>( non-repeating attributes (</a:t>
            </a:r>
            <a:r>
              <a:rPr lang="en-IE" sz="2400" dirty="0">
                <a:solidFill>
                  <a:srgbClr val="00B050"/>
                </a:solidFill>
              </a:rPr>
              <a:t>repeating attributes</a:t>
            </a:r>
            <a:r>
              <a:rPr lang="en-IE" sz="2400" dirty="0"/>
              <a:t>)* )</a:t>
            </a:r>
          </a:p>
          <a:p>
            <a:pPr>
              <a:buNone/>
            </a:pPr>
            <a:endParaRPr lang="en-IE" sz="700" dirty="0"/>
          </a:p>
          <a:p>
            <a:endParaRPr lang="en-IE" sz="2400" dirty="0"/>
          </a:p>
          <a:p>
            <a:endParaRPr lang="en-IE" sz="2400" dirty="0"/>
          </a:p>
          <a:p>
            <a:pPr>
              <a:buNone/>
            </a:pPr>
            <a:endParaRPr lang="en-IE" sz="24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0F726-502A-4A13-B38C-4A07697E010C}" type="slidenum">
              <a:rPr lang="en-IE" smtClean="0"/>
              <a:pPr/>
              <a:t>26</a:t>
            </a:fld>
            <a:endParaRPr lang="en-IE"/>
          </a:p>
        </p:txBody>
      </p:sp>
      <p:pic>
        <p:nvPicPr>
          <p:cNvPr id="15" name="Picture 14" descr="orders form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555717" y="2064651"/>
            <a:ext cx="5378443" cy="432359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auto">
          <a:xfrm>
            <a:off x="6844673" y="4319081"/>
            <a:ext cx="3943849" cy="1472726"/>
          </a:xfrm>
          <a:prstGeom prst="rect">
            <a:avLst/>
          </a:prstGeom>
          <a:noFill/>
          <a:ln w="57150" cap="sq" cmpd="sng" algn="ctr">
            <a:solidFill>
              <a:srgbClr val="00B050"/>
            </a:solidFill>
            <a:prstDash val="dash"/>
            <a:miter lim="800000"/>
            <a:headEnd type="none" w="sm" len="sm"/>
            <a:tailEnd type="none" w="sm" len="sm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endParaRPr lang="en-IE"/>
          </a:p>
        </p:txBody>
      </p:sp>
      <p:sp>
        <p:nvSpPr>
          <p:cNvPr id="10" name="Rectangle 9"/>
          <p:cNvSpPr/>
          <p:nvPr/>
        </p:nvSpPr>
        <p:spPr bwMode="auto">
          <a:xfrm>
            <a:off x="10913760" y="4319081"/>
            <a:ext cx="681610" cy="1818972"/>
          </a:xfrm>
          <a:prstGeom prst="rect">
            <a:avLst/>
          </a:prstGeom>
          <a:noFill/>
          <a:ln w="38100" cap="sq" cmpd="sng" algn="ctr">
            <a:solidFill>
              <a:srgbClr val="7030A0"/>
            </a:solidFill>
            <a:prstDash val="dash"/>
            <a:miter lim="800000"/>
            <a:headEnd type="none" w="sm" len="sm"/>
            <a:tailEnd type="none" w="sm" len="sm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endParaRPr lang="en-IE"/>
          </a:p>
        </p:txBody>
      </p:sp>
      <p:sp>
        <p:nvSpPr>
          <p:cNvPr id="13" name="TextBox 12"/>
          <p:cNvSpPr txBox="1"/>
          <p:nvPr/>
        </p:nvSpPr>
        <p:spPr>
          <a:xfrm>
            <a:off x="3568926" y="4845717"/>
            <a:ext cx="2459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IE" b="1" dirty="0"/>
              <a:t>Repeating attributes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2688" y="941983"/>
            <a:ext cx="2461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b="1" dirty="0"/>
              <a:t>Calculated fields</a:t>
            </a:r>
          </a:p>
        </p:txBody>
      </p:sp>
      <p:cxnSp>
        <p:nvCxnSpPr>
          <p:cNvPr id="16" name="Straight Arrow Connector 15"/>
          <p:cNvCxnSpPr/>
          <p:nvPr/>
        </p:nvCxnSpPr>
        <p:spPr bwMode="auto">
          <a:xfrm>
            <a:off x="9363848" y="1463676"/>
            <a:ext cx="1653570" cy="3541998"/>
          </a:xfrm>
          <a:prstGeom prst="straightConnector1">
            <a:avLst/>
          </a:prstGeom>
          <a:noFill/>
          <a:ln w="19050" cap="sq" cmpd="sng" algn="ctr">
            <a:solidFill>
              <a:srgbClr val="7030A0"/>
            </a:solidFill>
            <a:prstDash val="dash"/>
            <a:miter lim="800000"/>
            <a:headEnd type="none" w="sm" len="sm"/>
            <a:tailEnd type="stealth" w="lg" len="lg"/>
          </a:ln>
          <a:effectLst/>
        </p:spPr>
      </p:cxnSp>
      <p:cxnSp>
        <p:nvCxnSpPr>
          <p:cNvPr id="19" name="Straight Arrow Connector 18"/>
          <p:cNvCxnSpPr>
            <a:stCxn id="13" idx="3"/>
          </p:cNvCxnSpPr>
          <p:nvPr/>
        </p:nvCxnSpPr>
        <p:spPr bwMode="auto">
          <a:xfrm>
            <a:off x="6028023" y="5030383"/>
            <a:ext cx="527694" cy="247820"/>
          </a:xfrm>
          <a:prstGeom prst="straightConnector1">
            <a:avLst/>
          </a:prstGeom>
          <a:noFill/>
          <a:ln w="19050" cap="sq" cmpd="sng" algn="ctr">
            <a:solidFill>
              <a:srgbClr val="00B050"/>
            </a:solidFill>
            <a:prstDash val="dash"/>
            <a:miter lim="800000"/>
            <a:headEnd type="none" w="sm" len="sm"/>
            <a:tailEnd type="stealth" w="lg" len="lg"/>
          </a:ln>
          <a:effectLst/>
        </p:spPr>
      </p:cxnSp>
    </p:spTree>
    <p:extLst>
      <p:ext uri="{BB962C8B-B14F-4D97-AF65-F5344CB8AC3E}">
        <p14:creationId xmlns:p14="http://schemas.microsoft.com/office/powerpoint/2010/main" val="4162659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b="0" dirty="0"/>
              <a:t>Place in UNF</a:t>
            </a:r>
            <a:endParaRPr lang="en-IE" b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ctr">
              <a:buNone/>
            </a:pPr>
            <a:r>
              <a:rPr lang="en-IE" sz="2400" b="1" dirty="0">
                <a:solidFill>
                  <a:srgbClr val="0066FF"/>
                </a:solidFill>
              </a:rPr>
              <a:t>Entity</a:t>
            </a:r>
            <a:r>
              <a:rPr lang="en-IE" sz="2400" dirty="0"/>
              <a:t>( non-repeating attributes (</a:t>
            </a:r>
            <a:r>
              <a:rPr lang="en-IE" sz="2400" dirty="0">
                <a:solidFill>
                  <a:srgbClr val="00B050"/>
                </a:solidFill>
              </a:rPr>
              <a:t>repeating attributes</a:t>
            </a:r>
            <a:r>
              <a:rPr lang="en-IE" sz="2400" dirty="0"/>
              <a:t>)* )</a:t>
            </a:r>
          </a:p>
          <a:p>
            <a:pPr>
              <a:buNone/>
            </a:pPr>
            <a:endParaRPr lang="en-IE" sz="700" dirty="0"/>
          </a:p>
          <a:p>
            <a:r>
              <a:rPr lang="en-IE" sz="2400" dirty="0"/>
              <a:t>Un-normalised</a:t>
            </a:r>
            <a:r>
              <a:rPr lang="en-US" sz="2400" dirty="0"/>
              <a:t> Normal Form (UNF or 0NF)</a:t>
            </a:r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r>
              <a:rPr lang="en-IE" sz="2400" b="1" dirty="0">
                <a:solidFill>
                  <a:srgbClr val="0066FF"/>
                </a:solidFill>
              </a:rPr>
              <a:t>Orders</a:t>
            </a:r>
            <a:r>
              <a:rPr lang="en-IE" sz="2400" dirty="0"/>
              <a:t>( </a:t>
            </a:r>
            <a:r>
              <a:rPr lang="en-IE" sz="2400" dirty="0" err="1"/>
              <a:t>cust_no,cust_name,cust_add</a:t>
            </a:r>
            <a:r>
              <a:rPr lang="en-IE" sz="2400" dirty="0"/>
              <a:t>, </a:t>
            </a:r>
            <a:r>
              <a:rPr lang="en-IE" sz="2400" b="1" u="sng" dirty="0" err="1"/>
              <a:t>order_no</a:t>
            </a:r>
            <a:r>
              <a:rPr lang="en-IE" sz="2400" dirty="0"/>
              <a:t>, </a:t>
            </a:r>
            <a:r>
              <a:rPr lang="en-IE" sz="2400" dirty="0" err="1"/>
              <a:t>order_date</a:t>
            </a:r>
            <a:r>
              <a:rPr lang="en-IE" sz="2400" dirty="0"/>
              <a:t>,(</a:t>
            </a:r>
            <a:r>
              <a:rPr lang="en-IE" sz="2400" dirty="0" err="1">
                <a:solidFill>
                  <a:srgbClr val="00B050"/>
                </a:solidFill>
              </a:rPr>
              <a:t>product_no</a:t>
            </a:r>
            <a:r>
              <a:rPr lang="en-IE" sz="2400" dirty="0">
                <a:solidFill>
                  <a:srgbClr val="00B050"/>
                </a:solidFill>
              </a:rPr>
              <a:t>, </a:t>
            </a:r>
            <a:r>
              <a:rPr lang="en-IE" sz="2400" dirty="0" err="1">
                <a:solidFill>
                  <a:srgbClr val="00B050"/>
                </a:solidFill>
              </a:rPr>
              <a:t>prod_desc_unit_price</a:t>
            </a:r>
            <a:r>
              <a:rPr lang="en-IE" sz="2400" dirty="0">
                <a:solidFill>
                  <a:srgbClr val="00B050"/>
                </a:solidFill>
              </a:rPr>
              <a:t>, </a:t>
            </a:r>
            <a:r>
              <a:rPr lang="en-IE" sz="2400" dirty="0" err="1">
                <a:solidFill>
                  <a:srgbClr val="00B050"/>
                </a:solidFill>
              </a:rPr>
              <a:t>order_qty</a:t>
            </a:r>
            <a:r>
              <a:rPr lang="en-IE" sz="2400" dirty="0">
                <a:solidFill>
                  <a:srgbClr val="00B050"/>
                </a:solidFill>
              </a:rPr>
              <a:t>, </a:t>
            </a:r>
            <a:r>
              <a:rPr lang="en-IE" sz="2400" dirty="0" err="1">
                <a:solidFill>
                  <a:srgbClr val="AD03A5"/>
                </a:solidFill>
              </a:rPr>
              <a:t>line_total</a:t>
            </a:r>
            <a:r>
              <a:rPr lang="en-IE" sz="2400" dirty="0"/>
              <a:t>)*, </a:t>
            </a:r>
            <a:r>
              <a:rPr lang="en-IE" sz="2400" dirty="0" err="1">
                <a:solidFill>
                  <a:srgbClr val="AD03A5"/>
                </a:solidFill>
              </a:rPr>
              <a:t>order_tota</a:t>
            </a:r>
            <a:r>
              <a:rPr lang="en-IE" sz="2400" dirty="0" err="1"/>
              <a:t>l</a:t>
            </a:r>
            <a:r>
              <a:rPr lang="en-IE" sz="2400" dirty="0"/>
              <a:t> )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0F726-502A-4A13-B38C-4A07697E010C}" type="slidenum">
              <a:rPr lang="en-IE" smtClean="0"/>
              <a:pPr/>
              <a:t>27</a:t>
            </a:fld>
            <a:endParaRPr lang="en-IE"/>
          </a:p>
        </p:txBody>
      </p:sp>
      <p:pic>
        <p:nvPicPr>
          <p:cNvPr id="7" name="Picture 6" descr="Fig12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98206" y="3253156"/>
            <a:ext cx="11595587" cy="748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380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3970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First Normal Form (1NF)</a:t>
            </a:r>
          </a:p>
        </p:txBody>
      </p:sp>
      <p:sp>
        <p:nvSpPr>
          <p:cNvPr id="39239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b="1" dirty="0">
                <a:solidFill>
                  <a:srgbClr val="C00000"/>
                </a:solidFill>
              </a:rPr>
              <a:t>	Definition:</a:t>
            </a:r>
            <a:r>
              <a:rPr lang="en-US" dirty="0"/>
              <a:t> A relation is in </a:t>
            </a:r>
            <a:r>
              <a:rPr lang="en-US" b="1" dirty="0">
                <a:solidFill>
                  <a:srgbClr val="0000FF"/>
                </a:solidFill>
              </a:rPr>
              <a:t>1NF</a:t>
            </a:r>
            <a:r>
              <a:rPr lang="en-US" dirty="0"/>
              <a:t> if, and only if, all its underlying attributes contain ‘</a:t>
            </a:r>
            <a:r>
              <a:rPr lang="en-US" b="1" dirty="0"/>
              <a:t>atomic</a:t>
            </a:r>
            <a:r>
              <a:rPr lang="en-US" dirty="0"/>
              <a:t>’ values only.</a:t>
            </a:r>
          </a:p>
          <a:p>
            <a:pPr algn="ctr">
              <a:buNone/>
            </a:pPr>
            <a:r>
              <a:rPr lang="en-US" sz="3200" b="1" dirty="0"/>
              <a:t>Remove </a:t>
            </a:r>
            <a:r>
              <a:rPr lang="en-US" sz="3200" b="1" dirty="0">
                <a:solidFill>
                  <a:srgbClr val="0000FF"/>
                </a:solidFill>
              </a:rPr>
              <a:t>repeating groups</a:t>
            </a:r>
            <a:r>
              <a:rPr lang="en-US" sz="3200" b="1" dirty="0"/>
              <a:t> into a new relation</a:t>
            </a:r>
          </a:p>
          <a:p>
            <a:pPr algn="ctr">
              <a:buNone/>
            </a:pPr>
            <a:endParaRPr lang="en-GB" sz="2400" b="1" dirty="0">
              <a:solidFill>
                <a:srgbClr val="0000FF"/>
              </a:solidFill>
              <a:latin typeface="Arial" charset="0"/>
            </a:endParaRPr>
          </a:p>
          <a:p>
            <a:pPr algn="ctr">
              <a:buNone/>
            </a:pPr>
            <a:r>
              <a:rPr lang="en-GB" sz="2400" b="1" dirty="0">
                <a:solidFill>
                  <a:srgbClr val="0000FF"/>
                </a:solidFill>
                <a:latin typeface="Arial" charset="0"/>
              </a:rPr>
              <a:t>ORDERS</a:t>
            </a:r>
            <a:r>
              <a:rPr lang="en-GB" sz="2400" dirty="0">
                <a:solidFill>
                  <a:schemeClr val="tx2"/>
                </a:solidFill>
                <a:latin typeface="Arial" charset="0"/>
              </a:rPr>
              <a:t> (</a:t>
            </a:r>
            <a:r>
              <a:rPr lang="en-GB" sz="2400" b="1" u="sng" dirty="0">
                <a:latin typeface="Arial" charset="0"/>
              </a:rPr>
              <a:t>order_no</a:t>
            </a:r>
            <a:r>
              <a:rPr lang="en-GB" sz="2400" dirty="0">
                <a:latin typeface="Arial" charset="0"/>
              </a:rPr>
              <a:t>, order_date, cust_no, cust_name, cust_add</a:t>
            </a:r>
            <a:r>
              <a:rPr lang="en-GB" sz="2400" dirty="0">
                <a:solidFill>
                  <a:schemeClr val="tx2"/>
                </a:solidFill>
                <a:latin typeface="Arial" charset="0"/>
              </a:rPr>
              <a:t>, </a:t>
            </a:r>
          </a:p>
          <a:p>
            <a:pPr algn="ctr">
              <a:buNone/>
            </a:pPr>
            <a:r>
              <a:rPr lang="en-GB" sz="2400" dirty="0">
                <a:solidFill>
                  <a:schemeClr val="tx2"/>
                </a:solidFill>
                <a:latin typeface="Arial" charset="0"/>
              </a:rPr>
              <a:t>	   </a:t>
            </a:r>
            <a:r>
              <a:rPr lang="en-GB" sz="2400" dirty="0">
                <a:latin typeface="Arial" charset="0"/>
              </a:rPr>
              <a:t>(</a:t>
            </a:r>
            <a:r>
              <a:rPr lang="en-GB" sz="2400" b="1" dirty="0">
                <a:solidFill>
                  <a:srgbClr val="00B050"/>
                </a:solidFill>
                <a:latin typeface="Arial" charset="0"/>
              </a:rPr>
              <a:t>prod_no</a:t>
            </a:r>
            <a:r>
              <a:rPr lang="en-GB" sz="2400" dirty="0">
                <a:solidFill>
                  <a:schemeClr val="tx2"/>
                </a:solidFill>
                <a:latin typeface="Arial" charset="0"/>
              </a:rPr>
              <a:t>, </a:t>
            </a:r>
            <a:r>
              <a:rPr lang="en-GB" sz="2400" b="1" dirty="0">
                <a:solidFill>
                  <a:srgbClr val="00B050"/>
                </a:solidFill>
                <a:latin typeface="Arial" charset="0"/>
              </a:rPr>
              <a:t>prod_desc</a:t>
            </a:r>
            <a:r>
              <a:rPr lang="en-GB" sz="2400" dirty="0">
                <a:solidFill>
                  <a:schemeClr val="tx2"/>
                </a:solidFill>
                <a:latin typeface="Arial" charset="0"/>
              </a:rPr>
              <a:t>, </a:t>
            </a:r>
            <a:r>
              <a:rPr lang="en-GB" sz="2400" b="1" dirty="0">
                <a:solidFill>
                  <a:srgbClr val="00B050"/>
                </a:solidFill>
                <a:latin typeface="Arial" charset="0"/>
              </a:rPr>
              <a:t>unit_price</a:t>
            </a:r>
            <a:r>
              <a:rPr lang="en-GB" sz="2400" dirty="0">
                <a:solidFill>
                  <a:schemeClr val="tx2"/>
                </a:solidFill>
                <a:latin typeface="Arial" charset="0"/>
              </a:rPr>
              <a:t>, </a:t>
            </a:r>
            <a:r>
              <a:rPr lang="en-GB" sz="2400" b="1" dirty="0">
                <a:solidFill>
                  <a:srgbClr val="00B050"/>
                </a:solidFill>
                <a:latin typeface="Arial" charset="0"/>
              </a:rPr>
              <a:t>ord_qty</a:t>
            </a:r>
            <a:r>
              <a:rPr lang="en-GB" sz="2400" dirty="0">
                <a:solidFill>
                  <a:schemeClr val="tx2"/>
                </a:solidFill>
                <a:latin typeface="Arial" charset="0"/>
              </a:rPr>
              <a:t>, </a:t>
            </a:r>
            <a:r>
              <a:rPr lang="en-GB" sz="2400" b="1" dirty="0">
                <a:solidFill>
                  <a:srgbClr val="7030A0"/>
                </a:solidFill>
                <a:latin typeface="Arial" charset="0"/>
              </a:rPr>
              <a:t>line_total</a:t>
            </a:r>
            <a:r>
              <a:rPr lang="en-GB" sz="2400" dirty="0">
                <a:latin typeface="Arial" charset="0"/>
              </a:rPr>
              <a:t>)*</a:t>
            </a:r>
            <a:r>
              <a:rPr lang="en-GB" sz="2400" dirty="0">
                <a:solidFill>
                  <a:schemeClr val="tx2"/>
                </a:solidFill>
                <a:latin typeface="Arial" charset="0"/>
              </a:rPr>
              <a:t>, </a:t>
            </a:r>
            <a:r>
              <a:rPr lang="en-GB" sz="2400" b="1" dirty="0">
                <a:solidFill>
                  <a:srgbClr val="7030A0"/>
                </a:solidFill>
                <a:latin typeface="Arial" charset="0"/>
              </a:rPr>
              <a:t>order-total</a:t>
            </a:r>
            <a:r>
              <a:rPr lang="en-GB" sz="2400" dirty="0">
                <a:latin typeface="Arial" charset="0"/>
              </a:rPr>
              <a:t>)</a:t>
            </a:r>
            <a:endParaRPr lang="en-GB" sz="2400" b="1" dirty="0">
              <a:latin typeface="Arial" charset="0"/>
            </a:endParaRPr>
          </a:p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F131C-7ED4-4FE7-90AA-7D70899CD63C}" type="slidenum">
              <a:rPr lang="en-IE" smtClean="0"/>
              <a:pPr/>
              <a:t>28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537729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b="0" dirty="0"/>
              <a:t>UNF to 1NF</a:t>
            </a:r>
            <a:endParaRPr lang="en-IE" b="0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Clr>
                <a:srgbClr val="CC3300"/>
              </a:buClr>
              <a:buFont typeface="+mj-lt"/>
              <a:buAutoNum type="arabicPeriod"/>
            </a:pPr>
            <a:r>
              <a:rPr lang="en-US" b="1" dirty="0"/>
              <a:t>Remove</a:t>
            </a:r>
            <a:r>
              <a:rPr lang="en-US" dirty="0"/>
              <a:t> the outermost </a:t>
            </a:r>
            <a:r>
              <a:rPr lang="en-US" dirty="0">
                <a:solidFill>
                  <a:srgbClr val="0000FF"/>
                </a:solidFill>
              </a:rPr>
              <a:t>repeating group</a:t>
            </a:r>
            <a:r>
              <a:rPr lang="en-US" dirty="0"/>
              <a:t> (and any nested repeated groups it may contain) and create a new relation to contain it. Rename original to indicate </a:t>
            </a:r>
            <a:r>
              <a:rPr lang="en-US" dirty="0">
                <a:solidFill>
                  <a:srgbClr val="0000FF"/>
                </a:solidFill>
              </a:rPr>
              <a:t>1NF</a:t>
            </a:r>
            <a:r>
              <a:rPr lang="en-US" dirty="0"/>
              <a:t>.</a:t>
            </a:r>
            <a:endParaRPr lang="en-GB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sz="1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D3A4D-B6E1-4BA8-8E72-E8BBC188521C}" type="slidenum">
              <a:rPr lang="en-IE" smtClean="0"/>
              <a:pPr/>
              <a:t>29</a:t>
            </a:fld>
            <a:endParaRPr lang="en-IE"/>
          </a:p>
        </p:txBody>
      </p:sp>
      <p:pic>
        <p:nvPicPr>
          <p:cNvPr id="13" name="Picture 12" descr="Fig15-1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83071" y="3994531"/>
            <a:ext cx="8413353" cy="1277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266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b="0" dirty="0"/>
              <a:t>UNF to 1NF</a:t>
            </a:r>
            <a:endParaRPr lang="en-IE" b="0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Clr>
                <a:srgbClr val="CC3300"/>
              </a:buClr>
              <a:buFont typeface="+mj-lt"/>
              <a:buAutoNum type="arabicPeriod" startAt="2"/>
            </a:pPr>
            <a:r>
              <a:rPr lang="en-US" b="1" dirty="0"/>
              <a:t> Add</a:t>
            </a:r>
            <a:r>
              <a:rPr lang="en-US" dirty="0"/>
              <a:t> to this relation a copy of the </a:t>
            </a:r>
            <a:r>
              <a:rPr lang="en-US" b="1" dirty="0"/>
              <a:t>PK</a:t>
            </a:r>
            <a:r>
              <a:rPr lang="en-US" dirty="0"/>
              <a:t> of the relation immediately enclosing it.</a:t>
            </a:r>
            <a:endParaRPr lang="en-GB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sz="1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D3A4D-B6E1-4BA8-8E72-E8BBC188521C}" type="slidenum">
              <a:rPr lang="en-IE" smtClean="0"/>
              <a:pPr/>
              <a:t>30</a:t>
            </a:fld>
            <a:endParaRPr lang="en-IE"/>
          </a:p>
        </p:txBody>
      </p:sp>
      <p:pic>
        <p:nvPicPr>
          <p:cNvPr id="14" name="Picture 13" descr="Fig15-2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030243" y="3648298"/>
            <a:ext cx="9232054" cy="1448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817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b="0" dirty="0"/>
              <a:t>UNF to 1NF</a:t>
            </a:r>
            <a:endParaRPr lang="en-IE" b="0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838200" y="1825625"/>
            <a:ext cx="10698804" cy="4351338"/>
          </a:xfrm>
        </p:spPr>
        <p:txBody>
          <a:bodyPr>
            <a:normAutofit/>
          </a:bodyPr>
          <a:lstStyle/>
          <a:p>
            <a:endParaRPr lang="en-US" sz="1000" dirty="0"/>
          </a:p>
          <a:p>
            <a:pPr>
              <a:buClr>
                <a:srgbClr val="CC3300"/>
              </a:buClr>
              <a:buFont typeface="+mj-lt"/>
              <a:buAutoNum type="arabicPeriod" startAt="3"/>
            </a:pPr>
            <a:r>
              <a:rPr lang="en-US" b="1" dirty="0"/>
              <a:t> Name</a:t>
            </a:r>
            <a:r>
              <a:rPr lang="en-US" dirty="0"/>
              <a:t> the new entity (appending the number </a:t>
            </a:r>
            <a:r>
              <a:rPr lang="en-US" dirty="0">
                <a:solidFill>
                  <a:srgbClr val="0000FF"/>
                </a:solidFill>
              </a:rPr>
              <a:t>1</a:t>
            </a:r>
            <a:r>
              <a:rPr lang="en-US" dirty="0"/>
              <a:t> to indicate </a:t>
            </a:r>
            <a:r>
              <a:rPr lang="en-US" dirty="0">
                <a:solidFill>
                  <a:srgbClr val="0000FF"/>
                </a:solidFill>
              </a:rPr>
              <a:t>1NF</a:t>
            </a:r>
            <a:r>
              <a:rPr lang="en-US" dirty="0"/>
              <a:t>).</a:t>
            </a:r>
          </a:p>
          <a:p>
            <a:endParaRPr lang="en-US" dirty="0"/>
          </a:p>
          <a:p>
            <a:endParaRPr lang="en-US" dirty="0"/>
          </a:p>
          <a:p>
            <a:pPr>
              <a:buClr>
                <a:srgbClr val="C00000"/>
              </a:buClr>
              <a:buFont typeface="+mj-lt"/>
              <a:buAutoNum type="arabicPeriod" startAt="4"/>
            </a:pPr>
            <a:r>
              <a:rPr lang="en-US" b="1" dirty="0"/>
              <a:t>Determine</a:t>
            </a:r>
            <a:r>
              <a:rPr lang="en-US" dirty="0"/>
              <a:t> the </a:t>
            </a:r>
            <a:r>
              <a:rPr lang="en-US" b="1" dirty="0"/>
              <a:t>PK</a:t>
            </a:r>
            <a:r>
              <a:rPr lang="en-US" dirty="0"/>
              <a:t> of the new entity.</a:t>
            </a:r>
            <a:endParaRPr lang="en-GB" dirty="0"/>
          </a:p>
          <a:p>
            <a:endParaRPr lang="en-I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D3A4D-B6E1-4BA8-8E72-E8BBC188521C}" type="slidenum">
              <a:rPr lang="en-IE" smtClean="0"/>
              <a:pPr/>
              <a:t>31</a:t>
            </a:fld>
            <a:endParaRPr lang="en-IE"/>
          </a:p>
        </p:txBody>
      </p:sp>
      <p:pic>
        <p:nvPicPr>
          <p:cNvPr id="15" name="Picture 14" descr="Fig15-3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364696" y="3111443"/>
            <a:ext cx="8903868" cy="565612"/>
          </a:xfrm>
          <a:prstGeom prst="rect">
            <a:avLst/>
          </a:prstGeom>
        </p:spPr>
      </p:pic>
      <p:pic>
        <p:nvPicPr>
          <p:cNvPr id="16" name="Picture 15" descr="Fig15-4.jp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364696" y="5391747"/>
            <a:ext cx="8872003" cy="571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395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232629"/>
                </a:solidFill>
                <a:latin typeface="-apple-system"/>
              </a:rPr>
              <a:t>Note on choosing PK</a:t>
            </a:r>
            <a:endParaRPr lang="en-I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2319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00000"/>
              </a:lnSpc>
            </a:pPr>
            <a:r>
              <a:rPr lang="en-US" sz="3200" dirty="0">
                <a:solidFill>
                  <a:srgbClr val="232629"/>
                </a:solidFill>
                <a:latin typeface="-apple-system"/>
              </a:rPr>
              <a:t>Foreign Keys as part of a composite key can be used as PKs</a:t>
            </a:r>
          </a:p>
          <a:p>
            <a:pPr fontAlgn="base">
              <a:lnSpc>
                <a:spcPct val="100000"/>
              </a:lnSpc>
            </a:pPr>
            <a:r>
              <a:rPr lang="en-US" sz="3200" dirty="0">
                <a:solidFill>
                  <a:srgbClr val="232629"/>
                </a:solidFill>
                <a:latin typeface="-apple-system"/>
              </a:rPr>
              <a:t>A single Foreign key is usually not suitable as Primary Keys as they allow duplication</a:t>
            </a:r>
          </a:p>
          <a:p>
            <a:pPr fontAlgn="base">
              <a:lnSpc>
                <a:spcPct val="100000"/>
              </a:lnSpc>
            </a:pPr>
            <a:r>
              <a:rPr lang="en-US" sz="3200" dirty="0">
                <a:solidFill>
                  <a:srgbClr val="232629"/>
                </a:solidFill>
                <a:latin typeface="-apple-system"/>
              </a:rPr>
              <a:t>Alternatives:</a:t>
            </a:r>
          </a:p>
          <a:p>
            <a:pPr lvl="1" fontAlgn="base">
              <a:lnSpc>
                <a:spcPct val="100000"/>
              </a:lnSpc>
            </a:pPr>
            <a:r>
              <a:rPr lang="en-US" sz="2800" dirty="0">
                <a:solidFill>
                  <a:srgbClr val="232629"/>
                </a:solidFill>
                <a:latin typeface="-apple-system"/>
              </a:rPr>
              <a:t>Find a field that uniquely identifies each record in the table</a:t>
            </a:r>
          </a:p>
          <a:p>
            <a:pPr lvl="1" fontAlgn="base">
              <a:lnSpc>
                <a:spcPct val="100000"/>
              </a:lnSpc>
            </a:pPr>
            <a:r>
              <a:rPr lang="en-US" sz="2800" dirty="0">
                <a:solidFill>
                  <a:srgbClr val="232629"/>
                </a:solidFill>
                <a:latin typeface="-apple-system"/>
              </a:rPr>
              <a:t>Add a new field (auto-incrementing integer) to act as the primary key.</a:t>
            </a:r>
            <a:endParaRPr lang="en-US" sz="2800" b="0" i="0" dirty="0">
              <a:solidFill>
                <a:srgbClr val="232629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8444096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6018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Second Normal Form (2NF)</a:t>
            </a:r>
          </a:p>
        </p:txBody>
      </p:sp>
      <p:sp>
        <p:nvSpPr>
          <p:cNvPr id="392601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Definition: </a:t>
            </a:r>
            <a:r>
              <a:rPr lang="en-US" dirty="0"/>
              <a:t>A relation is in </a:t>
            </a:r>
            <a:r>
              <a:rPr lang="en-US" b="1" dirty="0">
                <a:solidFill>
                  <a:srgbClr val="0000FF"/>
                </a:solidFill>
              </a:rPr>
              <a:t>2NF</a:t>
            </a:r>
            <a:r>
              <a:rPr lang="en-US" dirty="0"/>
              <a:t> if, and only if, it is in </a:t>
            </a:r>
            <a:r>
              <a:rPr lang="en-US" b="1" dirty="0">
                <a:solidFill>
                  <a:srgbClr val="0000FF"/>
                </a:solidFill>
              </a:rPr>
              <a:t>1NF</a:t>
            </a:r>
            <a:r>
              <a:rPr lang="en-US" dirty="0"/>
              <a:t> and every non-key attribute is </a:t>
            </a:r>
            <a:r>
              <a:rPr lang="en-US" b="1" dirty="0">
                <a:solidFill>
                  <a:srgbClr val="0000FF"/>
                </a:solidFill>
              </a:rPr>
              <a:t>fully dependent</a:t>
            </a:r>
            <a:r>
              <a:rPr lang="en-US" dirty="0"/>
              <a:t> on the primary key.</a:t>
            </a:r>
          </a:p>
          <a:p>
            <a:endParaRPr lang="en-US" sz="1000" dirty="0"/>
          </a:p>
          <a:p>
            <a:pPr>
              <a:buNone/>
            </a:pPr>
            <a:r>
              <a:rPr lang="en-US" sz="3200" b="1" dirty="0"/>
              <a:t>Remove </a:t>
            </a:r>
            <a:r>
              <a:rPr lang="en-US" sz="3200" b="1" dirty="0">
                <a:solidFill>
                  <a:srgbClr val="0000FF"/>
                </a:solidFill>
              </a:rPr>
              <a:t>partial functional dependencies</a:t>
            </a:r>
            <a:r>
              <a:rPr lang="en-US" sz="3200" b="1" dirty="0"/>
              <a:t> into a new relation.</a:t>
            </a:r>
          </a:p>
          <a:p>
            <a:pPr>
              <a:buNone/>
            </a:pPr>
            <a:r>
              <a:rPr lang="en-US" sz="3200" b="1" dirty="0"/>
              <a:t>Check each relation individually.</a:t>
            </a:r>
          </a:p>
          <a:p>
            <a:endParaRPr lang="en-US" sz="1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8CA-B10B-425D-AF3F-90643DCDFB71}" type="slidenum">
              <a:rPr lang="en-IE" smtClean="0"/>
              <a:pPr/>
              <a:t>33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12876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6018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 Normal Form (2NF)</a:t>
            </a:r>
            <a:br>
              <a:rPr lang="en-US" dirty="0"/>
            </a:br>
            <a:r>
              <a:rPr lang="en-US" dirty="0"/>
              <a:t>First relation check</a:t>
            </a:r>
          </a:p>
        </p:txBody>
      </p:sp>
      <p:sp>
        <p:nvSpPr>
          <p:cNvPr id="392601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	</a:t>
            </a:r>
            <a:endParaRPr lang="en-US" sz="1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8CA-B10B-425D-AF3F-90643DCDFB71}" type="slidenum">
              <a:rPr lang="en-IE" smtClean="0"/>
              <a:pPr/>
              <a:t>34</a:t>
            </a:fld>
            <a:endParaRPr lang="en-IE"/>
          </a:p>
        </p:txBody>
      </p:sp>
      <p:pic>
        <p:nvPicPr>
          <p:cNvPr id="8" name="Picture 7" descr="Fig15-1.jpg"/>
          <p:cNvPicPr>
            <a:picLocks noChangeAspect="1"/>
          </p:cNvPicPr>
          <p:nvPr/>
        </p:nvPicPr>
        <p:blipFill rotWithShape="1">
          <a:blip r:embed="rId3" cstate="print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104000"/>
                    </a14:imgEffect>
                  </a14:imgLayer>
                </a14:imgProps>
              </a:ext>
            </a:extLst>
          </a:blip>
          <a:srcRect b="49205"/>
          <a:stretch/>
        </p:blipFill>
        <p:spPr>
          <a:xfrm>
            <a:off x="1354105" y="2707987"/>
            <a:ext cx="9483790" cy="731675"/>
          </a:xfrm>
          <a:prstGeom prst="rect">
            <a:avLst/>
          </a:prstGeom>
          <a:gradFill>
            <a:gsLst>
              <a:gs pos="0">
                <a:schemeClr val="bg1">
                  <a:lumMod val="50000"/>
                  <a:alpha val="22000"/>
                </a:schemeClr>
              </a:gs>
              <a:gs pos="74000">
                <a:schemeClr val="bg1">
                  <a:lumMod val="8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</p:pic>
      <p:sp>
        <p:nvSpPr>
          <p:cNvPr id="2" name="TextBox 1"/>
          <p:cNvSpPr txBox="1"/>
          <p:nvPr/>
        </p:nvSpPr>
        <p:spPr>
          <a:xfrm>
            <a:off x="1354105" y="4820235"/>
            <a:ext cx="9151767" cy="5232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Only one single primary key. No partial dependencies.</a:t>
            </a:r>
            <a:endParaRPr lang="en-IE" sz="2800" dirty="0"/>
          </a:p>
        </p:txBody>
      </p:sp>
    </p:spTree>
    <p:extLst>
      <p:ext uri="{BB962C8B-B14F-4D97-AF65-F5344CB8AC3E}">
        <p14:creationId xmlns:p14="http://schemas.microsoft.com/office/powerpoint/2010/main" val="40089829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6018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 Normal Form (2NF)</a:t>
            </a:r>
            <a:br>
              <a:rPr lang="en-US" dirty="0"/>
            </a:br>
            <a:r>
              <a:rPr lang="en-US" dirty="0"/>
              <a:t>Second relation check</a:t>
            </a:r>
          </a:p>
        </p:txBody>
      </p:sp>
      <p:sp>
        <p:nvSpPr>
          <p:cNvPr id="392601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	</a:t>
            </a:r>
            <a:endParaRPr lang="en-US" sz="1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8CA-B10B-425D-AF3F-90643DCDFB71}" type="slidenum">
              <a:rPr lang="en-IE" smtClean="0"/>
              <a:pPr/>
              <a:t>35</a:t>
            </a:fld>
            <a:endParaRPr lang="en-IE"/>
          </a:p>
        </p:txBody>
      </p:sp>
      <p:grpSp>
        <p:nvGrpSpPr>
          <p:cNvPr id="3" name="Group 2"/>
          <p:cNvGrpSpPr/>
          <p:nvPr/>
        </p:nvGrpSpPr>
        <p:grpSpPr>
          <a:xfrm>
            <a:off x="1297519" y="2373550"/>
            <a:ext cx="9207855" cy="2133708"/>
            <a:chOff x="1492072" y="3385226"/>
            <a:chExt cx="9207855" cy="2133708"/>
          </a:xfrm>
        </p:grpSpPr>
        <p:pic>
          <p:nvPicPr>
            <p:cNvPr id="7" name="Picture 6" descr="Fig15-4.jpg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92072" y="3970085"/>
              <a:ext cx="9207855" cy="593538"/>
            </a:xfrm>
            <a:prstGeom prst="rect">
              <a:avLst/>
            </a:prstGeom>
          </p:spPr>
        </p:pic>
        <p:sp>
          <p:nvSpPr>
            <p:cNvPr id="2" name="Curved Down Arrow 1"/>
            <p:cNvSpPr/>
            <p:nvPr/>
          </p:nvSpPr>
          <p:spPr>
            <a:xfrm flipH="1">
              <a:off x="5019472" y="3385226"/>
              <a:ext cx="1303507" cy="616068"/>
            </a:xfrm>
            <a:prstGeom prst="curved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>
                <a:solidFill>
                  <a:schemeClr val="tx1"/>
                </a:solidFill>
              </a:endParaRPr>
            </a:p>
          </p:txBody>
        </p:sp>
        <p:sp>
          <p:nvSpPr>
            <p:cNvPr id="9" name="Curved Down Arrow 8"/>
            <p:cNvSpPr/>
            <p:nvPr/>
          </p:nvSpPr>
          <p:spPr>
            <a:xfrm flipH="1" flipV="1">
              <a:off x="5019472" y="4617362"/>
              <a:ext cx="2723744" cy="901572"/>
            </a:xfrm>
            <a:prstGeom prst="curved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>
                <a:solidFill>
                  <a:schemeClr val="tx1"/>
                </a:solidFill>
              </a:endParaRP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354105" y="4820235"/>
            <a:ext cx="9151767" cy="5232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Composite primary key. Partial dependencies found.</a:t>
            </a:r>
            <a:endParaRPr lang="en-IE" sz="2800" dirty="0"/>
          </a:p>
        </p:txBody>
      </p:sp>
    </p:spTree>
    <p:extLst>
      <p:ext uri="{BB962C8B-B14F-4D97-AF65-F5344CB8AC3E}">
        <p14:creationId xmlns:p14="http://schemas.microsoft.com/office/powerpoint/2010/main" val="32212190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371272" y="153503"/>
            <a:ext cx="10515600" cy="482927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Example: </a:t>
            </a:r>
            <a:r>
              <a:rPr lang="en-US" b="0" dirty="0"/>
              <a:t>1NF to 2NF</a:t>
            </a:r>
            <a:endParaRPr lang="en-IE" b="0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Clr>
                <a:srgbClr val="C00000"/>
              </a:buClr>
              <a:buFont typeface="+mj-lt"/>
              <a:buAutoNum type="arabicPeriod"/>
            </a:pPr>
            <a:endParaRPr lang="en-US" sz="2400" b="1" dirty="0"/>
          </a:p>
          <a:p>
            <a:pPr>
              <a:buClr>
                <a:srgbClr val="C00000"/>
              </a:buClr>
              <a:buFont typeface="+mj-lt"/>
              <a:buAutoNum type="arabicPeriod"/>
            </a:pPr>
            <a:r>
              <a:rPr lang="en-US" sz="2400" b="1" dirty="0"/>
              <a:t> Remove</a:t>
            </a:r>
            <a:r>
              <a:rPr lang="en-US" sz="2400" dirty="0"/>
              <a:t> the offending attributes that are only </a:t>
            </a:r>
            <a:r>
              <a:rPr lang="en-US" sz="2400" dirty="0">
                <a:solidFill>
                  <a:srgbClr val="0000FF"/>
                </a:solidFill>
              </a:rPr>
              <a:t>partially functionally dependent</a:t>
            </a:r>
            <a:r>
              <a:rPr lang="en-US" sz="2400" dirty="0"/>
              <a:t> on the composite key, and place them in a new relation.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300" dirty="0"/>
          </a:p>
          <a:p>
            <a:endParaRPr lang="en-US" sz="300" dirty="0"/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D3A4D-B6E1-4BA8-8E72-E8BBC188521C}" type="slidenum">
              <a:rPr lang="en-IE" smtClean="0"/>
              <a:pPr/>
              <a:t>36</a:t>
            </a:fld>
            <a:endParaRPr lang="en-IE"/>
          </a:p>
        </p:txBody>
      </p:sp>
      <p:pic>
        <p:nvPicPr>
          <p:cNvPr id="13" name="Picture 12" descr="Fig15-4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809392" y="1533058"/>
            <a:ext cx="9077480" cy="585134"/>
          </a:xfrm>
          <a:prstGeom prst="rect">
            <a:avLst/>
          </a:prstGeom>
        </p:spPr>
      </p:pic>
      <p:pic>
        <p:nvPicPr>
          <p:cNvPr id="14" name="Picture 13" descr="Fig16-1.jp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2813491" y="4001294"/>
            <a:ext cx="5631161" cy="117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50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371272" y="153503"/>
            <a:ext cx="10515600" cy="482927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Example: </a:t>
            </a:r>
            <a:r>
              <a:rPr lang="en-US" b="0" dirty="0"/>
              <a:t>1NF to 2NF</a:t>
            </a:r>
            <a:endParaRPr lang="en-IE" b="0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300" dirty="0"/>
          </a:p>
          <a:p>
            <a:pPr>
              <a:buClr>
                <a:srgbClr val="C00000"/>
              </a:buClr>
              <a:buFont typeface="+mj-lt"/>
              <a:buAutoNum type="arabicPeriod" startAt="2"/>
            </a:pPr>
            <a:r>
              <a:rPr lang="en-US" sz="2400" b="1" dirty="0"/>
              <a:t>Add</a:t>
            </a:r>
            <a:r>
              <a:rPr lang="en-US" sz="2400" dirty="0"/>
              <a:t> to this relation a copy of the attribute(s) which determines these offending attributes. These will automatically become the primary key of this new relation…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D3A4D-B6E1-4BA8-8E72-E8BBC188521C}" type="slidenum">
              <a:rPr lang="en-IE" smtClean="0"/>
              <a:pPr/>
              <a:t>37</a:t>
            </a:fld>
            <a:endParaRPr lang="en-IE"/>
          </a:p>
        </p:txBody>
      </p:sp>
      <p:pic>
        <p:nvPicPr>
          <p:cNvPr id="13" name="Picture 12" descr="Fig15-4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613216" y="1240491"/>
            <a:ext cx="9077480" cy="585134"/>
          </a:xfrm>
          <a:prstGeom prst="rect">
            <a:avLst/>
          </a:prstGeom>
        </p:spPr>
      </p:pic>
      <p:pic>
        <p:nvPicPr>
          <p:cNvPr id="12" name="Picture 11" descr="Fig16-2.jp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2249732" y="4054121"/>
            <a:ext cx="5988574" cy="1251777"/>
          </a:xfrm>
          <a:prstGeom prst="rect">
            <a:avLst/>
          </a:prstGeom>
        </p:spPr>
      </p:pic>
      <p:sp>
        <p:nvSpPr>
          <p:cNvPr id="2" name="5-Point Star 1"/>
          <p:cNvSpPr/>
          <p:nvPr/>
        </p:nvSpPr>
        <p:spPr>
          <a:xfrm>
            <a:off x="9649837" y="4824919"/>
            <a:ext cx="2081719" cy="1531431"/>
          </a:xfrm>
          <a:prstGeom prst="star5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ysClr val="windowText" lastClr="000000"/>
                </a:solidFill>
              </a:rPr>
              <a:t>FK?</a:t>
            </a:r>
            <a:endParaRPr lang="en-IE" sz="3200" b="1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6119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b="0" dirty="0"/>
              <a:t>1NF to 2NF</a:t>
            </a:r>
            <a:endParaRPr lang="en-IE" b="0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838200" y="1825625"/>
            <a:ext cx="10873902" cy="4351338"/>
          </a:xfrm>
        </p:spPr>
        <p:txBody>
          <a:bodyPr>
            <a:normAutofit/>
          </a:bodyPr>
          <a:lstStyle/>
          <a:p>
            <a:endParaRPr lang="en-US" dirty="0"/>
          </a:p>
          <a:p>
            <a:pPr>
              <a:buClr>
                <a:srgbClr val="C00000"/>
              </a:buClr>
              <a:buFont typeface="+mj-lt"/>
              <a:buAutoNum type="arabicPeriod" startAt="3"/>
            </a:pPr>
            <a:r>
              <a:rPr lang="en-US" b="1" dirty="0"/>
              <a:t> Name</a:t>
            </a:r>
            <a:r>
              <a:rPr lang="en-US" dirty="0"/>
              <a:t> the new entity (appending the number </a:t>
            </a:r>
            <a:r>
              <a:rPr lang="en-US" dirty="0">
                <a:solidFill>
                  <a:srgbClr val="0000FF"/>
                </a:solidFill>
              </a:rPr>
              <a:t>2</a:t>
            </a:r>
            <a:r>
              <a:rPr lang="en-US" dirty="0"/>
              <a:t> to indicate </a:t>
            </a:r>
            <a:r>
              <a:rPr lang="en-US" dirty="0">
                <a:solidFill>
                  <a:srgbClr val="0000FF"/>
                </a:solidFill>
              </a:rPr>
              <a:t>2NF</a:t>
            </a:r>
            <a:r>
              <a:rPr lang="en-US" dirty="0"/>
              <a:t>).</a:t>
            </a:r>
          </a:p>
          <a:p>
            <a:endParaRPr lang="en-US" dirty="0"/>
          </a:p>
          <a:p>
            <a:endParaRPr lang="en-IE" sz="600" dirty="0"/>
          </a:p>
          <a:p>
            <a:pPr>
              <a:buClr>
                <a:srgbClr val="C00000"/>
              </a:buClr>
              <a:buFont typeface="+mj-lt"/>
              <a:buAutoNum type="arabicPeriod" startAt="4"/>
            </a:pPr>
            <a:r>
              <a:rPr lang="en-US" b="1" dirty="0"/>
              <a:t> Rename</a:t>
            </a:r>
            <a:r>
              <a:rPr lang="en-US" dirty="0"/>
              <a:t> the original entity (ending with a </a:t>
            </a:r>
            <a:r>
              <a:rPr lang="en-US" dirty="0">
                <a:solidFill>
                  <a:srgbClr val="0000FF"/>
                </a:solidFill>
              </a:rPr>
              <a:t>2</a:t>
            </a:r>
            <a:r>
              <a:rPr lang="en-US" dirty="0"/>
              <a:t> to indicate </a:t>
            </a:r>
            <a:r>
              <a:rPr lang="en-US" dirty="0">
                <a:solidFill>
                  <a:srgbClr val="0000FF"/>
                </a:solidFill>
              </a:rPr>
              <a:t>2NF</a:t>
            </a:r>
            <a:r>
              <a:rPr lang="en-US" dirty="0"/>
              <a:t>).</a:t>
            </a:r>
            <a:endParaRPr lang="en-I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D3A4D-B6E1-4BA8-8E72-E8BBC188521C}" type="slidenum">
              <a:rPr lang="en-IE" smtClean="0"/>
              <a:pPr/>
              <a:t>38</a:t>
            </a:fld>
            <a:endParaRPr lang="en-IE"/>
          </a:p>
        </p:txBody>
      </p:sp>
      <p:pic>
        <p:nvPicPr>
          <p:cNvPr id="16" name="Picture 15" descr="Fig16-3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660132" y="3525825"/>
            <a:ext cx="5046674" cy="520131"/>
          </a:xfrm>
          <a:prstGeom prst="rect">
            <a:avLst/>
          </a:prstGeom>
        </p:spPr>
      </p:pic>
      <p:pic>
        <p:nvPicPr>
          <p:cNvPr id="17" name="Picture 16" descr="Fig16-4.jp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2660132" y="5603346"/>
            <a:ext cx="6590161" cy="565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743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8066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Third Normal Form (3NF)</a:t>
            </a:r>
          </a:p>
        </p:txBody>
      </p:sp>
      <p:sp>
        <p:nvSpPr>
          <p:cNvPr id="39280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Definition: </a:t>
            </a:r>
            <a:r>
              <a:rPr lang="en-US" dirty="0"/>
              <a:t>A relation is in </a:t>
            </a:r>
            <a:r>
              <a:rPr lang="en-US" b="1" dirty="0">
                <a:solidFill>
                  <a:srgbClr val="0000FF"/>
                </a:solidFill>
              </a:rPr>
              <a:t>3NF</a:t>
            </a:r>
            <a:r>
              <a:rPr lang="en-US" dirty="0"/>
              <a:t> if, and only if, it is in </a:t>
            </a:r>
            <a:r>
              <a:rPr lang="en-US" b="1" dirty="0">
                <a:solidFill>
                  <a:srgbClr val="0000FF"/>
                </a:solidFill>
              </a:rPr>
              <a:t>2NF</a:t>
            </a:r>
            <a:r>
              <a:rPr lang="en-US" dirty="0"/>
              <a:t> and every non-key attribute is </a:t>
            </a:r>
            <a:r>
              <a:rPr lang="en-US" b="1" dirty="0">
                <a:solidFill>
                  <a:srgbClr val="0000FF"/>
                </a:solidFill>
              </a:rPr>
              <a:t>non-transitively dependent</a:t>
            </a:r>
            <a:r>
              <a:rPr lang="en-US" dirty="0"/>
              <a:t> on the primary key.</a:t>
            </a:r>
          </a:p>
          <a:p>
            <a:endParaRPr lang="en-US" sz="1000" dirty="0"/>
          </a:p>
          <a:p>
            <a:pPr algn="ctr">
              <a:buNone/>
            </a:pPr>
            <a:r>
              <a:rPr lang="en-US" sz="3200" b="1" dirty="0"/>
              <a:t>Remove </a:t>
            </a:r>
            <a:r>
              <a:rPr lang="en-US" sz="3200" b="1" dirty="0">
                <a:solidFill>
                  <a:srgbClr val="0000FF"/>
                </a:solidFill>
              </a:rPr>
              <a:t>transitive dependencies</a:t>
            </a:r>
            <a:r>
              <a:rPr lang="en-US" sz="3200" b="1" dirty="0"/>
              <a:t> into a new relation</a:t>
            </a:r>
          </a:p>
          <a:p>
            <a:endParaRPr lang="en-GB" sz="10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83AB8-858C-4B5E-98EE-DB5BF2BCB8EF}" type="slidenum">
              <a:rPr lang="en-IE" smtClean="0"/>
              <a:pPr/>
              <a:t>39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653293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8066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Third Normal Form (3NF)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83AB8-858C-4B5E-98EE-DB5BF2BCB8EF}" type="slidenum">
              <a:rPr lang="en-IE" smtClean="0"/>
              <a:pPr/>
              <a:t>40</a:t>
            </a:fld>
            <a:endParaRPr lang="en-IE"/>
          </a:p>
        </p:txBody>
      </p:sp>
      <p:grpSp>
        <p:nvGrpSpPr>
          <p:cNvPr id="5" name="Group 4"/>
          <p:cNvGrpSpPr/>
          <p:nvPr/>
        </p:nvGrpSpPr>
        <p:grpSpPr>
          <a:xfrm>
            <a:off x="1224249" y="2246938"/>
            <a:ext cx="8757951" cy="2294308"/>
            <a:chOff x="1518038" y="3355891"/>
            <a:chExt cx="8757951" cy="2294308"/>
          </a:xfrm>
        </p:grpSpPr>
        <p:pic>
          <p:nvPicPr>
            <p:cNvPr id="7" name="Picture 6" descr="Fig18-1.jpg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18038" y="4114648"/>
              <a:ext cx="8757951" cy="574084"/>
            </a:xfrm>
            <a:prstGeom prst="rect">
              <a:avLst/>
            </a:prstGeom>
          </p:spPr>
        </p:pic>
        <p:sp>
          <p:nvSpPr>
            <p:cNvPr id="2" name="Curved Down Arrow 1"/>
            <p:cNvSpPr/>
            <p:nvPr/>
          </p:nvSpPr>
          <p:spPr>
            <a:xfrm flipH="1">
              <a:off x="5544766" y="3355891"/>
              <a:ext cx="1575881" cy="758757"/>
            </a:xfrm>
            <a:prstGeom prst="curved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>
                <a:solidFill>
                  <a:schemeClr val="tx1"/>
                </a:solidFill>
              </a:endParaRPr>
            </a:p>
          </p:txBody>
        </p:sp>
        <p:sp>
          <p:nvSpPr>
            <p:cNvPr id="10" name="Curved Down Arrow 9"/>
            <p:cNvSpPr/>
            <p:nvPr/>
          </p:nvSpPr>
          <p:spPr>
            <a:xfrm flipH="1" flipV="1">
              <a:off x="5544766" y="4891442"/>
              <a:ext cx="2723744" cy="758757"/>
            </a:xfrm>
            <a:prstGeom prst="curved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>
                <a:solidFill>
                  <a:schemeClr val="tx1"/>
                </a:solidFill>
              </a:endParaRPr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1245140" y="5530632"/>
            <a:ext cx="6729581" cy="5232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 err="1"/>
              <a:t>Cust_no</a:t>
            </a:r>
            <a:r>
              <a:rPr lang="en-US" sz="2800" dirty="0"/>
              <a:t> is not part of the primary key</a:t>
            </a:r>
            <a:endParaRPr lang="en-IE" sz="2800" dirty="0"/>
          </a:p>
        </p:txBody>
      </p:sp>
    </p:spTree>
    <p:extLst>
      <p:ext uri="{BB962C8B-B14F-4D97-AF65-F5344CB8AC3E}">
        <p14:creationId xmlns:p14="http://schemas.microsoft.com/office/powerpoint/2010/main" val="28706822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682557" y="190122"/>
            <a:ext cx="10515600" cy="554562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Example: </a:t>
            </a:r>
            <a:r>
              <a:rPr lang="en-US" b="0" dirty="0"/>
              <a:t>2NF to 3NF</a:t>
            </a:r>
            <a:endParaRPr lang="en-IE" b="0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838200" y="1457865"/>
            <a:ext cx="10515600" cy="4719098"/>
          </a:xfrm>
        </p:spPr>
        <p:txBody>
          <a:bodyPr>
            <a:normAutofit/>
          </a:bodyPr>
          <a:lstStyle/>
          <a:p>
            <a:endParaRPr lang="en-US" sz="500" dirty="0"/>
          </a:p>
          <a:p>
            <a:pPr marL="0" indent="0">
              <a:buClr>
                <a:srgbClr val="C00000"/>
              </a:buClr>
              <a:buNone/>
            </a:pPr>
            <a:endParaRPr lang="en-US" b="1" dirty="0"/>
          </a:p>
          <a:p>
            <a:pPr>
              <a:buClr>
                <a:srgbClr val="C00000"/>
              </a:buClr>
              <a:buFont typeface="+mj-lt"/>
              <a:buAutoNum type="arabicPeriod"/>
            </a:pPr>
            <a:r>
              <a:rPr lang="en-US" b="1" dirty="0"/>
              <a:t>Remove</a:t>
            </a:r>
            <a:r>
              <a:rPr lang="en-US" dirty="0"/>
              <a:t> the offending attributes that are </a:t>
            </a:r>
            <a:r>
              <a:rPr lang="en-US" dirty="0">
                <a:solidFill>
                  <a:srgbClr val="0000FF"/>
                </a:solidFill>
              </a:rPr>
              <a:t>transitively dependent</a:t>
            </a:r>
            <a:r>
              <a:rPr lang="en-US" dirty="0"/>
              <a:t> on non-key attributes, and place them in a new relation.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D3A4D-B6E1-4BA8-8E72-E8BBC188521C}" type="slidenum">
              <a:rPr lang="en-IE" smtClean="0"/>
              <a:pPr/>
              <a:t>41</a:t>
            </a:fld>
            <a:endParaRPr lang="en-IE"/>
          </a:p>
        </p:txBody>
      </p:sp>
      <p:pic>
        <p:nvPicPr>
          <p:cNvPr id="12" name="Picture 11" descr="Fig18-1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197936" y="1457865"/>
            <a:ext cx="8347272" cy="547164"/>
          </a:xfrm>
          <a:prstGeom prst="rect">
            <a:avLst/>
          </a:prstGeom>
        </p:spPr>
      </p:pic>
      <p:pic>
        <p:nvPicPr>
          <p:cNvPr id="18" name="Picture 17" descr="Fig18-2.jp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2976210" y="4109492"/>
            <a:ext cx="5408290" cy="1179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876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682557" y="190122"/>
            <a:ext cx="10515600" cy="554562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Example: </a:t>
            </a:r>
            <a:r>
              <a:rPr lang="en-US" b="0" dirty="0"/>
              <a:t>2NF to 3NF</a:t>
            </a:r>
            <a:endParaRPr lang="en-IE" b="0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838200" y="1457865"/>
            <a:ext cx="10515600" cy="4719098"/>
          </a:xfrm>
        </p:spPr>
        <p:txBody>
          <a:bodyPr>
            <a:normAutofit/>
          </a:bodyPr>
          <a:lstStyle/>
          <a:p>
            <a:endParaRPr lang="en-US" sz="500" dirty="0"/>
          </a:p>
          <a:p>
            <a:endParaRPr lang="en-US" sz="400" dirty="0"/>
          </a:p>
          <a:p>
            <a:pPr>
              <a:buClr>
                <a:srgbClr val="C00000"/>
              </a:buClr>
              <a:buFont typeface="+mj-lt"/>
              <a:buAutoNum type="arabicPeriod" startAt="2"/>
            </a:pPr>
            <a:r>
              <a:rPr lang="en-US" b="1" dirty="0"/>
              <a:t>Add</a:t>
            </a:r>
            <a:r>
              <a:rPr lang="en-US" dirty="0"/>
              <a:t> to this relation a copy of the attribute(s) which determines these offending attributes. These will automatically become the primary key of this new relation…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D3A4D-B6E1-4BA8-8E72-E8BBC188521C}" type="slidenum">
              <a:rPr lang="en-IE" smtClean="0"/>
              <a:pPr/>
              <a:t>42</a:t>
            </a:fld>
            <a:endParaRPr lang="en-IE"/>
          </a:p>
        </p:txBody>
      </p:sp>
      <p:pic>
        <p:nvPicPr>
          <p:cNvPr id="12" name="Picture 11" descr="Fig18-1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922364" y="1246579"/>
            <a:ext cx="8347272" cy="547164"/>
          </a:xfrm>
          <a:prstGeom prst="rect">
            <a:avLst/>
          </a:prstGeom>
        </p:spPr>
      </p:pic>
      <p:pic>
        <p:nvPicPr>
          <p:cNvPr id="19" name="Picture 18" descr="Fig18-3.jp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922364" y="4418664"/>
            <a:ext cx="6232604" cy="1359566"/>
          </a:xfrm>
          <a:prstGeom prst="rect">
            <a:avLst/>
          </a:prstGeom>
        </p:spPr>
      </p:pic>
      <p:sp>
        <p:nvSpPr>
          <p:cNvPr id="8" name="5-Point Star 7"/>
          <p:cNvSpPr/>
          <p:nvPr/>
        </p:nvSpPr>
        <p:spPr>
          <a:xfrm>
            <a:off x="9584031" y="4963031"/>
            <a:ext cx="2081719" cy="1531431"/>
          </a:xfrm>
          <a:prstGeom prst="star5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ysClr val="windowText" lastClr="000000"/>
                </a:solidFill>
              </a:rPr>
              <a:t>FK?</a:t>
            </a:r>
            <a:endParaRPr lang="en-IE" sz="3200" b="1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4493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b="0" dirty="0"/>
              <a:t>2NF to 3NF</a:t>
            </a:r>
            <a:endParaRPr lang="en-IE" b="0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838199" y="1825625"/>
            <a:ext cx="10796081" cy="4351338"/>
          </a:xfrm>
        </p:spPr>
        <p:txBody>
          <a:bodyPr>
            <a:normAutofit/>
          </a:bodyPr>
          <a:lstStyle/>
          <a:p>
            <a:pPr>
              <a:buClr>
                <a:srgbClr val="C00000"/>
              </a:buClr>
              <a:buFont typeface="+mj-lt"/>
              <a:buAutoNum type="arabicPeriod" startAt="3"/>
            </a:pPr>
            <a:r>
              <a:rPr lang="en-US" b="1" dirty="0"/>
              <a:t>Name</a:t>
            </a:r>
            <a:r>
              <a:rPr lang="en-US" dirty="0"/>
              <a:t> the new entity (appending the number </a:t>
            </a:r>
            <a:r>
              <a:rPr lang="en-US" dirty="0">
                <a:solidFill>
                  <a:srgbClr val="0000FF"/>
                </a:solidFill>
              </a:rPr>
              <a:t>3</a:t>
            </a:r>
            <a:r>
              <a:rPr lang="en-US" dirty="0"/>
              <a:t> to indicate </a:t>
            </a:r>
            <a:r>
              <a:rPr lang="en-US" dirty="0">
                <a:solidFill>
                  <a:srgbClr val="0000FF"/>
                </a:solidFill>
              </a:rPr>
              <a:t>3NF</a:t>
            </a:r>
            <a:r>
              <a:rPr lang="en-US" dirty="0"/>
              <a:t>).</a:t>
            </a:r>
          </a:p>
          <a:p>
            <a:endParaRPr lang="en-IE" dirty="0"/>
          </a:p>
          <a:p>
            <a:endParaRPr lang="en-US" sz="600" dirty="0"/>
          </a:p>
          <a:p>
            <a:endParaRPr lang="en-IE" sz="600" dirty="0"/>
          </a:p>
          <a:p>
            <a:pPr>
              <a:buClr>
                <a:srgbClr val="C00000"/>
              </a:buClr>
              <a:buFont typeface="+mj-lt"/>
              <a:buAutoNum type="arabicPeriod" startAt="4"/>
            </a:pPr>
            <a:r>
              <a:rPr lang="en-US" b="1" dirty="0"/>
              <a:t>Rename</a:t>
            </a:r>
            <a:r>
              <a:rPr lang="en-US" dirty="0"/>
              <a:t> the original entity (ending with a </a:t>
            </a:r>
            <a:r>
              <a:rPr lang="en-US" dirty="0">
                <a:solidFill>
                  <a:srgbClr val="0000FF"/>
                </a:solidFill>
              </a:rPr>
              <a:t>3</a:t>
            </a:r>
            <a:r>
              <a:rPr lang="en-US" dirty="0"/>
              <a:t> to indicate </a:t>
            </a:r>
            <a:r>
              <a:rPr lang="en-US" dirty="0">
                <a:solidFill>
                  <a:srgbClr val="0000FF"/>
                </a:solidFill>
              </a:rPr>
              <a:t>3NF</a:t>
            </a:r>
            <a:r>
              <a:rPr lang="en-US" dirty="0"/>
              <a:t>).</a:t>
            </a:r>
            <a:endParaRPr lang="en-I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D3A4D-B6E1-4BA8-8E72-E8BBC188521C}" type="slidenum">
              <a:rPr lang="en-IE" smtClean="0"/>
              <a:pPr/>
              <a:t>43</a:t>
            </a:fld>
            <a:endParaRPr lang="en-IE"/>
          </a:p>
        </p:txBody>
      </p:sp>
      <p:pic>
        <p:nvPicPr>
          <p:cNvPr id="20" name="Picture 19" descr="Fig18-4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718426" y="3180913"/>
            <a:ext cx="5049873" cy="508360"/>
          </a:xfrm>
          <a:prstGeom prst="rect">
            <a:avLst/>
          </a:prstGeom>
        </p:spPr>
      </p:pic>
      <p:pic>
        <p:nvPicPr>
          <p:cNvPr id="21" name="Picture 20" descr="Fig18-5.jp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2718426" y="5197696"/>
            <a:ext cx="6480011" cy="58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721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0114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b="0" dirty="0"/>
              <a:t>Relations in Highest Normal Form</a:t>
            </a:r>
          </a:p>
        </p:txBody>
      </p:sp>
      <p:sp>
        <p:nvSpPr>
          <p:cNvPr id="39301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Logical Schema:</a:t>
            </a:r>
          </a:p>
          <a:p>
            <a:pPr>
              <a:buNone/>
            </a:pPr>
            <a:r>
              <a:rPr lang="en-GB" b="1" dirty="0">
                <a:solidFill>
                  <a:srgbClr val="0000FF"/>
                </a:solidFill>
              </a:rPr>
              <a:t>	ORDERS-3</a:t>
            </a:r>
            <a:r>
              <a:rPr lang="en-GB" dirty="0"/>
              <a:t> (</a:t>
            </a:r>
            <a:r>
              <a:rPr lang="en-GB" b="1" u="sng" dirty="0"/>
              <a:t>order_no</a:t>
            </a:r>
            <a:r>
              <a:rPr lang="en-GB" dirty="0"/>
              <a:t>, order_date, cust_no)</a:t>
            </a:r>
          </a:p>
          <a:p>
            <a:pPr>
              <a:buNone/>
            </a:pPr>
            <a:r>
              <a:rPr lang="en-GB" b="1" dirty="0">
                <a:solidFill>
                  <a:srgbClr val="0000FF"/>
                </a:solidFill>
              </a:rPr>
              <a:t>	CUSTOMERS-3</a:t>
            </a:r>
            <a:r>
              <a:rPr lang="en-GB" dirty="0"/>
              <a:t> (</a:t>
            </a:r>
            <a:r>
              <a:rPr lang="en-GB" b="1" u="sng" dirty="0"/>
              <a:t>cust_no</a:t>
            </a:r>
            <a:r>
              <a:rPr lang="en-GB" dirty="0"/>
              <a:t>, cust_name, cust_add)</a:t>
            </a:r>
          </a:p>
          <a:p>
            <a:pPr>
              <a:buNone/>
            </a:pPr>
            <a:r>
              <a:rPr lang="en-GB" b="1" dirty="0">
                <a:solidFill>
                  <a:srgbClr val="0000FF"/>
                </a:solidFill>
              </a:rPr>
              <a:t>	PRODUCTS-3</a:t>
            </a:r>
            <a:r>
              <a:rPr lang="en-GB" dirty="0"/>
              <a:t> (</a:t>
            </a:r>
            <a:r>
              <a:rPr lang="en-GB" b="1" u="sng" dirty="0"/>
              <a:t>prod_no</a:t>
            </a:r>
            <a:r>
              <a:rPr lang="en-GB" dirty="0"/>
              <a:t>, prod_desc, unit_price)</a:t>
            </a:r>
          </a:p>
          <a:p>
            <a:pPr>
              <a:buNone/>
            </a:pPr>
            <a:r>
              <a:rPr lang="en-GB" b="1" dirty="0">
                <a:solidFill>
                  <a:srgbClr val="0000FF"/>
                </a:solidFill>
              </a:rPr>
              <a:t>	ORDER-LINES-3</a:t>
            </a:r>
            <a:r>
              <a:rPr lang="en-GB" dirty="0"/>
              <a:t> (</a:t>
            </a:r>
            <a:r>
              <a:rPr lang="en-GB" b="1" u="sng" dirty="0"/>
              <a:t>order_no</a:t>
            </a:r>
            <a:r>
              <a:rPr lang="en-GB" u="sng" dirty="0"/>
              <a:t>, </a:t>
            </a:r>
            <a:r>
              <a:rPr lang="en-GB" b="1" u="sng" dirty="0"/>
              <a:t>prod_no</a:t>
            </a:r>
            <a:r>
              <a:rPr lang="en-GB" dirty="0"/>
              <a:t>, ord_qty)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0B307-7470-4568-A539-273463708D32}" type="slidenum">
              <a:rPr lang="en-IE" smtClean="0"/>
              <a:pPr/>
              <a:t>44</a:t>
            </a:fld>
            <a:endParaRPr lang="en-IE"/>
          </a:p>
        </p:txBody>
      </p:sp>
      <p:sp>
        <p:nvSpPr>
          <p:cNvPr id="2" name="TextBox 1"/>
          <p:cNvSpPr txBox="1"/>
          <p:nvPr/>
        </p:nvSpPr>
        <p:spPr>
          <a:xfrm>
            <a:off x="1150066" y="5653743"/>
            <a:ext cx="8046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Note! Calculated fields are removed</a:t>
            </a:r>
            <a:endParaRPr lang="en-IE" sz="2800" dirty="0"/>
          </a:p>
        </p:txBody>
      </p:sp>
    </p:spTree>
    <p:extLst>
      <p:ext uri="{BB962C8B-B14F-4D97-AF65-F5344CB8AC3E}">
        <p14:creationId xmlns:p14="http://schemas.microsoft.com/office/powerpoint/2010/main" val="31590783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</a:t>
            </a:r>
            <a:r>
              <a:rPr lang="en-US" b="0" dirty="0"/>
              <a:t> E-R Diagrams</a:t>
            </a:r>
            <a:endParaRPr lang="en-I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0F726-502A-4A13-B38C-4A07697E010C}" type="slidenum">
              <a:rPr lang="en-IE" smtClean="0"/>
              <a:pPr/>
              <a:t>45</a:t>
            </a:fld>
            <a:endParaRPr lang="en-IE"/>
          </a:p>
        </p:txBody>
      </p:sp>
      <p:pic>
        <p:nvPicPr>
          <p:cNvPr id="8" name="Picture 7" descr="Fig13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49553" y="1868624"/>
            <a:ext cx="6067978" cy="359082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33171" y="6154814"/>
            <a:ext cx="2919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b="1" dirty="0"/>
              <a:t>Basic E-R Diagram</a:t>
            </a:r>
          </a:p>
        </p:txBody>
      </p:sp>
      <p:sp>
        <p:nvSpPr>
          <p:cNvPr id="14" name="Rectangle 3"/>
          <p:cNvSpPr txBox="1">
            <a:spLocks noChangeArrowheads="1"/>
          </p:cNvSpPr>
          <p:nvPr/>
        </p:nvSpPr>
        <p:spPr>
          <a:xfrm>
            <a:off x="6517531" y="2798340"/>
            <a:ext cx="6301362" cy="1381750"/>
          </a:xfrm>
          <a:prstGeom prst="rect">
            <a:avLst/>
          </a:prstGeom>
        </p:spPr>
        <p:txBody>
          <a:bodyPr/>
          <a:lstStyle/>
          <a:p>
            <a:pPr marL="342900" indent="-34290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85000"/>
              <a:defRPr/>
            </a:pPr>
            <a:r>
              <a:rPr lang="en-GB" b="1" kern="0" dirty="0">
                <a:solidFill>
                  <a:srgbClr val="0000FF"/>
                </a:solidFill>
              </a:rPr>
              <a:t>ORDERS-3</a:t>
            </a:r>
            <a:r>
              <a:rPr lang="en-GB" kern="0" dirty="0"/>
              <a:t> (</a:t>
            </a:r>
            <a:r>
              <a:rPr lang="en-GB" b="1" u="sng" kern="0" dirty="0"/>
              <a:t>order_no</a:t>
            </a:r>
            <a:r>
              <a:rPr lang="en-GB" kern="0" dirty="0"/>
              <a:t>, order_date, cust_no)</a:t>
            </a:r>
          </a:p>
          <a:p>
            <a:pPr marL="342900" indent="-34290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85000"/>
              <a:defRPr/>
            </a:pPr>
            <a:r>
              <a:rPr lang="en-GB" b="1" kern="0" dirty="0">
                <a:solidFill>
                  <a:srgbClr val="0000FF"/>
                </a:solidFill>
              </a:rPr>
              <a:t>CUSTOMERS-3</a:t>
            </a:r>
            <a:r>
              <a:rPr lang="en-GB" kern="0" dirty="0"/>
              <a:t> (</a:t>
            </a:r>
            <a:r>
              <a:rPr lang="en-GB" b="1" u="sng" kern="0" dirty="0"/>
              <a:t>cust_no</a:t>
            </a:r>
            <a:r>
              <a:rPr lang="en-GB" kern="0" dirty="0"/>
              <a:t>, cust_name, cust_add)</a:t>
            </a:r>
          </a:p>
          <a:p>
            <a:pPr marL="342900" indent="-34290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85000"/>
              <a:defRPr/>
            </a:pPr>
            <a:r>
              <a:rPr lang="en-GB" b="1" kern="0" dirty="0">
                <a:solidFill>
                  <a:srgbClr val="0000FF"/>
                </a:solidFill>
              </a:rPr>
              <a:t>PRODUCTS-3</a:t>
            </a:r>
            <a:r>
              <a:rPr lang="en-GB" kern="0" dirty="0"/>
              <a:t> (</a:t>
            </a:r>
            <a:r>
              <a:rPr lang="en-GB" b="1" u="sng" kern="0" dirty="0"/>
              <a:t>prod_no</a:t>
            </a:r>
            <a:r>
              <a:rPr lang="en-GB" kern="0" dirty="0"/>
              <a:t>, prod_desc, unit_price)</a:t>
            </a:r>
          </a:p>
          <a:p>
            <a:pPr marL="342900" indent="-34290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85000"/>
              <a:defRPr/>
            </a:pPr>
            <a:r>
              <a:rPr lang="en-GB" b="1" kern="0" dirty="0">
                <a:solidFill>
                  <a:srgbClr val="0000FF"/>
                </a:solidFill>
              </a:rPr>
              <a:t>ORDER-LINES-3</a:t>
            </a:r>
            <a:r>
              <a:rPr lang="en-GB" kern="0" dirty="0"/>
              <a:t> (</a:t>
            </a:r>
            <a:r>
              <a:rPr lang="en-GB" b="1" u="sng" kern="0" dirty="0"/>
              <a:t>order_no</a:t>
            </a:r>
            <a:r>
              <a:rPr lang="en-GB" u="sng" kern="0" dirty="0"/>
              <a:t>, </a:t>
            </a:r>
            <a:r>
              <a:rPr lang="en-GB" b="1" u="sng" kern="0" dirty="0"/>
              <a:t>prod_no</a:t>
            </a:r>
            <a:r>
              <a:rPr lang="en-GB" kern="0" dirty="0"/>
              <a:t>, ord_qty)</a:t>
            </a:r>
            <a:endParaRPr lang="en-US" kern="0" dirty="0"/>
          </a:p>
        </p:txBody>
      </p:sp>
      <p:sp>
        <p:nvSpPr>
          <p:cNvPr id="2" name="TextBox 1"/>
          <p:cNvSpPr txBox="1"/>
          <p:nvPr/>
        </p:nvSpPr>
        <p:spPr>
          <a:xfrm>
            <a:off x="7274257" y="4599296"/>
            <a:ext cx="24293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Also in 3-NF</a:t>
            </a:r>
            <a:endParaRPr lang="en-IE" dirty="0"/>
          </a:p>
        </p:txBody>
      </p:sp>
      <p:cxnSp>
        <p:nvCxnSpPr>
          <p:cNvPr id="4" name="Straight Arrow Connector 3"/>
          <p:cNvCxnSpPr/>
          <p:nvPr/>
        </p:nvCxnSpPr>
        <p:spPr>
          <a:xfrm flipH="1">
            <a:off x="6305266" y="4831307"/>
            <a:ext cx="791570" cy="2729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H="1">
            <a:off x="2322395" y="4599296"/>
            <a:ext cx="4951862" cy="4439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0010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</a:t>
            </a:r>
            <a:r>
              <a:rPr lang="en-US" b="0" dirty="0"/>
              <a:t> E-R Diagrams</a:t>
            </a:r>
            <a:endParaRPr lang="en-I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0F726-502A-4A13-B38C-4A07697E010C}" type="slidenum">
              <a:rPr lang="en-IE" smtClean="0"/>
              <a:pPr/>
              <a:t>46</a:t>
            </a:fld>
            <a:endParaRPr lang="en-IE"/>
          </a:p>
        </p:txBody>
      </p:sp>
      <p:sp>
        <p:nvSpPr>
          <p:cNvPr id="12" name="TextBox 11"/>
          <p:cNvSpPr txBox="1"/>
          <p:nvPr/>
        </p:nvSpPr>
        <p:spPr>
          <a:xfrm>
            <a:off x="6731642" y="5643408"/>
            <a:ext cx="36345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b="1" dirty="0"/>
              <a:t>Fully-Attributed Key-Based E-R Diagram</a:t>
            </a:r>
          </a:p>
        </p:txBody>
      </p:sp>
      <p:sp>
        <p:nvSpPr>
          <p:cNvPr id="14" name="Rectangle 3"/>
          <p:cNvSpPr txBox="1">
            <a:spLocks noChangeArrowheads="1"/>
          </p:cNvSpPr>
          <p:nvPr/>
        </p:nvSpPr>
        <p:spPr>
          <a:xfrm>
            <a:off x="6600230" y="2698806"/>
            <a:ext cx="6301362" cy="1381750"/>
          </a:xfrm>
          <a:prstGeom prst="rect">
            <a:avLst/>
          </a:prstGeom>
        </p:spPr>
        <p:txBody>
          <a:bodyPr/>
          <a:lstStyle/>
          <a:p>
            <a:pPr marL="342900" indent="-34290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85000"/>
              <a:defRPr/>
            </a:pPr>
            <a:r>
              <a:rPr lang="en-GB" b="1" kern="0" dirty="0">
                <a:solidFill>
                  <a:srgbClr val="0000FF"/>
                </a:solidFill>
              </a:rPr>
              <a:t>ORDERS-3</a:t>
            </a:r>
            <a:r>
              <a:rPr lang="en-GB" kern="0" dirty="0"/>
              <a:t> (</a:t>
            </a:r>
            <a:r>
              <a:rPr lang="en-GB" b="1" u="sng" kern="0" dirty="0"/>
              <a:t>order_no</a:t>
            </a:r>
            <a:r>
              <a:rPr lang="en-GB" kern="0" dirty="0"/>
              <a:t>, order_date, cust_no)</a:t>
            </a:r>
          </a:p>
          <a:p>
            <a:pPr marL="342900" indent="-34290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85000"/>
              <a:defRPr/>
            </a:pPr>
            <a:r>
              <a:rPr lang="en-GB" b="1" kern="0" dirty="0">
                <a:solidFill>
                  <a:srgbClr val="0000FF"/>
                </a:solidFill>
              </a:rPr>
              <a:t>CUSTOMERS-3</a:t>
            </a:r>
            <a:r>
              <a:rPr lang="en-GB" kern="0" dirty="0"/>
              <a:t> (</a:t>
            </a:r>
            <a:r>
              <a:rPr lang="en-GB" b="1" u="sng" kern="0" dirty="0"/>
              <a:t>cust_no</a:t>
            </a:r>
            <a:r>
              <a:rPr lang="en-GB" kern="0" dirty="0"/>
              <a:t>, cust_name, cust_add)</a:t>
            </a:r>
          </a:p>
          <a:p>
            <a:pPr marL="342900" indent="-34290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85000"/>
              <a:defRPr/>
            </a:pPr>
            <a:r>
              <a:rPr lang="en-GB" b="1" kern="0" dirty="0">
                <a:solidFill>
                  <a:srgbClr val="0000FF"/>
                </a:solidFill>
              </a:rPr>
              <a:t>PRODUCTS-3</a:t>
            </a:r>
            <a:r>
              <a:rPr lang="en-GB" kern="0" dirty="0"/>
              <a:t> (</a:t>
            </a:r>
            <a:r>
              <a:rPr lang="en-GB" b="1" u="sng" kern="0" dirty="0"/>
              <a:t>prod_no</a:t>
            </a:r>
            <a:r>
              <a:rPr lang="en-GB" kern="0" dirty="0"/>
              <a:t>, prod_desc, unit_price)</a:t>
            </a:r>
          </a:p>
          <a:p>
            <a:pPr marL="342900" indent="-34290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85000"/>
              <a:defRPr/>
            </a:pPr>
            <a:r>
              <a:rPr lang="en-GB" b="1" kern="0" dirty="0">
                <a:solidFill>
                  <a:srgbClr val="0000FF"/>
                </a:solidFill>
              </a:rPr>
              <a:t>ORDER-LINES-3</a:t>
            </a:r>
            <a:r>
              <a:rPr lang="en-GB" kern="0" dirty="0"/>
              <a:t> (</a:t>
            </a:r>
            <a:r>
              <a:rPr lang="en-GB" b="1" u="sng" kern="0" dirty="0"/>
              <a:t>order_no</a:t>
            </a:r>
            <a:r>
              <a:rPr lang="en-GB" u="sng" kern="0" dirty="0"/>
              <a:t>, </a:t>
            </a:r>
            <a:r>
              <a:rPr lang="en-GB" b="1" u="sng" kern="0" dirty="0"/>
              <a:t>prod_no</a:t>
            </a:r>
            <a:r>
              <a:rPr lang="en-GB" kern="0" dirty="0"/>
              <a:t>, ord_qty)</a:t>
            </a:r>
            <a:endParaRPr lang="en-US" kern="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572" y="1690688"/>
            <a:ext cx="6111981" cy="484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587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Normalisation</a:t>
            </a:r>
            <a:r>
              <a:rPr lang="en-US" dirty="0"/>
              <a:t> Example</a:t>
            </a:r>
            <a:endParaRPr lang="en-IE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360462728"/>
              </p:ext>
            </p:extLst>
          </p:nvPr>
        </p:nvGraphicFramePr>
        <p:xfrm>
          <a:off x="838199" y="1825625"/>
          <a:ext cx="104075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1511">
                  <a:extLst>
                    <a:ext uri="{9D8B030D-6E8A-4147-A177-3AD203B41FA5}">
                      <a16:colId xmlns:a16="http://schemas.microsoft.com/office/drawing/2014/main" val="1889476088"/>
                    </a:ext>
                  </a:extLst>
                </a:gridCol>
                <a:gridCol w="2081511">
                  <a:extLst>
                    <a:ext uri="{9D8B030D-6E8A-4147-A177-3AD203B41FA5}">
                      <a16:colId xmlns:a16="http://schemas.microsoft.com/office/drawing/2014/main" val="1094176239"/>
                    </a:ext>
                  </a:extLst>
                </a:gridCol>
                <a:gridCol w="2081511">
                  <a:extLst>
                    <a:ext uri="{9D8B030D-6E8A-4147-A177-3AD203B41FA5}">
                      <a16:colId xmlns:a16="http://schemas.microsoft.com/office/drawing/2014/main" val="1142982404"/>
                    </a:ext>
                  </a:extLst>
                </a:gridCol>
                <a:gridCol w="2081511">
                  <a:extLst>
                    <a:ext uri="{9D8B030D-6E8A-4147-A177-3AD203B41FA5}">
                      <a16:colId xmlns:a16="http://schemas.microsoft.com/office/drawing/2014/main" val="3550636667"/>
                    </a:ext>
                  </a:extLst>
                </a:gridCol>
                <a:gridCol w="2081511">
                  <a:extLst>
                    <a:ext uri="{9D8B030D-6E8A-4147-A177-3AD203B41FA5}">
                      <a16:colId xmlns:a16="http://schemas.microsoft.com/office/drawing/2014/main" val="1005748214"/>
                    </a:ext>
                  </a:extLst>
                </a:gridCol>
              </a:tblGrid>
              <a:tr h="327943">
                <a:tc>
                  <a:txBody>
                    <a:bodyPr/>
                    <a:lstStyle/>
                    <a:p>
                      <a:r>
                        <a:rPr lang="en-US" dirty="0"/>
                        <a:t>PPS</a:t>
                      </a:r>
                      <a:r>
                        <a:rPr lang="en-US" baseline="0" dirty="0"/>
                        <a:t> number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Empl_Name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Empl_Role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Empl_salary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Empl_email</a:t>
                      </a:r>
                      <a:endParaRPr lang="en-IE" dirty="0"/>
                    </a:p>
                  </a:txBody>
                  <a:tcPr marL="45057" marR="45057"/>
                </a:tc>
                <a:extLst>
                  <a:ext uri="{0D108BD9-81ED-4DB2-BD59-A6C34878D82A}">
                    <a16:rowId xmlns:a16="http://schemas.microsoft.com/office/drawing/2014/main" val="2550079045"/>
                  </a:ext>
                </a:extLst>
              </a:tr>
              <a:tr h="890131">
                <a:tc>
                  <a:txBody>
                    <a:bodyPr/>
                    <a:lstStyle/>
                    <a:p>
                      <a:r>
                        <a:rPr lang="en-US" dirty="0"/>
                        <a:t>123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Mary Smith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Manager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4000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3"/>
                        </a:rPr>
                        <a:t>mary@tup.ie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>
                          <a:hlinkClick r:id="rId4"/>
                        </a:rPr>
                        <a:t>m.white@tup.ie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>
                          <a:hlinkClick r:id="rId5"/>
                        </a:rPr>
                        <a:t>whitem@tup.ie</a:t>
                      </a:r>
                      <a:endParaRPr lang="en-IE" dirty="0"/>
                    </a:p>
                  </a:txBody>
                  <a:tcPr marL="45057" marR="45057"/>
                </a:tc>
                <a:extLst>
                  <a:ext uri="{0D108BD9-81ED-4DB2-BD59-A6C34878D82A}">
                    <a16:rowId xmlns:a16="http://schemas.microsoft.com/office/drawing/2014/main" val="1265440727"/>
                  </a:ext>
                </a:extLst>
              </a:tr>
              <a:tr h="468490">
                <a:tc>
                  <a:txBody>
                    <a:bodyPr/>
                    <a:lstStyle/>
                    <a:p>
                      <a:r>
                        <a:rPr lang="en-US" dirty="0"/>
                        <a:t>432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John Murphy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Admin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2000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6"/>
                        </a:rPr>
                        <a:t>John.murphy@tup.ie</a:t>
                      </a:r>
                      <a:endParaRPr lang="en-IE" dirty="0"/>
                    </a:p>
                  </a:txBody>
                  <a:tcPr marL="45057" marR="45057"/>
                </a:tc>
                <a:extLst>
                  <a:ext uri="{0D108BD9-81ED-4DB2-BD59-A6C34878D82A}">
                    <a16:rowId xmlns:a16="http://schemas.microsoft.com/office/drawing/2014/main" val="999558021"/>
                  </a:ext>
                </a:extLst>
              </a:tr>
              <a:tr h="609037">
                <a:tc>
                  <a:txBody>
                    <a:bodyPr/>
                    <a:lstStyle/>
                    <a:p>
                      <a:r>
                        <a:rPr lang="en-US" dirty="0"/>
                        <a:t>524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Adele Ryan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Team leader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2500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7"/>
                        </a:rPr>
                        <a:t>a.ryan@tup.ie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>
                          <a:hlinkClick r:id="rId8"/>
                        </a:rPr>
                        <a:t>ryana@tup.ie</a:t>
                      </a:r>
                      <a:endParaRPr lang="en-IE" dirty="0"/>
                    </a:p>
                  </a:txBody>
                  <a:tcPr marL="45057" marR="45057"/>
                </a:tc>
                <a:extLst>
                  <a:ext uri="{0D108BD9-81ED-4DB2-BD59-A6C34878D82A}">
                    <a16:rowId xmlns:a16="http://schemas.microsoft.com/office/drawing/2014/main" val="3452334117"/>
                  </a:ext>
                </a:extLst>
              </a:tr>
              <a:tr h="327943">
                <a:tc>
                  <a:txBody>
                    <a:bodyPr/>
                    <a:lstStyle/>
                    <a:p>
                      <a:r>
                        <a:rPr lang="en-US" dirty="0"/>
                        <a:t>8828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Sonya Kennedy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Admin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2000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9"/>
                        </a:rPr>
                        <a:t>s.kennedy@tup.ie</a:t>
                      </a:r>
                      <a:r>
                        <a:rPr lang="en-US" dirty="0"/>
                        <a:t> </a:t>
                      </a:r>
                      <a:endParaRPr lang="en-IE" dirty="0"/>
                    </a:p>
                  </a:txBody>
                  <a:tcPr marL="45057" marR="45057"/>
                </a:tc>
                <a:extLst>
                  <a:ext uri="{0D108BD9-81ED-4DB2-BD59-A6C34878D82A}">
                    <a16:rowId xmlns:a16="http://schemas.microsoft.com/office/drawing/2014/main" val="3830815662"/>
                  </a:ext>
                </a:extLst>
              </a:tr>
            </a:tbl>
          </a:graphicData>
        </a:graphic>
      </p:graphicFrame>
      <p:sp>
        <p:nvSpPr>
          <p:cNvPr id="6" name="Lightning Bolt 5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Lightning Bolt 6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657289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Normalisation</a:t>
            </a:r>
            <a:r>
              <a:rPr lang="en-US" dirty="0"/>
              <a:t> Example</a:t>
            </a:r>
            <a:endParaRPr lang="en-IE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360462728"/>
              </p:ext>
            </p:extLst>
          </p:nvPr>
        </p:nvGraphicFramePr>
        <p:xfrm>
          <a:off x="838199" y="1825625"/>
          <a:ext cx="104075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1511">
                  <a:extLst>
                    <a:ext uri="{9D8B030D-6E8A-4147-A177-3AD203B41FA5}">
                      <a16:colId xmlns:a16="http://schemas.microsoft.com/office/drawing/2014/main" val="1889476088"/>
                    </a:ext>
                  </a:extLst>
                </a:gridCol>
                <a:gridCol w="2081511">
                  <a:extLst>
                    <a:ext uri="{9D8B030D-6E8A-4147-A177-3AD203B41FA5}">
                      <a16:colId xmlns:a16="http://schemas.microsoft.com/office/drawing/2014/main" val="1094176239"/>
                    </a:ext>
                  </a:extLst>
                </a:gridCol>
                <a:gridCol w="2081511">
                  <a:extLst>
                    <a:ext uri="{9D8B030D-6E8A-4147-A177-3AD203B41FA5}">
                      <a16:colId xmlns:a16="http://schemas.microsoft.com/office/drawing/2014/main" val="1142982404"/>
                    </a:ext>
                  </a:extLst>
                </a:gridCol>
                <a:gridCol w="2081511">
                  <a:extLst>
                    <a:ext uri="{9D8B030D-6E8A-4147-A177-3AD203B41FA5}">
                      <a16:colId xmlns:a16="http://schemas.microsoft.com/office/drawing/2014/main" val="3550636667"/>
                    </a:ext>
                  </a:extLst>
                </a:gridCol>
                <a:gridCol w="2081511">
                  <a:extLst>
                    <a:ext uri="{9D8B030D-6E8A-4147-A177-3AD203B41FA5}">
                      <a16:colId xmlns:a16="http://schemas.microsoft.com/office/drawing/2014/main" val="1005748214"/>
                    </a:ext>
                  </a:extLst>
                </a:gridCol>
              </a:tblGrid>
              <a:tr h="327943">
                <a:tc>
                  <a:txBody>
                    <a:bodyPr/>
                    <a:lstStyle/>
                    <a:p>
                      <a:r>
                        <a:rPr lang="en-US" dirty="0"/>
                        <a:t>PPS</a:t>
                      </a:r>
                      <a:r>
                        <a:rPr lang="en-US" baseline="0" dirty="0"/>
                        <a:t> number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Empl_Name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Empl_Role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Empl_salary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Empl_email</a:t>
                      </a:r>
                      <a:endParaRPr lang="en-IE" dirty="0"/>
                    </a:p>
                  </a:txBody>
                  <a:tcPr marL="45057" marR="45057"/>
                </a:tc>
                <a:extLst>
                  <a:ext uri="{0D108BD9-81ED-4DB2-BD59-A6C34878D82A}">
                    <a16:rowId xmlns:a16="http://schemas.microsoft.com/office/drawing/2014/main" val="2550079045"/>
                  </a:ext>
                </a:extLst>
              </a:tr>
              <a:tr h="890131">
                <a:tc>
                  <a:txBody>
                    <a:bodyPr/>
                    <a:lstStyle/>
                    <a:p>
                      <a:r>
                        <a:rPr lang="en-US" dirty="0"/>
                        <a:t>123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Mary Smith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Manager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4000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3"/>
                        </a:rPr>
                        <a:t>mary@tup.ie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>
                          <a:hlinkClick r:id="rId4"/>
                        </a:rPr>
                        <a:t>m.white@tup.ie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>
                          <a:hlinkClick r:id="rId5"/>
                        </a:rPr>
                        <a:t>whitem@tup.ie</a:t>
                      </a:r>
                      <a:endParaRPr lang="en-IE" dirty="0"/>
                    </a:p>
                  </a:txBody>
                  <a:tcPr marL="45057" marR="45057"/>
                </a:tc>
                <a:extLst>
                  <a:ext uri="{0D108BD9-81ED-4DB2-BD59-A6C34878D82A}">
                    <a16:rowId xmlns:a16="http://schemas.microsoft.com/office/drawing/2014/main" val="1265440727"/>
                  </a:ext>
                </a:extLst>
              </a:tr>
              <a:tr h="468490">
                <a:tc>
                  <a:txBody>
                    <a:bodyPr/>
                    <a:lstStyle/>
                    <a:p>
                      <a:r>
                        <a:rPr lang="en-US" dirty="0"/>
                        <a:t>432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John Murphy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Admin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2000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6"/>
                        </a:rPr>
                        <a:t>John.murphy@tup.ie</a:t>
                      </a:r>
                      <a:endParaRPr lang="en-IE" dirty="0"/>
                    </a:p>
                  </a:txBody>
                  <a:tcPr marL="45057" marR="45057"/>
                </a:tc>
                <a:extLst>
                  <a:ext uri="{0D108BD9-81ED-4DB2-BD59-A6C34878D82A}">
                    <a16:rowId xmlns:a16="http://schemas.microsoft.com/office/drawing/2014/main" val="999558021"/>
                  </a:ext>
                </a:extLst>
              </a:tr>
              <a:tr h="609037">
                <a:tc>
                  <a:txBody>
                    <a:bodyPr/>
                    <a:lstStyle/>
                    <a:p>
                      <a:r>
                        <a:rPr lang="en-US" dirty="0"/>
                        <a:t>524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Adele Ryan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Team leader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2500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7"/>
                        </a:rPr>
                        <a:t>a.ryan@tup.ie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>
                          <a:hlinkClick r:id="rId8"/>
                        </a:rPr>
                        <a:t>ryana@tup.ie</a:t>
                      </a:r>
                      <a:endParaRPr lang="en-IE" dirty="0"/>
                    </a:p>
                  </a:txBody>
                  <a:tcPr marL="45057" marR="45057"/>
                </a:tc>
                <a:extLst>
                  <a:ext uri="{0D108BD9-81ED-4DB2-BD59-A6C34878D82A}">
                    <a16:rowId xmlns:a16="http://schemas.microsoft.com/office/drawing/2014/main" val="3452334117"/>
                  </a:ext>
                </a:extLst>
              </a:tr>
              <a:tr h="327943">
                <a:tc>
                  <a:txBody>
                    <a:bodyPr/>
                    <a:lstStyle/>
                    <a:p>
                      <a:r>
                        <a:rPr lang="en-US" dirty="0"/>
                        <a:t>8828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Sonya Kennedy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Admin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2000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9"/>
                        </a:rPr>
                        <a:t>s.kennedy@tup.ie</a:t>
                      </a:r>
                      <a:r>
                        <a:rPr lang="en-US" dirty="0"/>
                        <a:t> </a:t>
                      </a:r>
                      <a:endParaRPr lang="en-IE" dirty="0"/>
                    </a:p>
                  </a:txBody>
                  <a:tcPr marL="45057" marR="45057"/>
                </a:tc>
                <a:extLst>
                  <a:ext uri="{0D108BD9-81ED-4DB2-BD59-A6C34878D82A}">
                    <a16:rowId xmlns:a16="http://schemas.microsoft.com/office/drawing/2014/main" val="3830815662"/>
                  </a:ext>
                </a:extLst>
              </a:tr>
            </a:tbl>
          </a:graphicData>
        </a:graphic>
      </p:graphicFrame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1173707" y="5130105"/>
            <a:ext cx="10180093" cy="813393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Salary depends on role</a:t>
            </a:r>
          </a:p>
          <a:p>
            <a:r>
              <a:rPr lang="en-US" dirty="0"/>
              <a:t>PK PPS number</a:t>
            </a:r>
            <a:endParaRPr lang="en-IE" dirty="0"/>
          </a:p>
        </p:txBody>
      </p:sp>
      <p:sp>
        <p:nvSpPr>
          <p:cNvPr id="6" name="Lightning Bolt 5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Lightning Bolt 6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028380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Company</a:t>
            </a:r>
            <a:endParaRPr lang="en-IE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360462728"/>
              </p:ext>
            </p:extLst>
          </p:nvPr>
        </p:nvGraphicFramePr>
        <p:xfrm>
          <a:off x="838199" y="1825625"/>
          <a:ext cx="104075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1511">
                  <a:extLst>
                    <a:ext uri="{9D8B030D-6E8A-4147-A177-3AD203B41FA5}">
                      <a16:colId xmlns:a16="http://schemas.microsoft.com/office/drawing/2014/main" val="1889476088"/>
                    </a:ext>
                  </a:extLst>
                </a:gridCol>
                <a:gridCol w="2081511">
                  <a:extLst>
                    <a:ext uri="{9D8B030D-6E8A-4147-A177-3AD203B41FA5}">
                      <a16:colId xmlns:a16="http://schemas.microsoft.com/office/drawing/2014/main" val="1094176239"/>
                    </a:ext>
                  </a:extLst>
                </a:gridCol>
                <a:gridCol w="2081511">
                  <a:extLst>
                    <a:ext uri="{9D8B030D-6E8A-4147-A177-3AD203B41FA5}">
                      <a16:colId xmlns:a16="http://schemas.microsoft.com/office/drawing/2014/main" val="1142982404"/>
                    </a:ext>
                  </a:extLst>
                </a:gridCol>
                <a:gridCol w="2081511">
                  <a:extLst>
                    <a:ext uri="{9D8B030D-6E8A-4147-A177-3AD203B41FA5}">
                      <a16:colId xmlns:a16="http://schemas.microsoft.com/office/drawing/2014/main" val="3550636667"/>
                    </a:ext>
                  </a:extLst>
                </a:gridCol>
                <a:gridCol w="2081511">
                  <a:extLst>
                    <a:ext uri="{9D8B030D-6E8A-4147-A177-3AD203B41FA5}">
                      <a16:colId xmlns:a16="http://schemas.microsoft.com/office/drawing/2014/main" val="1005748214"/>
                    </a:ext>
                  </a:extLst>
                </a:gridCol>
              </a:tblGrid>
              <a:tr h="327943">
                <a:tc>
                  <a:txBody>
                    <a:bodyPr/>
                    <a:lstStyle/>
                    <a:p>
                      <a:r>
                        <a:rPr lang="en-US" dirty="0"/>
                        <a:t>PPS</a:t>
                      </a:r>
                      <a:r>
                        <a:rPr lang="en-US" baseline="0" dirty="0"/>
                        <a:t> number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Empl_Name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Empl_Role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Empl_salary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Empl_email</a:t>
                      </a:r>
                      <a:endParaRPr lang="en-IE" dirty="0"/>
                    </a:p>
                  </a:txBody>
                  <a:tcPr marL="45057" marR="45057"/>
                </a:tc>
                <a:extLst>
                  <a:ext uri="{0D108BD9-81ED-4DB2-BD59-A6C34878D82A}">
                    <a16:rowId xmlns:a16="http://schemas.microsoft.com/office/drawing/2014/main" val="2550079045"/>
                  </a:ext>
                </a:extLst>
              </a:tr>
              <a:tr h="890131">
                <a:tc>
                  <a:txBody>
                    <a:bodyPr/>
                    <a:lstStyle/>
                    <a:p>
                      <a:r>
                        <a:rPr lang="en-US" dirty="0"/>
                        <a:t>123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Mary Smith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Manager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4000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3"/>
                        </a:rPr>
                        <a:t>mary@tup.ie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>
                          <a:hlinkClick r:id="rId4"/>
                        </a:rPr>
                        <a:t>m.white@tup.ie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>
                          <a:hlinkClick r:id="rId5"/>
                        </a:rPr>
                        <a:t>whitem@tup.ie</a:t>
                      </a:r>
                      <a:endParaRPr lang="en-IE" dirty="0"/>
                    </a:p>
                  </a:txBody>
                  <a:tcPr marL="45057" marR="45057"/>
                </a:tc>
                <a:extLst>
                  <a:ext uri="{0D108BD9-81ED-4DB2-BD59-A6C34878D82A}">
                    <a16:rowId xmlns:a16="http://schemas.microsoft.com/office/drawing/2014/main" val="1265440727"/>
                  </a:ext>
                </a:extLst>
              </a:tr>
              <a:tr h="468490">
                <a:tc>
                  <a:txBody>
                    <a:bodyPr/>
                    <a:lstStyle/>
                    <a:p>
                      <a:r>
                        <a:rPr lang="en-US" dirty="0"/>
                        <a:t>432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John Murphy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Admin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2000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6"/>
                        </a:rPr>
                        <a:t>John.murphy@tup.ie</a:t>
                      </a:r>
                      <a:endParaRPr lang="en-IE" dirty="0"/>
                    </a:p>
                  </a:txBody>
                  <a:tcPr marL="45057" marR="45057"/>
                </a:tc>
                <a:extLst>
                  <a:ext uri="{0D108BD9-81ED-4DB2-BD59-A6C34878D82A}">
                    <a16:rowId xmlns:a16="http://schemas.microsoft.com/office/drawing/2014/main" val="999558021"/>
                  </a:ext>
                </a:extLst>
              </a:tr>
              <a:tr h="609037">
                <a:tc>
                  <a:txBody>
                    <a:bodyPr/>
                    <a:lstStyle/>
                    <a:p>
                      <a:r>
                        <a:rPr lang="en-US" dirty="0"/>
                        <a:t>524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Adele Ryan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Team leader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2500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7"/>
                        </a:rPr>
                        <a:t>a.ryan@tup.ie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>
                          <a:hlinkClick r:id="rId8"/>
                        </a:rPr>
                        <a:t>ryana@tup.ie</a:t>
                      </a:r>
                      <a:endParaRPr lang="en-IE" dirty="0"/>
                    </a:p>
                  </a:txBody>
                  <a:tcPr marL="45057" marR="45057"/>
                </a:tc>
                <a:extLst>
                  <a:ext uri="{0D108BD9-81ED-4DB2-BD59-A6C34878D82A}">
                    <a16:rowId xmlns:a16="http://schemas.microsoft.com/office/drawing/2014/main" val="3452334117"/>
                  </a:ext>
                </a:extLst>
              </a:tr>
              <a:tr h="327943">
                <a:tc>
                  <a:txBody>
                    <a:bodyPr/>
                    <a:lstStyle/>
                    <a:p>
                      <a:r>
                        <a:rPr lang="en-US" dirty="0"/>
                        <a:t>8828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Sonya Kennedy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Admin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2000</a:t>
                      </a:r>
                      <a:endParaRPr lang="en-IE" dirty="0"/>
                    </a:p>
                  </a:txBody>
                  <a:tcPr marL="45057" marR="45057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9"/>
                        </a:rPr>
                        <a:t>s.kennedy@tup.ie</a:t>
                      </a:r>
                      <a:r>
                        <a:rPr lang="en-US" dirty="0"/>
                        <a:t> </a:t>
                      </a:r>
                      <a:endParaRPr lang="en-IE" dirty="0"/>
                    </a:p>
                  </a:txBody>
                  <a:tcPr marL="45057" marR="45057"/>
                </a:tc>
                <a:extLst>
                  <a:ext uri="{0D108BD9-81ED-4DB2-BD59-A6C34878D82A}">
                    <a16:rowId xmlns:a16="http://schemas.microsoft.com/office/drawing/2014/main" val="3830815662"/>
                  </a:ext>
                </a:extLst>
              </a:tr>
            </a:tbl>
          </a:graphicData>
        </a:graphic>
      </p:graphicFrame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1173707" y="5363569"/>
            <a:ext cx="10180093" cy="813393"/>
          </a:xfrm>
        </p:spPr>
        <p:txBody>
          <a:bodyPr>
            <a:normAutofit/>
          </a:bodyPr>
          <a:lstStyle/>
          <a:p>
            <a:r>
              <a:rPr lang="en-US" dirty="0"/>
              <a:t>What normal form is this table in?</a:t>
            </a:r>
            <a:endParaRPr lang="en-IE" dirty="0"/>
          </a:p>
        </p:txBody>
      </p:sp>
      <p:sp>
        <p:nvSpPr>
          <p:cNvPr id="6" name="Lightning Bolt 5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Lightning Bolt 6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8534895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143500" cy="6858000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600501"/>
            <a:ext cx="5181600" cy="5576462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Plan for next few weeks</a:t>
            </a:r>
          </a:p>
          <a:p>
            <a:r>
              <a:rPr lang="en-US" dirty="0"/>
              <a:t>Week 6</a:t>
            </a:r>
          </a:p>
          <a:p>
            <a:pPr lvl="1"/>
            <a:r>
              <a:rPr lang="en-US" dirty="0"/>
              <a:t>Revision class</a:t>
            </a:r>
          </a:p>
          <a:p>
            <a:pPr lvl="1"/>
            <a:r>
              <a:rPr lang="en-US" dirty="0"/>
              <a:t>Lab SQLite 1</a:t>
            </a:r>
          </a:p>
          <a:p>
            <a:r>
              <a:rPr lang="en-US" dirty="0"/>
              <a:t>Week 7</a:t>
            </a:r>
          </a:p>
          <a:p>
            <a:pPr lvl="1"/>
            <a:r>
              <a:rPr lang="en-US" dirty="0"/>
              <a:t>Quiz</a:t>
            </a:r>
          </a:p>
          <a:p>
            <a:pPr lvl="1"/>
            <a:r>
              <a:rPr lang="en-US" dirty="0"/>
              <a:t>No Lab</a:t>
            </a:r>
          </a:p>
          <a:p>
            <a:r>
              <a:rPr lang="en-US" dirty="0"/>
              <a:t>Week 8</a:t>
            </a:r>
          </a:p>
          <a:p>
            <a:pPr lvl="1"/>
            <a:r>
              <a:rPr lang="en-US" dirty="0"/>
              <a:t>Submission of Assignment</a:t>
            </a:r>
          </a:p>
          <a:p>
            <a:pPr lvl="1"/>
            <a:r>
              <a:rPr lang="en-US" dirty="0"/>
              <a:t>Lab SQLite 2</a:t>
            </a:r>
          </a:p>
          <a:p>
            <a:endParaRPr lang="en-US" dirty="0"/>
          </a:p>
        </p:txBody>
      </p:sp>
      <p:sp>
        <p:nvSpPr>
          <p:cNvPr id="6" name="Lightning Bolt 5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Lightning Bolt 6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12192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Thanks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Edmund </a:t>
            </a:r>
            <a:r>
              <a:rPr lang="en-US" dirty="0" err="1"/>
              <a:t>Nevin</a:t>
            </a:r>
            <a:r>
              <a:rPr lang="en-US" dirty="0"/>
              <a:t> </a:t>
            </a:r>
            <a:r>
              <a:rPr lang="en-IE" dirty="0"/>
              <a:t>for a earlier versions of these lecture notes</a:t>
            </a:r>
          </a:p>
        </p:txBody>
      </p:sp>
    </p:spTree>
    <p:extLst>
      <p:ext uri="{BB962C8B-B14F-4D97-AF65-F5344CB8AC3E}">
        <p14:creationId xmlns:p14="http://schemas.microsoft.com/office/powerpoint/2010/main" val="30650680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143499" cy="6858000"/>
          </a:xfrm>
        </p:spPr>
      </p:pic>
    </p:spTree>
    <p:extLst>
      <p:ext uri="{BB962C8B-B14F-4D97-AF65-F5344CB8AC3E}">
        <p14:creationId xmlns:p14="http://schemas.microsoft.com/office/powerpoint/2010/main" val="343200672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GUID" val="4bef8efa-a88a-4794-940b-cbf7845202e3"/>
</p:tagLst>
</file>

<file path=ppt/theme/theme1.xml><?xml version="1.0" encoding="utf-8"?>
<a:theme xmlns:a="http://schemas.openxmlformats.org/drawingml/2006/main" name="AccessibleTemplate">
  <a:themeElements>
    <a:clrScheme name="TU D SoC">
      <a:dk1>
        <a:sysClr val="windowText" lastClr="000000"/>
      </a:dk1>
      <a:lt1>
        <a:srgbClr val="FAFBFD"/>
      </a:lt1>
      <a:dk2>
        <a:srgbClr val="004C6C"/>
      </a:dk2>
      <a:lt2>
        <a:srgbClr val="FAFBFD"/>
      </a:lt2>
      <a:accent1>
        <a:srgbClr val="00A9B7"/>
      </a:accent1>
      <a:accent2>
        <a:srgbClr val="EB5793"/>
      </a:accent2>
      <a:accent3>
        <a:srgbClr val="B60057"/>
      </a:accent3>
      <a:accent4>
        <a:srgbClr val="CFC600"/>
      </a:accent4>
      <a:accent5>
        <a:srgbClr val="F49D6C"/>
      </a:accent5>
      <a:accent6>
        <a:srgbClr val="E94A41"/>
      </a:accent6>
      <a:hlink>
        <a:srgbClr val="6359A6"/>
      </a:hlink>
      <a:folHlink>
        <a:srgbClr val="837EBA"/>
      </a:folHlink>
    </a:clrScheme>
    <a:fontScheme name="Custom 3">
      <a:majorFont>
        <a:latin typeface="Helvetica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ssibleTemplate.potx" id="{19A76EF7-685B-4DD9-AEC2-DD2E690A5E16}" vid="{F9D02FCD-DE17-4A7B-9E71-714D7E1CC4B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86a8af6-524e-48fb-a2b5-8db5625d742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E497A5DDE61EC49B38F08F69D7D1C30" ma:contentTypeVersion="15" ma:contentTypeDescription="Create a new document." ma:contentTypeScope="" ma:versionID="9bb0376d8ed59645cd949b27d95b7409">
  <xsd:schema xmlns:xsd="http://www.w3.org/2001/XMLSchema" xmlns:xs="http://www.w3.org/2001/XMLSchema" xmlns:p="http://schemas.microsoft.com/office/2006/metadata/properties" xmlns:ns3="186a8af6-524e-48fb-a2b5-8db5625d742b" xmlns:ns4="8713c86b-11c3-4892-8b22-8e1103c1c89f" targetNamespace="http://schemas.microsoft.com/office/2006/metadata/properties" ma:root="true" ma:fieldsID="dc57b1baf380e13117ae7081a2a87d27" ns3:_="" ns4:_="">
    <xsd:import namespace="186a8af6-524e-48fb-a2b5-8db5625d742b"/>
    <xsd:import namespace="8713c86b-11c3-4892-8b22-8e1103c1c89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_activity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6a8af6-524e-48fb-a2b5-8db5625d742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713c86b-11c3-4892-8b22-8e1103c1c89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BD80550-865F-444A-BC76-648199381973}">
  <ds:schemaRefs>
    <ds:schemaRef ds:uri="186a8af6-524e-48fb-a2b5-8db5625d742b"/>
    <ds:schemaRef ds:uri="http://purl.org/dc/elements/1.1/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http://schemas.openxmlformats.org/package/2006/metadata/core-properties"/>
    <ds:schemaRef ds:uri="8713c86b-11c3-4892-8b22-8e1103c1c89f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11F4D3FE-D829-488E-A486-DE7F389937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6a8af6-524e-48fb-a2b5-8db5625d742b"/>
    <ds:schemaRef ds:uri="8713c86b-11c3-4892-8b22-8e1103c1c89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EF0107A-F0F9-4F2F-8885-16CBFB37C1D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AccessibleTemplate</Template>
  <TotalTime>32226</TotalTime>
  <Words>2282</Words>
  <Application>Microsoft Office PowerPoint</Application>
  <PresentationFormat>Widescreen</PresentationFormat>
  <Paragraphs>497</Paragraphs>
  <Slides>52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61" baseType="lpstr">
      <vt:lpstr>-apple-system</vt:lpstr>
      <vt:lpstr>Arial</vt:lpstr>
      <vt:lpstr>Arial Narrow</vt:lpstr>
      <vt:lpstr>Calibri</vt:lpstr>
      <vt:lpstr>Helvetica</vt:lpstr>
      <vt:lpstr>Symbol</vt:lpstr>
      <vt:lpstr>Times New Roman</vt:lpstr>
      <vt:lpstr>Wingdings</vt:lpstr>
      <vt:lpstr>AccessibleTemplate</vt:lpstr>
      <vt:lpstr>PowerPoint Presentation</vt:lpstr>
      <vt:lpstr>Week 5 Information Systems</vt:lpstr>
      <vt:lpstr>Agenda</vt:lpstr>
      <vt:lpstr>Normalisation</vt:lpstr>
      <vt:lpstr>Normalisation</vt:lpstr>
      <vt:lpstr>Stages of Normalisation</vt:lpstr>
      <vt:lpstr>Repeating Groups</vt:lpstr>
      <vt:lpstr>Repeating Groups</vt:lpstr>
      <vt:lpstr>Repeating Groups</vt:lpstr>
      <vt:lpstr>Repeating Groups</vt:lpstr>
      <vt:lpstr>Dependencies</vt:lpstr>
      <vt:lpstr>Functional Dependency</vt:lpstr>
      <vt:lpstr>Functional Dependency  Formal Notation     A → B </vt:lpstr>
      <vt:lpstr>Functional Dependency Example</vt:lpstr>
      <vt:lpstr>Full Functional Dependency</vt:lpstr>
      <vt:lpstr>Full Functional Dependency</vt:lpstr>
      <vt:lpstr>Partial Functional Dependency</vt:lpstr>
      <vt:lpstr>Transitive Dependency</vt:lpstr>
      <vt:lpstr>Transitive Dependency Formal Notation</vt:lpstr>
      <vt:lpstr>Transitive Dependency</vt:lpstr>
      <vt:lpstr>Normal Forms   When is a table in 1NF?</vt:lpstr>
      <vt:lpstr>Normal Forms When is a table in 2NF? </vt:lpstr>
      <vt:lpstr>Normal Forms  When is a table in 3NF?</vt:lpstr>
      <vt:lpstr>Un-normalised Normal Form (UNF or 0NF)</vt:lpstr>
      <vt:lpstr>Example: Logical Design (‘Bottom-up’ Approach)</vt:lpstr>
      <vt:lpstr>Example: Place in UNF</vt:lpstr>
      <vt:lpstr>Example: Place in UNF</vt:lpstr>
      <vt:lpstr>First Normal Form (1NF)</vt:lpstr>
      <vt:lpstr>Example: UNF to 1NF</vt:lpstr>
      <vt:lpstr>Example: UNF to 1NF</vt:lpstr>
      <vt:lpstr>Example: UNF to 1NF</vt:lpstr>
      <vt:lpstr>Note on choosing PK</vt:lpstr>
      <vt:lpstr>Second Normal Form (2NF)</vt:lpstr>
      <vt:lpstr>Second Normal Form (2NF) First relation check</vt:lpstr>
      <vt:lpstr>Second Normal Form (2NF) Second relation check</vt:lpstr>
      <vt:lpstr>Example: 1NF to 2NF</vt:lpstr>
      <vt:lpstr>Example: 1NF to 2NF</vt:lpstr>
      <vt:lpstr>Example: 1NF to 2NF</vt:lpstr>
      <vt:lpstr>Third Normal Form (3NF)</vt:lpstr>
      <vt:lpstr>Third Normal Form (3NF)</vt:lpstr>
      <vt:lpstr>Example: 2NF to 3NF</vt:lpstr>
      <vt:lpstr>Example: 2NF to 3NF</vt:lpstr>
      <vt:lpstr>Example: 2NF to 3NF</vt:lpstr>
      <vt:lpstr>Example: Relations in Highest Normal Form</vt:lpstr>
      <vt:lpstr>Example: E-R Diagrams</vt:lpstr>
      <vt:lpstr>Example: E-R Diagrams</vt:lpstr>
      <vt:lpstr>Normalisation Example</vt:lpstr>
      <vt:lpstr>Normalisation Example</vt:lpstr>
      <vt:lpstr>Example Company</vt:lpstr>
      <vt:lpstr>PowerPoint Presentation</vt:lpstr>
      <vt:lpstr>Thanks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Marisa Llorens Salvador</dc:creator>
  <cp:lastModifiedBy>Eamonn Kelly</cp:lastModifiedBy>
  <cp:revision>148</cp:revision>
  <cp:lastPrinted>2020-10-19T08:26:08Z</cp:lastPrinted>
  <dcterms:created xsi:type="dcterms:W3CDTF">2020-07-08T11:07:05Z</dcterms:created>
  <dcterms:modified xsi:type="dcterms:W3CDTF">2024-10-23T14:21:23Z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0x010100CE497A5DDE61EC49B38F08F69D7D1C30</vt:lpwstr>
  </property>
</Properties>
</file>