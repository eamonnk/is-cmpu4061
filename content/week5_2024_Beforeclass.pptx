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7"/>
  </p:notesMasterIdLst>
  <p:handoutMasterIdLst>
    <p:handoutMasterId r:id="rId58"/>
  </p:handoutMasterIdLst>
  <p:sldIdLst>
    <p:sldId id="275" r:id="rId5"/>
    <p:sldId id="256" r:id="rId6"/>
    <p:sldId id="310" r:id="rId7"/>
    <p:sldId id="313" r:id="rId8"/>
    <p:sldId id="395" r:id="rId9"/>
    <p:sldId id="315" r:id="rId10"/>
    <p:sldId id="391" r:id="rId11"/>
    <p:sldId id="398" r:id="rId12"/>
    <p:sldId id="392" r:id="rId13"/>
    <p:sldId id="402" r:id="rId14"/>
    <p:sldId id="382" r:id="rId15"/>
    <p:sldId id="383" r:id="rId16"/>
    <p:sldId id="393" r:id="rId17"/>
    <p:sldId id="384" r:id="rId18"/>
    <p:sldId id="385" r:id="rId19"/>
    <p:sldId id="386" r:id="rId20"/>
    <p:sldId id="387" r:id="rId21"/>
    <p:sldId id="388" r:id="rId22"/>
    <p:sldId id="397" r:id="rId23"/>
    <p:sldId id="389" r:id="rId24"/>
    <p:sldId id="316" r:id="rId25"/>
    <p:sldId id="340" r:id="rId26"/>
    <p:sldId id="341" r:id="rId27"/>
    <p:sldId id="328" r:id="rId28"/>
    <p:sldId id="329" r:id="rId29"/>
    <p:sldId id="330" r:id="rId30"/>
    <p:sldId id="342" r:id="rId31"/>
    <p:sldId id="331" r:id="rId32"/>
    <p:sldId id="332" r:id="rId33"/>
    <p:sldId id="399" r:id="rId34"/>
    <p:sldId id="344" r:id="rId35"/>
    <p:sldId id="381" r:id="rId36"/>
    <p:sldId id="333" r:id="rId37"/>
    <p:sldId id="346" r:id="rId38"/>
    <p:sldId id="356" r:id="rId39"/>
    <p:sldId id="334" r:id="rId40"/>
    <p:sldId id="400" r:id="rId41"/>
    <p:sldId id="348" r:id="rId42"/>
    <p:sldId id="335" r:id="rId43"/>
    <p:sldId id="357" r:id="rId44"/>
    <p:sldId id="336" r:id="rId45"/>
    <p:sldId id="401" r:id="rId46"/>
    <p:sldId id="350" r:id="rId47"/>
    <p:sldId id="337" r:id="rId48"/>
    <p:sldId id="338" r:id="rId49"/>
    <p:sldId id="351" r:id="rId50"/>
    <p:sldId id="364" r:id="rId51"/>
    <p:sldId id="380" r:id="rId52"/>
    <p:sldId id="366" r:id="rId53"/>
    <p:sldId id="301" r:id="rId54"/>
    <p:sldId id="288" r:id="rId55"/>
    <p:sldId id="289" r:id="rId56"/>
  </p:sldIdLst>
  <p:sldSz cx="12192000" cy="6858000"/>
  <p:notesSz cx="7010400" cy="9296400"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0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8" autoAdjust="0"/>
    <p:restoredTop sz="71715" autoAdjust="0"/>
  </p:normalViewPr>
  <p:slideViewPr>
    <p:cSldViewPr snapToGrid="0">
      <p:cViewPr varScale="1">
        <p:scale>
          <a:sx n="49" d="100"/>
          <a:sy n="49" d="100"/>
        </p:scale>
        <p:origin x="13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1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sa Llorens Salvador" userId="c80fc008-d1da-4311-939b-b78dfe62e0c7" providerId="ADAL" clId="{2DB5BF38-C664-4D6A-8F64-356687E38E4F}"/>
    <pc:docChg chg="custSel delSld modSld">
      <pc:chgData name="Marisa Llorens Salvador" userId="c80fc008-d1da-4311-939b-b78dfe62e0c7" providerId="ADAL" clId="{2DB5BF38-C664-4D6A-8F64-356687E38E4F}" dt="2024-10-14T14:33:20.970" v="18" actId="47"/>
      <pc:docMkLst>
        <pc:docMk/>
      </pc:docMkLst>
      <pc:sldChg chg="modSp mod">
        <pc:chgData name="Marisa Llorens Salvador" userId="c80fc008-d1da-4311-939b-b78dfe62e0c7" providerId="ADAL" clId="{2DB5BF38-C664-4D6A-8F64-356687E38E4F}" dt="2024-10-14T14:32:52.180" v="11" actId="27636"/>
        <pc:sldMkLst>
          <pc:docMk/>
          <pc:sldMk cId="211219232" sldId="301"/>
        </pc:sldMkLst>
        <pc:spChg chg="mod">
          <ac:chgData name="Marisa Llorens Salvador" userId="c80fc008-d1da-4311-939b-b78dfe62e0c7" providerId="ADAL" clId="{2DB5BF38-C664-4D6A-8F64-356687E38E4F}" dt="2024-10-14T14:32:52.180" v="11" actId="27636"/>
          <ac:spMkLst>
            <pc:docMk/>
            <pc:sldMk cId="211219232" sldId="301"/>
            <ac:spMk id="4" creationId="{00000000-0000-0000-0000-000000000000}"/>
          </ac:spMkLst>
        </pc:spChg>
      </pc:sldChg>
      <pc:sldChg chg="del">
        <pc:chgData name="Marisa Llorens Salvador" userId="c80fc008-d1da-4311-939b-b78dfe62e0c7" providerId="ADAL" clId="{2DB5BF38-C664-4D6A-8F64-356687E38E4F}" dt="2024-10-14T14:33:13.987" v="13" actId="47"/>
        <pc:sldMkLst>
          <pc:docMk/>
          <pc:sldMk cId="3672836831" sldId="339"/>
        </pc:sldMkLst>
      </pc:sldChg>
      <pc:sldChg chg="del">
        <pc:chgData name="Marisa Llorens Salvador" userId="c80fc008-d1da-4311-939b-b78dfe62e0c7" providerId="ADAL" clId="{2DB5BF38-C664-4D6A-8F64-356687E38E4F}" dt="2024-10-14T14:33:14.891" v="14" actId="47"/>
        <pc:sldMkLst>
          <pc:docMk/>
          <pc:sldMk cId="555900565" sldId="353"/>
        </pc:sldMkLst>
      </pc:sldChg>
      <pc:sldChg chg="del">
        <pc:chgData name="Marisa Llorens Salvador" userId="c80fc008-d1da-4311-939b-b78dfe62e0c7" providerId="ADAL" clId="{2DB5BF38-C664-4D6A-8F64-356687E38E4F}" dt="2024-10-14T14:33:15.959" v="15" actId="47"/>
        <pc:sldMkLst>
          <pc:docMk/>
          <pc:sldMk cId="2460426440" sldId="354"/>
        </pc:sldMkLst>
      </pc:sldChg>
      <pc:sldChg chg="del">
        <pc:chgData name="Marisa Llorens Salvador" userId="c80fc008-d1da-4311-939b-b78dfe62e0c7" providerId="ADAL" clId="{2DB5BF38-C664-4D6A-8F64-356687E38E4F}" dt="2024-10-14T14:33:17.461" v="16" actId="47"/>
        <pc:sldMkLst>
          <pc:docMk/>
          <pc:sldMk cId="2785208638" sldId="359"/>
        </pc:sldMkLst>
      </pc:sldChg>
      <pc:sldChg chg="del">
        <pc:chgData name="Marisa Llorens Salvador" userId="c80fc008-d1da-4311-939b-b78dfe62e0c7" providerId="ADAL" clId="{2DB5BF38-C664-4D6A-8F64-356687E38E4F}" dt="2024-10-14T14:33:19.643" v="17" actId="47"/>
        <pc:sldMkLst>
          <pc:docMk/>
          <pc:sldMk cId="1837622776" sldId="360"/>
        </pc:sldMkLst>
      </pc:sldChg>
      <pc:sldChg chg="del">
        <pc:chgData name="Marisa Llorens Salvador" userId="c80fc008-d1da-4311-939b-b78dfe62e0c7" providerId="ADAL" clId="{2DB5BF38-C664-4D6A-8F64-356687E38E4F}" dt="2024-10-14T14:33:20.970" v="18" actId="47"/>
        <pc:sldMkLst>
          <pc:docMk/>
          <pc:sldMk cId="2647916470" sldId="361"/>
        </pc:sldMkLst>
      </pc:sldChg>
      <pc:sldChg chg="del">
        <pc:chgData name="Marisa Llorens Salvador" userId="c80fc008-d1da-4311-939b-b78dfe62e0c7" providerId="ADAL" clId="{2DB5BF38-C664-4D6A-8F64-356687E38E4F}" dt="2024-10-14T14:32:18.621" v="0" actId="47"/>
        <pc:sldMkLst>
          <pc:docMk/>
          <pc:sldMk cId="1092337731" sldId="365"/>
        </pc:sldMkLst>
      </pc:sldChg>
      <pc:sldChg chg="del">
        <pc:chgData name="Marisa Llorens Salvador" userId="c80fc008-d1da-4311-939b-b78dfe62e0c7" providerId="ADAL" clId="{2DB5BF38-C664-4D6A-8F64-356687E38E4F}" dt="2024-10-14T14:32:20.557" v="2" actId="47"/>
        <pc:sldMkLst>
          <pc:docMk/>
          <pc:sldMk cId="3263259151" sldId="367"/>
        </pc:sldMkLst>
      </pc:sldChg>
      <pc:sldChg chg="del">
        <pc:chgData name="Marisa Llorens Salvador" userId="c80fc008-d1da-4311-939b-b78dfe62e0c7" providerId="ADAL" clId="{2DB5BF38-C664-4D6A-8F64-356687E38E4F}" dt="2024-10-14T14:32:19.702" v="1" actId="47"/>
        <pc:sldMkLst>
          <pc:docMk/>
          <pc:sldMk cId="1717349079" sldId="368"/>
        </pc:sldMkLst>
      </pc:sldChg>
      <pc:sldChg chg="del">
        <pc:chgData name="Marisa Llorens Salvador" userId="c80fc008-d1da-4311-939b-b78dfe62e0c7" providerId="ADAL" clId="{2DB5BF38-C664-4D6A-8F64-356687E38E4F}" dt="2024-10-14T14:32:23.038" v="4" actId="47"/>
        <pc:sldMkLst>
          <pc:docMk/>
          <pc:sldMk cId="3667871970" sldId="369"/>
        </pc:sldMkLst>
      </pc:sldChg>
      <pc:sldChg chg="del">
        <pc:chgData name="Marisa Llorens Salvador" userId="c80fc008-d1da-4311-939b-b78dfe62e0c7" providerId="ADAL" clId="{2DB5BF38-C664-4D6A-8F64-356687E38E4F}" dt="2024-10-14T14:32:21.530" v="3" actId="47"/>
        <pc:sldMkLst>
          <pc:docMk/>
          <pc:sldMk cId="1448456348" sldId="370"/>
        </pc:sldMkLst>
      </pc:sldChg>
      <pc:sldChg chg="del">
        <pc:chgData name="Marisa Llorens Salvador" userId="c80fc008-d1da-4311-939b-b78dfe62e0c7" providerId="ADAL" clId="{2DB5BF38-C664-4D6A-8F64-356687E38E4F}" dt="2024-10-14T14:32:32.292" v="5" actId="47"/>
        <pc:sldMkLst>
          <pc:docMk/>
          <pc:sldMk cId="789150575" sldId="371"/>
        </pc:sldMkLst>
      </pc:sldChg>
      <pc:sldChg chg="del">
        <pc:chgData name="Marisa Llorens Salvador" userId="c80fc008-d1da-4311-939b-b78dfe62e0c7" providerId="ADAL" clId="{2DB5BF38-C664-4D6A-8F64-356687E38E4F}" dt="2024-10-14T14:32:33.424" v="6" actId="47"/>
        <pc:sldMkLst>
          <pc:docMk/>
          <pc:sldMk cId="1872535486" sldId="372"/>
        </pc:sldMkLst>
      </pc:sldChg>
      <pc:sldChg chg="del">
        <pc:chgData name="Marisa Llorens Salvador" userId="c80fc008-d1da-4311-939b-b78dfe62e0c7" providerId="ADAL" clId="{2DB5BF38-C664-4D6A-8F64-356687E38E4F}" dt="2024-10-14T14:32:34.599" v="7" actId="47"/>
        <pc:sldMkLst>
          <pc:docMk/>
          <pc:sldMk cId="2672448470" sldId="373"/>
        </pc:sldMkLst>
      </pc:sldChg>
      <pc:sldChg chg="del">
        <pc:chgData name="Marisa Llorens Salvador" userId="c80fc008-d1da-4311-939b-b78dfe62e0c7" providerId="ADAL" clId="{2DB5BF38-C664-4D6A-8F64-356687E38E4F}" dt="2024-10-14T14:32:35.644" v="8" actId="47"/>
        <pc:sldMkLst>
          <pc:docMk/>
          <pc:sldMk cId="245800863" sldId="374"/>
        </pc:sldMkLst>
      </pc:sldChg>
      <pc:sldChg chg="del">
        <pc:chgData name="Marisa Llorens Salvador" userId="c80fc008-d1da-4311-939b-b78dfe62e0c7" providerId="ADAL" clId="{2DB5BF38-C664-4D6A-8F64-356687E38E4F}" dt="2024-10-14T14:33:13.161" v="12" actId="47"/>
        <pc:sldMkLst>
          <pc:docMk/>
          <pc:sldMk cId="3770315031" sldId="3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299BF62-F315-46FD-A225-AF40715BD720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678C69-1BE9-4AD4-8E49-7A2B3B5B7B7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8721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8585DF0-59FF-4857-9F82-F93A5D9DD461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1D7177-ECA0-45C5-A5EE-1EDD549F8A6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268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0726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495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866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648D39-2D5D-4913-8076-A34CB43E9015}" type="slidenum">
              <a:rPr lang="en-GB"/>
              <a:pPr/>
              <a:t>4</a:t>
            </a:fld>
            <a:endParaRPr lang="en-GB"/>
          </a:p>
        </p:txBody>
      </p:sp>
      <p:sp>
        <p:nvSpPr>
          <p:cNvPr id="39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81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648D39-2D5D-4913-8076-A34CB43E9015}" type="slidenum">
              <a:rPr lang="en-GB"/>
              <a:pPr/>
              <a:t>5</a:t>
            </a:fld>
            <a:endParaRPr lang="en-GB"/>
          </a:p>
        </p:txBody>
      </p:sp>
      <p:sp>
        <p:nvSpPr>
          <p:cNvPr id="39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14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847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EC21DD-33E6-4D39-95A2-E4956CDF6250}" type="slidenum">
              <a:rPr lang="en-GB"/>
              <a:pPr/>
              <a:t>7</a:t>
            </a:fld>
            <a:endParaRPr lang="en-GB"/>
          </a:p>
        </p:txBody>
      </p:sp>
      <p:sp>
        <p:nvSpPr>
          <p:cNvPr id="39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77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EC21DD-33E6-4D39-95A2-E4956CDF6250}" type="slidenum">
              <a:rPr lang="en-GB"/>
              <a:pPr/>
              <a:t>8</a:t>
            </a:fld>
            <a:endParaRPr lang="en-GB"/>
          </a:p>
        </p:txBody>
      </p:sp>
      <p:sp>
        <p:nvSpPr>
          <p:cNvPr id="39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63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EC21DD-33E6-4D39-95A2-E4956CDF6250}" type="slidenum">
              <a:rPr lang="en-GB"/>
              <a:pPr/>
              <a:t>9</a:t>
            </a:fld>
            <a:endParaRPr lang="en-GB"/>
          </a:p>
        </p:txBody>
      </p:sp>
      <p:sp>
        <p:nvSpPr>
          <p:cNvPr id="39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3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EC21DD-33E6-4D39-95A2-E4956CDF6250}" type="slidenum">
              <a:rPr lang="en-GB"/>
              <a:pPr/>
              <a:t>10</a:t>
            </a:fld>
            <a:endParaRPr lang="en-GB"/>
          </a:p>
        </p:txBody>
      </p:sp>
      <p:sp>
        <p:nvSpPr>
          <p:cNvPr id="39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05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E03F60-7411-469B-BA0E-4C84782FB480}" type="slidenum">
              <a:rPr lang="en-GB"/>
              <a:pPr/>
              <a:t>11</a:t>
            </a:fld>
            <a:endParaRPr lang="en-GB"/>
          </a:p>
        </p:txBody>
      </p:sp>
      <p:sp>
        <p:nvSpPr>
          <p:cNvPr id="40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95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D5E705-A6C5-424B-BD4F-64318FE8EAE2}" type="slidenum">
              <a:rPr lang="en-GB"/>
              <a:pPr/>
              <a:t>12</a:t>
            </a:fld>
            <a:endParaRPr lang="en-GB"/>
          </a:p>
        </p:txBody>
      </p:sp>
      <p:sp>
        <p:nvSpPr>
          <p:cNvPr id="395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75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D5E705-A6C5-424B-BD4F-64318FE8EAE2}" type="slidenum">
              <a:rPr lang="en-GB"/>
              <a:pPr/>
              <a:t>13</a:t>
            </a:fld>
            <a:endParaRPr lang="en-GB"/>
          </a:p>
        </p:txBody>
      </p:sp>
      <p:sp>
        <p:nvSpPr>
          <p:cNvPr id="395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46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D5E705-A6C5-424B-BD4F-64318FE8EAE2}" type="slidenum">
              <a:rPr lang="en-GB"/>
              <a:pPr/>
              <a:t>14</a:t>
            </a:fld>
            <a:endParaRPr lang="en-GB"/>
          </a:p>
        </p:txBody>
      </p:sp>
      <p:sp>
        <p:nvSpPr>
          <p:cNvPr id="395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52F4B8-8BB7-4560-B328-451EF6885848}" type="slidenum">
              <a:rPr lang="en-GB"/>
              <a:pPr/>
              <a:t>16</a:t>
            </a:fld>
            <a:endParaRPr lang="en-GB"/>
          </a:p>
        </p:txBody>
      </p:sp>
      <p:sp>
        <p:nvSpPr>
          <p:cNvPr id="39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4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174904-3AC1-468A-9A85-EC5F35DA1763}" type="slidenum">
              <a:rPr lang="en-GB"/>
              <a:pPr/>
              <a:t>17</a:t>
            </a:fld>
            <a:endParaRPr lang="en-GB"/>
          </a:p>
        </p:txBody>
      </p:sp>
      <p:sp>
        <p:nvSpPr>
          <p:cNvPr id="395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95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E03F60-7411-469B-BA0E-4C84782FB480}" type="slidenum">
              <a:rPr lang="en-GB"/>
              <a:pPr/>
              <a:t>18</a:t>
            </a:fld>
            <a:endParaRPr lang="en-GB"/>
          </a:p>
        </p:txBody>
      </p:sp>
      <p:sp>
        <p:nvSpPr>
          <p:cNvPr id="40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42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E03F60-7411-469B-BA0E-4C84782FB480}" type="slidenum">
              <a:rPr lang="en-GB"/>
              <a:pPr/>
              <a:t>19</a:t>
            </a:fld>
            <a:endParaRPr lang="en-GB"/>
          </a:p>
        </p:txBody>
      </p:sp>
      <p:sp>
        <p:nvSpPr>
          <p:cNvPr id="40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1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5489D0-F365-4FE4-8E66-57B46CB55102}" type="slidenum">
              <a:rPr lang="en-GB"/>
              <a:pPr/>
              <a:t>20</a:t>
            </a:fld>
            <a:endParaRPr lang="en-GB"/>
          </a:p>
        </p:txBody>
      </p:sp>
      <p:sp>
        <p:nvSpPr>
          <p:cNvPr id="395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18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CBEC 1404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10th Oct. '11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Databases I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174CCC-3EB6-4547-AB0F-D9DBE6B8A0F4}" type="slidenum">
              <a:rPr lang="en-GB"/>
              <a:pPr/>
              <a:t>21</a:t>
            </a:fld>
            <a:endParaRPr lang="en-GB"/>
          </a:p>
        </p:txBody>
      </p:sp>
      <p:sp>
        <p:nvSpPr>
          <p:cNvPr id="399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77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174CCC-3EB6-4547-AB0F-D9DBE6B8A0F4}" type="slidenum">
              <a:rPr lang="en-GB"/>
              <a:pPr/>
              <a:t>22</a:t>
            </a:fld>
            <a:endParaRPr lang="en-GB"/>
          </a:p>
        </p:txBody>
      </p:sp>
      <p:sp>
        <p:nvSpPr>
          <p:cNvPr id="399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557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174CCC-3EB6-4547-AB0F-D9DBE6B8A0F4}" type="slidenum">
              <a:rPr lang="en-GB"/>
              <a:pPr/>
              <a:t>23</a:t>
            </a:fld>
            <a:endParaRPr lang="en-GB"/>
          </a:p>
        </p:txBody>
      </p:sp>
      <p:sp>
        <p:nvSpPr>
          <p:cNvPr id="399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94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4388A2-1E37-4311-99EE-76561EFE8214}" type="slidenum">
              <a:rPr lang="en-GB"/>
              <a:pPr/>
              <a:t>24</a:t>
            </a:fld>
            <a:endParaRPr lang="en-GB"/>
          </a:p>
        </p:txBody>
      </p:sp>
      <p:sp>
        <p:nvSpPr>
          <p:cNvPr id="395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06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9E6548-FEA7-4181-B31B-32F01CF89AE0}" type="slidenum">
              <a:rPr lang="en-GB"/>
              <a:pPr/>
              <a:t>25</a:t>
            </a:fld>
            <a:endParaRPr lang="en-GB"/>
          </a:p>
        </p:txBody>
      </p:sp>
      <p:sp>
        <p:nvSpPr>
          <p:cNvPr id="39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17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26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31658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27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60713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315CE6-5B4C-4973-B365-FCCA4EFAF365}" type="slidenum">
              <a:rPr lang="en-GB"/>
              <a:pPr/>
              <a:t>28</a:t>
            </a:fld>
            <a:endParaRPr lang="en-GB"/>
          </a:p>
        </p:txBody>
      </p:sp>
      <p:sp>
        <p:nvSpPr>
          <p:cNvPr id="39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35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0795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02232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25183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43117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3664A-F429-46F2-8AD9-06F573299D78}" type="slidenum">
              <a:rPr lang="en-GB"/>
              <a:pPr/>
              <a:t>33</a:t>
            </a:fld>
            <a:endParaRPr lang="en-GB"/>
          </a:p>
        </p:txBody>
      </p:sp>
      <p:sp>
        <p:nvSpPr>
          <p:cNvPr id="39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7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3664A-F429-46F2-8AD9-06F573299D78}" type="slidenum">
              <a:rPr lang="en-GB"/>
              <a:pPr/>
              <a:t>34</a:t>
            </a:fld>
            <a:endParaRPr lang="en-GB"/>
          </a:p>
        </p:txBody>
      </p:sp>
      <p:sp>
        <p:nvSpPr>
          <p:cNvPr id="39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33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3664A-F429-46F2-8AD9-06F573299D78}" type="slidenum">
              <a:rPr lang="en-GB"/>
              <a:pPr/>
              <a:t>35</a:t>
            </a:fld>
            <a:endParaRPr lang="en-GB"/>
          </a:p>
        </p:txBody>
      </p:sp>
      <p:sp>
        <p:nvSpPr>
          <p:cNvPr id="39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464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B0F0-22EC-4223-ADF7-D88A4FB184CE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360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B0F0-22EC-4223-ADF7-D88A4FB184CE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6496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B0F0-22EC-4223-ADF7-D88A4FB184CE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149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3224FB-93FC-43C2-B830-7C53D23A4965}" type="slidenum">
              <a:rPr lang="en-GB"/>
              <a:pPr/>
              <a:t>39</a:t>
            </a:fld>
            <a:endParaRPr lang="en-GB"/>
          </a:p>
        </p:txBody>
      </p:sp>
      <p:sp>
        <p:nvSpPr>
          <p:cNvPr id="396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486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3224FB-93FC-43C2-B830-7C53D23A4965}" type="slidenum">
              <a:rPr lang="en-GB"/>
              <a:pPr/>
              <a:t>40</a:t>
            </a:fld>
            <a:endParaRPr lang="en-GB"/>
          </a:p>
        </p:txBody>
      </p:sp>
      <p:sp>
        <p:nvSpPr>
          <p:cNvPr id="396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744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7131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302742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5888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CEE33E-3F9C-419E-A60F-6C28FF2FD15C}" type="slidenum">
              <a:rPr lang="en-GB"/>
              <a:pPr/>
              <a:t>44</a:t>
            </a:fld>
            <a:endParaRPr lang="en-GB"/>
          </a:p>
        </p:txBody>
      </p:sp>
      <p:sp>
        <p:nvSpPr>
          <p:cNvPr id="393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538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70167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92532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567638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7429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49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16664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50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36768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51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21166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1D7177-ECA0-45C5-A5EE-1EDD549F8A65}" type="slidenum">
              <a:rPr lang="en-IE" smtClean="0"/>
              <a:t>52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32541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046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460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">
    <p:bg>
      <p:bgPr>
        <a:solidFill>
          <a:srgbClr val="004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726" y="1825625"/>
            <a:ext cx="2084363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3200" y="2147888"/>
            <a:ext cx="861060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5154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028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816548"/>
            <a:ext cx="10515600" cy="122385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4313" y="712788"/>
            <a:ext cx="6794500" cy="4103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204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687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181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823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80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 colou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554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5166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762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4585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28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A629649-D2FF-4264-8CCF-CA181E47AA8A}" type="datetimeFigureOut">
              <a:rPr lang="en-IE" smtClean="0"/>
              <a:t>14/10/2024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882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341093E-ADCE-4CEF-A0BC-E1F79F413BC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084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mailto:ryana@tup.ie" TargetMode="External"/><Relationship Id="rId3" Type="http://schemas.openxmlformats.org/officeDocument/2006/relationships/hyperlink" Target="mailto:mary@tup.ie" TargetMode="External"/><Relationship Id="rId7" Type="http://schemas.openxmlformats.org/officeDocument/2006/relationships/hyperlink" Target="mailto:a.ryan@tup.ie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John.murphy@tup.ie" TargetMode="External"/><Relationship Id="rId5" Type="http://schemas.openxmlformats.org/officeDocument/2006/relationships/hyperlink" Target="mailto:whitem@tup.ie" TargetMode="External"/><Relationship Id="rId4" Type="http://schemas.openxmlformats.org/officeDocument/2006/relationships/hyperlink" Target="mailto:m.white@tup.ie" TargetMode="External"/><Relationship Id="rId9" Type="http://schemas.openxmlformats.org/officeDocument/2006/relationships/hyperlink" Target="mailto:s.kennedy@tup.ie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mailto:ryana@tup.ie" TargetMode="External"/><Relationship Id="rId3" Type="http://schemas.openxmlformats.org/officeDocument/2006/relationships/hyperlink" Target="mailto:mary@tup.ie" TargetMode="External"/><Relationship Id="rId7" Type="http://schemas.openxmlformats.org/officeDocument/2006/relationships/hyperlink" Target="mailto:a.ryan@tup.ie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John.murphy@tup.ie" TargetMode="External"/><Relationship Id="rId5" Type="http://schemas.openxmlformats.org/officeDocument/2006/relationships/hyperlink" Target="mailto:whitem@tup.ie" TargetMode="External"/><Relationship Id="rId4" Type="http://schemas.openxmlformats.org/officeDocument/2006/relationships/hyperlink" Target="mailto:m.white@tup.ie" TargetMode="External"/><Relationship Id="rId9" Type="http://schemas.openxmlformats.org/officeDocument/2006/relationships/hyperlink" Target="mailto:s.kennedy@tup.ie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mailto:ryana@tup.ie" TargetMode="External"/><Relationship Id="rId3" Type="http://schemas.openxmlformats.org/officeDocument/2006/relationships/hyperlink" Target="mailto:mary@tup.ie" TargetMode="External"/><Relationship Id="rId7" Type="http://schemas.openxmlformats.org/officeDocument/2006/relationships/hyperlink" Target="mailto:a.ryan@tup.ie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John.murphy@tup.ie" TargetMode="External"/><Relationship Id="rId5" Type="http://schemas.openxmlformats.org/officeDocument/2006/relationships/hyperlink" Target="mailto:whitem@tup.ie" TargetMode="External"/><Relationship Id="rId4" Type="http://schemas.openxmlformats.org/officeDocument/2006/relationships/hyperlink" Target="mailto:m.white@tup.ie" TargetMode="External"/><Relationship Id="rId9" Type="http://schemas.openxmlformats.org/officeDocument/2006/relationships/hyperlink" Target="mailto:s.kennedy@tup.ie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3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 Information Systems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TU257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9247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Normalisation</a:t>
            </a:r>
            <a:endParaRPr lang="en-US" dirty="0"/>
          </a:p>
          <a:p>
            <a:pPr lvl="1"/>
            <a:r>
              <a:rPr lang="en-US" dirty="0"/>
              <a:t>UNF</a:t>
            </a:r>
          </a:p>
          <a:p>
            <a:pPr lvl="1"/>
            <a:r>
              <a:rPr lang="en-US" dirty="0"/>
              <a:t>1NF</a:t>
            </a:r>
          </a:p>
          <a:p>
            <a:pPr lvl="1"/>
            <a:r>
              <a:rPr lang="en-US" dirty="0"/>
              <a:t>2NF</a:t>
            </a:r>
          </a:p>
          <a:p>
            <a:pPr lvl="1"/>
            <a:r>
              <a:rPr lang="en-US" dirty="0"/>
              <a:t>3NF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5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Normalisation</a:t>
            </a:r>
            <a:endParaRPr lang="en-GB" dirty="0"/>
          </a:p>
        </p:txBody>
      </p:sp>
      <p:sp>
        <p:nvSpPr>
          <p:cNvPr id="3985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IE" dirty="0"/>
              <a:t>The process of designing a database in the </a:t>
            </a:r>
            <a:r>
              <a:rPr lang="en-IE" b="1" dirty="0"/>
              <a:t>most efficient</a:t>
            </a:r>
            <a:r>
              <a:rPr lang="en-IE" dirty="0"/>
              <a:t> way possible.</a:t>
            </a:r>
          </a:p>
          <a:p>
            <a:pPr lvl="1">
              <a:lnSpc>
                <a:spcPct val="170000"/>
              </a:lnSpc>
            </a:pPr>
            <a:r>
              <a:rPr lang="en-IE" dirty="0"/>
              <a:t>A technique for designing relational database tables to minimise </a:t>
            </a:r>
            <a:r>
              <a:rPr lang="en-IE" b="1" dirty="0"/>
              <a:t>duplication of information</a:t>
            </a:r>
            <a:r>
              <a:rPr lang="en-IE" dirty="0"/>
              <a:t> and, in doing so, to safeguard the database against certain types of </a:t>
            </a:r>
            <a:r>
              <a:rPr lang="en-IE" b="1" dirty="0"/>
              <a:t>logical inconsistency</a:t>
            </a:r>
            <a:r>
              <a:rPr lang="en-IE" dirty="0"/>
              <a:t>.</a:t>
            </a:r>
          </a:p>
          <a:p>
            <a:pPr lvl="1">
              <a:lnSpc>
                <a:spcPct val="170000"/>
              </a:lnSpc>
            </a:pPr>
            <a:endParaRPr lang="en-IE" dirty="0"/>
          </a:p>
          <a:p>
            <a:pPr lvl="1">
              <a:lnSpc>
                <a:spcPct val="170000"/>
              </a:lnSpc>
            </a:pPr>
            <a:r>
              <a:rPr lang="en-IE" dirty="0"/>
              <a:t>More highly normalised tables greatly </a:t>
            </a:r>
            <a:r>
              <a:rPr lang="en-IE" b="1" dirty="0"/>
              <a:t>simplify development</a:t>
            </a:r>
            <a:r>
              <a:rPr lang="en-IE" dirty="0"/>
              <a:t> and </a:t>
            </a:r>
            <a:r>
              <a:rPr lang="en-IE" b="1" dirty="0"/>
              <a:t>maintenance</a:t>
            </a:r>
            <a:r>
              <a:rPr lang="en-IE" dirty="0"/>
              <a:t> of the database and </a:t>
            </a:r>
            <a:r>
              <a:rPr lang="en-IE" b="1" dirty="0"/>
              <a:t>contribute</a:t>
            </a:r>
            <a:r>
              <a:rPr lang="en-IE" dirty="0"/>
              <a:t> to its </a:t>
            </a:r>
            <a:r>
              <a:rPr lang="en-IE" b="1" dirty="0"/>
              <a:t>extensibility</a:t>
            </a:r>
            <a:r>
              <a:rPr lang="en-IE" dirty="0"/>
              <a:t>.</a:t>
            </a:r>
          </a:p>
          <a:p>
            <a:pPr>
              <a:lnSpc>
                <a:spcPct val="170000"/>
              </a:lnSpc>
            </a:pPr>
            <a:endParaRPr lang="en-IE" sz="400" dirty="0"/>
          </a:p>
          <a:p>
            <a:pPr>
              <a:lnSpc>
                <a:spcPct val="170000"/>
              </a:lnSpc>
              <a:buNone/>
            </a:pPr>
            <a:endParaRPr lang="en-IE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CC35-C2E9-43D0-B401-2C1E30C048B2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017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Normalisation</a:t>
            </a:r>
            <a:endParaRPr lang="en-GB" dirty="0"/>
          </a:p>
        </p:txBody>
      </p:sp>
      <p:sp>
        <p:nvSpPr>
          <p:cNvPr id="3985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IE" dirty="0"/>
              <a:t>Properly executed, the normalisation process </a:t>
            </a:r>
            <a:r>
              <a:rPr lang="en-IE" b="1" dirty="0"/>
              <a:t>eliminates uncontrolled data redundancies</a:t>
            </a:r>
            <a:r>
              <a:rPr lang="en-IE" dirty="0"/>
              <a:t>,</a:t>
            </a:r>
          </a:p>
          <a:p>
            <a:pPr lvl="1">
              <a:lnSpc>
                <a:spcPct val="170000"/>
              </a:lnSpc>
            </a:pPr>
            <a:r>
              <a:rPr lang="en-IE" dirty="0"/>
              <a:t>thus </a:t>
            </a:r>
            <a:r>
              <a:rPr lang="en-IE" b="1" dirty="0"/>
              <a:t>eliminating</a:t>
            </a:r>
            <a:r>
              <a:rPr lang="en-IE" dirty="0"/>
              <a:t> the </a:t>
            </a:r>
            <a:r>
              <a:rPr lang="en-IE" b="1" dirty="0"/>
              <a:t>data anomalies</a:t>
            </a:r>
            <a:r>
              <a:rPr lang="en-IE" dirty="0"/>
              <a:t>, and</a:t>
            </a:r>
          </a:p>
          <a:p>
            <a:pPr lvl="1">
              <a:lnSpc>
                <a:spcPct val="170000"/>
              </a:lnSpc>
            </a:pPr>
            <a:r>
              <a:rPr lang="en-IE" dirty="0"/>
              <a:t>the </a:t>
            </a:r>
            <a:r>
              <a:rPr lang="en-IE" b="1" dirty="0"/>
              <a:t>data integrity problems</a:t>
            </a:r>
            <a:r>
              <a:rPr lang="en-IE" dirty="0"/>
              <a:t> that are produced by such redundancies.</a:t>
            </a:r>
          </a:p>
          <a:p>
            <a:pPr>
              <a:lnSpc>
                <a:spcPct val="170000"/>
              </a:lnSpc>
            </a:pPr>
            <a:endParaRPr lang="en-IE" dirty="0"/>
          </a:p>
          <a:p>
            <a:pPr>
              <a:lnSpc>
                <a:spcPct val="170000"/>
              </a:lnSpc>
              <a:buNone/>
            </a:pPr>
            <a:r>
              <a:rPr lang="en-IE" dirty="0"/>
              <a:t>	</a:t>
            </a:r>
            <a:endParaRPr lang="en-IE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CC35-C2E9-43D0-B401-2C1E30C048B2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024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Stages of Normalisation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 err="1"/>
              <a:t>Unnormalised</a:t>
            </a:r>
            <a:endParaRPr lang="en-US" b="1" dirty="0"/>
          </a:p>
          <a:p>
            <a:pPr lvl="1">
              <a:lnSpc>
                <a:spcPct val="100000"/>
              </a:lnSpc>
              <a:buFont typeface="Helvetica" panose="020B0604020202020204" pitchFamily="34" charset="0"/>
              <a:buChar char="↓"/>
            </a:pPr>
            <a:r>
              <a:rPr lang="en-US" dirty="0"/>
              <a:t>Remove repeating groups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1NF</a:t>
            </a:r>
          </a:p>
          <a:p>
            <a:pPr lvl="1">
              <a:lnSpc>
                <a:spcPct val="100000"/>
              </a:lnSpc>
              <a:buFont typeface="Helvetica" panose="020B0604020202020204" pitchFamily="34" charset="0"/>
              <a:buChar char="↓"/>
            </a:pPr>
            <a:r>
              <a:rPr lang="en-US" dirty="0"/>
              <a:t>Remove partial dependencies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2NF</a:t>
            </a:r>
          </a:p>
          <a:p>
            <a:pPr lvl="1">
              <a:lnSpc>
                <a:spcPct val="100000"/>
              </a:lnSpc>
              <a:buFont typeface="Helvetica" panose="020B0604020202020204" pitchFamily="34" charset="0"/>
              <a:buChar char="↓"/>
            </a:pPr>
            <a:r>
              <a:rPr lang="en-US" dirty="0"/>
              <a:t>Remove transitive dependencies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3NF</a:t>
            </a:r>
            <a:endParaRPr lang="en-IE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0F726-502A-4A13-B38C-4A07697E010C}" type="slidenum">
              <a:rPr lang="en-IE" smtClean="0"/>
              <a:pPr/>
              <a:t>6</a:t>
            </a:fld>
            <a:endParaRPr lang="en-IE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Lightning Bolt 4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467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7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Repeating Groups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66FF"/>
                </a:solidFill>
              </a:rPr>
              <a:t>repeating group</a:t>
            </a:r>
            <a:r>
              <a:rPr lang="en-US" dirty="0"/>
              <a:t> is an attribute (or set of attributes) that can have </a:t>
            </a:r>
            <a:r>
              <a:rPr lang="en-US" b="1" dirty="0">
                <a:solidFill>
                  <a:srgbClr val="0066FF"/>
                </a:solidFill>
              </a:rPr>
              <a:t>more than one</a:t>
            </a:r>
            <a:r>
              <a:rPr lang="en-US" dirty="0"/>
              <a:t> </a:t>
            </a:r>
            <a:r>
              <a:rPr lang="en-US" b="1" dirty="0">
                <a:solidFill>
                  <a:srgbClr val="0066FF"/>
                </a:solidFill>
              </a:rPr>
              <a:t>value</a:t>
            </a:r>
            <a:r>
              <a:rPr lang="en-US" dirty="0"/>
              <a:t> for a </a:t>
            </a:r>
            <a:r>
              <a:rPr lang="en-US" b="1" dirty="0">
                <a:solidFill>
                  <a:srgbClr val="0066FF"/>
                </a:solidFill>
              </a:rPr>
              <a:t>primary key value</a:t>
            </a:r>
            <a:r>
              <a:rPr lang="en-US" dirty="0"/>
              <a:t>.</a:t>
            </a:r>
          </a:p>
          <a:p>
            <a:r>
              <a:rPr lang="en-GB" b="1" dirty="0">
                <a:solidFill>
                  <a:srgbClr val="0066FF"/>
                </a:solidFill>
              </a:rPr>
              <a:t>Repeating Groups</a:t>
            </a:r>
            <a:r>
              <a:rPr lang="en-GB" dirty="0"/>
              <a:t> are </a:t>
            </a:r>
            <a:r>
              <a:rPr lang="en-GB" b="1" dirty="0"/>
              <a:t>not allowed</a:t>
            </a:r>
            <a:r>
              <a:rPr lang="en-GB" dirty="0"/>
              <a:t> in a relational design, since all attributes have to be ‘</a:t>
            </a:r>
            <a:r>
              <a:rPr lang="en-GB" b="1" dirty="0">
                <a:solidFill>
                  <a:srgbClr val="0066FF"/>
                </a:solidFill>
              </a:rPr>
              <a:t>atomic</a:t>
            </a:r>
            <a:r>
              <a:rPr lang="en-GB" dirty="0"/>
              <a:t>’ - i.e. there can only be one value per cell in a table.</a:t>
            </a:r>
          </a:p>
          <a:p>
            <a:endParaRPr lang="en-US" dirty="0"/>
          </a:p>
          <a:p>
            <a:endParaRPr lang="en-IE" dirty="0"/>
          </a:p>
        </p:txBody>
      </p:sp>
      <p:sp>
        <p:nvSpPr>
          <p:cNvPr id="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8FF3-211C-4195-A314-963D04169570}" type="slidenum">
              <a:rPr lang="en-IE"/>
              <a:pPr/>
              <a:t>7</a:t>
            </a:fld>
            <a:endParaRPr lang="en-IE" dirty="0"/>
          </a:p>
        </p:txBody>
      </p:sp>
      <p:sp>
        <p:nvSpPr>
          <p:cNvPr id="3914755" name="Rectangle 3"/>
          <p:cNvSpPr>
            <a:spLocks noChangeArrowheads="1"/>
          </p:cNvSpPr>
          <p:nvPr/>
        </p:nvSpPr>
        <p:spPr bwMode="auto">
          <a:xfrm>
            <a:off x="838200" y="1520826"/>
            <a:ext cx="7916863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3914757" name="Text Box 5"/>
          <p:cNvSpPr txBox="1">
            <a:spLocks noChangeArrowheads="1"/>
          </p:cNvSpPr>
          <p:nvPr/>
        </p:nvSpPr>
        <p:spPr bwMode="auto">
          <a:xfrm>
            <a:off x="1136195" y="4717861"/>
            <a:ext cx="7916863" cy="97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3" name="Lightning Bolt 2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630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7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Repeating Groups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737715" cy="1411975"/>
          </a:xfrm>
        </p:spPr>
        <p:txBody>
          <a:bodyPr>
            <a:normAutofit fontScale="925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</a:t>
            </a:r>
            <a:r>
              <a:rPr lang="en-GB" dirty="0">
                <a:solidFill>
                  <a:srgbClr val="C00000"/>
                </a:solidFill>
              </a:rPr>
              <a:t>: </a:t>
            </a:r>
            <a:r>
              <a:rPr lang="en-GB" dirty="0"/>
              <a:t>The following relation contains staff and department details and a list of telephone contact numbers for each member of staff.</a:t>
            </a:r>
          </a:p>
          <a:p>
            <a:endParaRPr lang="en-IE" dirty="0"/>
          </a:p>
        </p:txBody>
      </p:sp>
      <p:sp>
        <p:nvSpPr>
          <p:cNvPr id="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8FF3-211C-4195-A314-963D04169570}" type="slidenum">
              <a:rPr lang="en-IE"/>
              <a:pPr/>
              <a:t>8</a:t>
            </a:fld>
            <a:endParaRPr lang="en-IE" dirty="0"/>
          </a:p>
        </p:txBody>
      </p:sp>
      <p:sp>
        <p:nvSpPr>
          <p:cNvPr id="3914756" name="Text Box 4"/>
          <p:cNvSpPr txBox="1">
            <a:spLocks noChangeArrowheads="1"/>
          </p:cNvSpPr>
          <p:nvPr/>
        </p:nvSpPr>
        <p:spPr bwMode="auto">
          <a:xfrm>
            <a:off x="838200" y="2375989"/>
            <a:ext cx="7916863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Lightning Bolt 4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2" name="Content Placeholder 11" descr="Fig0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916540" y="4148472"/>
            <a:ext cx="10659374" cy="178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4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7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Repeating Groups</a:t>
            </a:r>
          </a:p>
        </p:txBody>
      </p:sp>
      <p:sp>
        <p:nvSpPr>
          <p:cNvPr id="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8FF3-211C-4195-A314-963D04169570}" type="slidenum">
              <a:rPr lang="en-IE"/>
              <a:pPr/>
              <a:t>9</a:t>
            </a:fld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031" t="50794" r="84061" b="23751"/>
          <a:stretch/>
        </p:blipFill>
        <p:spPr>
          <a:xfrm>
            <a:off x="2947337" y="1690688"/>
            <a:ext cx="6297325" cy="44240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1797" y="4474842"/>
            <a:ext cx="6463146" cy="12884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788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7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Repeating Groups</a:t>
            </a:r>
          </a:p>
        </p:txBody>
      </p:sp>
      <p:sp>
        <p:nvSpPr>
          <p:cNvPr id="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8FF3-211C-4195-A314-963D04169570}" type="slidenum">
              <a:rPr lang="en-IE"/>
              <a:pPr/>
              <a:t>10</a:t>
            </a:fld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031" t="50794" r="84061" b="23751"/>
          <a:stretch/>
        </p:blipFill>
        <p:spPr>
          <a:xfrm>
            <a:off x="6603492" y="890242"/>
            <a:ext cx="4014216" cy="28200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BD76A5-E18B-F60E-8BDC-801116C11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41721"/>
              </p:ext>
            </p:extLst>
          </p:nvPr>
        </p:nvGraphicFramePr>
        <p:xfrm>
          <a:off x="0" y="4557723"/>
          <a:ext cx="12192001" cy="1696804"/>
        </p:xfrm>
        <a:graphic>
          <a:graphicData uri="http://schemas.openxmlformats.org/drawingml/2006/table">
            <a:tbl>
              <a:tblPr/>
              <a:tblGrid>
                <a:gridCol w="914713">
                  <a:extLst>
                    <a:ext uri="{9D8B030D-6E8A-4147-A177-3AD203B41FA5}">
                      <a16:colId xmlns:a16="http://schemas.microsoft.com/office/drawing/2014/main" val="4188408582"/>
                    </a:ext>
                  </a:extLst>
                </a:gridCol>
                <a:gridCol w="885692">
                  <a:extLst>
                    <a:ext uri="{9D8B030D-6E8A-4147-A177-3AD203B41FA5}">
                      <a16:colId xmlns:a16="http://schemas.microsoft.com/office/drawing/2014/main" val="3531631677"/>
                    </a:ext>
                  </a:extLst>
                </a:gridCol>
                <a:gridCol w="1413740">
                  <a:extLst>
                    <a:ext uri="{9D8B030D-6E8A-4147-A177-3AD203B41FA5}">
                      <a16:colId xmlns:a16="http://schemas.microsoft.com/office/drawing/2014/main" val="484236088"/>
                    </a:ext>
                  </a:extLst>
                </a:gridCol>
                <a:gridCol w="1425824">
                  <a:extLst>
                    <a:ext uri="{9D8B030D-6E8A-4147-A177-3AD203B41FA5}">
                      <a16:colId xmlns:a16="http://schemas.microsoft.com/office/drawing/2014/main" val="3404030835"/>
                    </a:ext>
                  </a:extLst>
                </a:gridCol>
                <a:gridCol w="3040991">
                  <a:extLst>
                    <a:ext uri="{9D8B030D-6E8A-4147-A177-3AD203B41FA5}">
                      <a16:colId xmlns:a16="http://schemas.microsoft.com/office/drawing/2014/main" val="142851428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3922607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393363245"/>
                    </a:ext>
                  </a:extLst>
                </a:gridCol>
                <a:gridCol w="1938529">
                  <a:extLst>
                    <a:ext uri="{9D8B030D-6E8A-4147-A177-3AD203B41FA5}">
                      <a16:colId xmlns:a16="http://schemas.microsoft.com/office/drawing/2014/main" val="3780596223"/>
                    </a:ext>
                  </a:extLst>
                </a:gridCol>
              </a:tblGrid>
              <a:tr h="573657"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Invoice Number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ClientID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OrderDate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ProductID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Product Name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Quantity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Price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total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52031"/>
                  </a:ext>
                </a:extLst>
              </a:tr>
              <a:tr h="1110064">
                <a:tc>
                  <a:txBody>
                    <a:bodyPr/>
                    <a:lstStyle/>
                    <a:p>
                      <a:pPr algn="r" rtl="0" fontAlgn="b"/>
                      <a:r>
                        <a:rPr lang="en-IE" dirty="0">
                          <a:effectLst/>
                        </a:rPr>
                        <a:t>1234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E" dirty="0">
                          <a:effectLst/>
                        </a:rPr>
                        <a:t>432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E">
                          <a:effectLst/>
                        </a:rPr>
                        <a:t>2023-01-01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 dirty="0">
                          <a:effectLst/>
                        </a:rPr>
                        <a:t>43,23,455,23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>
                          <a:effectLst/>
                        </a:rPr>
                        <a:t>Table, Chair, Pillow, Cushion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 dirty="0">
                          <a:effectLst/>
                        </a:rPr>
                        <a:t>1,6,4,4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 dirty="0">
                          <a:effectLst/>
                        </a:rPr>
                        <a:t>900,190,42,25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E" dirty="0">
                          <a:effectLst/>
                        </a:rPr>
                        <a:t>900,1140,168,100</a:t>
                      </a:r>
                    </a:p>
                  </a:txBody>
                  <a:tcPr marL="0" marR="0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35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651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964" name="AutoShap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Dependencies</a:t>
            </a:r>
            <a:endParaRPr lang="en-GB" dirty="0"/>
          </a:p>
        </p:txBody>
      </p:sp>
      <p:sp>
        <p:nvSpPr>
          <p:cNvPr id="4008965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2285999"/>
            <a:ext cx="10515600" cy="3890963"/>
          </a:xfrm>
        </p:spPr>
        <p:txBody>
          <a:bodyPr>
            <a:normAutofit/>
          </a:bodyPr>
          <a:lstStyle/>
          <a:p>
            <a:r>
              <a:rPr lang="en-IE" b="1" dirty="0"/>
              <a:t>Functional Dependency:</a:t>
            </a:r>
          </a:p>
          <a:p>
            <a:pPr lvl="1"/>
            <a:r>
              <a:rPr lang="en-US" b="1" dirty="0"/>
              <a:t>Fully Functional Dependency</a:t>
            </a:r>
          </a:p>
          <a:p>
            <a:pPr lvl="1"/>
            <a:r>
              <a:rPr lang="en-US" b="1" dirty="0"/>
              <a:t>Partial Functional Dependency</a:t>
            </a:r>
          </a:p>
          <a:p>
            <a:endParaRPr lang="en-US" b="1" dirty="0"/>
          </a:p>
          <a:p>
            <a:r>
              <a:rPr lang="en-US" b="1" dirty="0"/>
              <a:t>Transitive Dependency</a:t>
            </a:r>
          </a:p>
          <a:p>
            <a:pPr lvl="1"/>
            <a:endParaRPr lang="en-IE" b="1" dirty="0"/>
          </a:p>
          <a:p>
            <a:endParaRPr lang="en-IE" sz="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8EFD-8544-4FAF-A80A-2594AC6640A9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620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7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Dependency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b="1" dirty="0">
                <a:solidFill>
                  <a:srgbClr val="C00000"/>
                </a:solidFill>
              </a:rPr>
              <a:t>Formal Definition: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Attribute </a:t>
            </a:r>
            <a:r>
              <a:rPr lang="en-US" b="1" dirty="0"/>
              <a:t>B</a:t>
            </a:r>
            <a:r>
              <a:rPr lang="en-US" dirty="0"/>
              <a:t> is functionally dependent upon attribute </a:t>
            </a:r>
            <a:r>
              <a:rPr lang="en-US" b="1" dirty="0"/>
              <a:t>A</a:t>
            </a:r>
            <a:r>
              <a:rPr lang="en-US" dirty="0"/>
              <a:t> (or a collection of attributes) if a value of </a:t>
            </a:r>
            <a:r>
              <a:rPr lang="en-US" b="1" dirty="0"/>
              <a:t>A</a:t>
            </a:r>
            <a:r>
              <a:rPr lang="en-US" dirty="0"/>
              <a:t> determines a single value of attribute </a:t>
            </a:r>
            <a:r>
              <a:rPr lang="en-US" b="1" dirty="0"/>
              <a:t>B</a:t>
            </a:r>
            <a:r>
              <a:rPr lang="en-US" dirty="0"/>
              <a:t> at any one time.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</a:pPr>
            <a:endParaRPr lang="en-US" dirty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IE" dirty="0"/>
              <a:t>In other words, attribute </a:t>
            </a:r>
            <a:r>
              <a:rPr lang="en-IE" b="1" dirty="0"/>
              <a:t>B</a:t>
            </a:r>
            <a:r>
              <a:rPr lang="en-IE" dirty="0"/>
              <a:t> has a functional dependency on attribute </a:t>
            </a:r>
            <a:r>
              <a:rPr lang="en-IE" b="1" dirty="0"/>
              <a:t>A</a:t>
            </a:r>
            <a:r>
              <a:rPr lang="en-IE" dirty="0"/>
              <a:t> if, for each value of </a:t>
            </a:r>
            <a:r>
              <a:rPr lang="en-IE" b="1" dirty="0"/>
              <a:t>A</a:t>
            </a:r>
            <a:r>
              <a:rPr lang="en-IE" dirty="0"/>
              <a:t>, there is exactly one value of attribute </a:t>
            </a:r>
            <a:r>
              <a:rPr lang="en-IE" b="1" dirty="0"/>
              <a:t>B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19B3-C485-43ED-8C74-3C3C7F674362}" type="slidenum">
              <a:rPr lang="en-IE"/>
              <a:pPr/>
              <a:t>12</a:t>
            </a:fld>
            <a:endParaRPr lang="en-IE"/>
          </a:p>
        </p:txBody>
      </p:sp>
      <p:sp>
        <p:nvSpPr>
          <p:cNvPr id="3" name="Lightning Bolt 2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490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7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Dependency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Formal Notation     </a:t>
            </a:r>
            <a:r>
              <a:rPr lang="en-US" dirty="0">
                <a:solidFill>
                  <a:srgbClr val="00B050"/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dirty="0">
                <a:sym typeface="Symbol" pitchFamily="18" charset="2"/>
              </a:rPr>
              <a:t>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This should be read as ‘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A</a:t>
            </a:r>
            <a:r>
              <a:rPr lang="en-US" b="1" dirty="0">
                <a:solidFill>
                  <a:srgbClr val="0066FF"/>
                </a:solidFill>
                <a:sym typeface="Symbol" pitchFamily="18" charset="2"/>
              </a:rPr>
              <a:t> determines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dirty="0">
                <a:sym typeface="Symbol" pitchFamily="18" charset="2"/>
              </a:rPr>
              <a:t>’ or ‘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b="1" dirty="0">
                <a:solidFill>
                  <a:srgbClr val="0066FF"/>
                </a:solidFill>
                <a:sym typeface="Symbol" pitchFamily="18" charset="2"/>
              </a:rPr>
              <a:t> is functionally dependent on </a:t>
            </a:r>
            <a:r>
              <a:rPr lang="en-US" b="1" dirty="0">
                <a:solidFill>
                  <a:srgbClr val="00B050"/>
                </a:solidFill>
                <a:sym typeface="Symbol" pitchFamily="18" charset="2"/>
              </a:rPr>
              <a:t>A</a:t>
            </a:r>
            <a:r>
              <a:rPr lang="en-US" dirty="0">
                <a:sym typeface="Symbol" pitchFamily="18" charset="2"/>
              </a:rPr>
              <a:t>’. </a:t>
            </a:r>
            <a:r>
              <a:rPr lang="en-US" b="1" dirty="0">
                <a:sym typeface="Symbol" pitchFamily="18" charset="2"/>
              </a:rPr>
              <a:t>A</a:t>
            </a:r>
            <a:r>
              <a:rPr lang="en-US" dirty="0">
                <a:sym typeface="Symbol" pitchFamily="18" charset="2"/>
              </a:rPr>
              <a:t> is called the determinant and </a:t>
            </a:r>
            <a:r>
              <a:rPr lang="en-US" b="1" dirty="0">
                <a:sym typeface="Symbol" pitchFamily="18" charset="2"/>
              </a:rPr>
              <a:t>B</a:t>
            </a:r>
            <a:r>
              <a:rPr lang="en-US" dirty="0">
                <a:sym typeface="Symbol" pitchFamily="18" charset="2"/>
              </a:rPr>
              <a:t> is called the object of the determinant.</a:t>
            </a:r>
            <a:endParaRPr lang="en-US" dirty="0"/>
          </a:p>
          <a:p>
            <a:endParaRPr lang="en-IE" dirty="0"/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19B3-C485-43ED-8C74-3C3C7F674362}" type="slidenum">
              <a:rPr lang="en-IE"/>
              <a:pPr/>
              <a:t>13</a:t>
            </a:fld>
            <a:endParaRPr lang="en-IE"/>
          </a:p>
        </p:txBody>
      </p:sp>
      <p:pic>
        <p:nvPicPr>
          <p:cNvPr id="36" name="Picture 35" descr="Fig07.jpg"/>
          <p:cNvPicPr>
            <a:picLocks noChangeAspect="1"/>
          </p:cNvPicPr>
          <p:nvPr/>
        </p:nvPicPr>
        <p:blipFill rotWithShape="1">
          <a:blip r:embed="rId3" cstate="print"/>
          <a:srcRect r="35647"/>
          <a:stretch/>
        </p:blipFill>
        <p:spPr>
          <a:xfrm>
            <a:off x="3488853" y="4278960"/>
            <a:ext cx="5779406" cy="1898003"/>
          </a:xfrm>
          <a:prstGeom prst="rect">
            <a:avLst/>
          </a:prstGeom>
        </p:spPr>
      </p:pic>
      <p:sp>
        <p:nvSpPr>
          <p:cNvPr id="3" name="Lightning Bolt 2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6152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57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Dependency Example</a:t>
            </a:r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19B3-C485-43ED-8C74-3C3C7F674362}" type="slidenum">
              <a:rPr lang="en-IE"/>
              <a:pPr/>
              <a:t>14</a:t>
            </a:fld>
            <a:endParaRPr lang="en-IE"/>
          </a:p>
        </p:txBody>
      </p:sp>
      <p:sp>
        <p:nvSpPr>
          <p:cNvPr id="3915780" name="Rectangle 4"/>
          <p:cNvSpPr>
            <a:spLocks noChangeArrowheads="1"/>
          </p:cNvSpPr>
          <p:nvPr/>
        </p:nvSpPr>
        <p:spPr bwMode="auto">
          <a:xfrm>
            <a:off x="643647" y="1608015"/>
            <a:ext cx="11353800" cy="2121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b="1" dirty="0" err="1">
                <a:solidFill>
                  <a:srgbClr val="00B050"/>
                </a:solidFill>
              </a:rPr>
              <a:t>Dept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sym typeface="Symbol" pitchFamily="18" charset="2"/>
              </a:rPr>
              <a:t>DeptName</a:t>
            </a:r>
            <a:endParaRPr lang="en-US" sz="2800" b="1" dirty="0">
              <a:solidFill>
                <a:srgbClr val="00B050"/>
              </a:solidFill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dirty="0">
                <a:sym typeface="Symbol" pitchFamily="18" charset="2"/>
              </a:rPr>
              <a:t>  This should be read as ‘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Department</a:t>
            </a:r>
            <a:r>
              <a:rPr lang="en-US" sz="2800" b="1" dirty="0">
                <a:solidFill>
                  <a:srgbClr val="0066FF"/>
                </a:solidFill>
                <a:sym typeface="Symbol" pitchFamily="18" charset="2"/>
              </a:rPr>
              <a:t> determines </a:t>
            </a:r>
            <a:r>
              <a:rPr lang="en-US" sz="2800" b="1" dirty="0" err="1">
                <a:solidFill>
                  <a:srgbClr val="0066FF"/>
                </a:solidFill>
                <a:sym typeface="Symbol" pitchFamily="18" charset="2"/>
              </a:rPr>
              <a:t>DepartmentName</a:t>
            </a:r>
            <a:r>
              <a:rPr lang="en-US" sz="2800" dirty="0">
                <a:sym typeface="Symbol" pitchFamily="18" charset="2"/>
              </a:rPr>
              <a:t>’ or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dirty="0">
                <a:sym typeface="Symbol" pitchFamily="18" charset="2"/>
              </a:rPr>
              <a:t>‘</a:t>
            </a:r>
            <a:r>
              <a:rPr lang="en-US" sz="2800" dirty="0" err="1">
                <a:sym typeface="Symbol" pitchFamily="18" charset="2"/>
              </a:rPr>
              <a:t>DepartmentName</a:t>
            </a:r>
            <a:r>
              <a:rPr lang="en-US" sz="2800" b="1" dirty="0">
                <a:solidFill>
                  <a:srgbClr val="0066FF"/>
                </a:solidFill>
                <a:sym typeface="Symbol" pitchFamily="18" charset="2"/>
              </a:rPr>
              <a:t> is functionally dependant on Department</a:t>
            </a:r>
            <a:r>
              <a:rPr lang="en-US" sz="2800" dirty="0">
                <a:sym typeface="Symbol" pitchFamily="18" charset="2"/>
              </a:rPr>
              <a:t>’.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36" name="Picture 35" descr="Fig07.jpg"/>
          <p:cNvPicPr>
            <a:picLocks noChangeAspect="1"/>
          </p:cNvPicPr>
          <p:nvPr/>
        </p:nvPicPr>
        <p:blipFill rotWithShape="1">
          <a:blip r:embed="rId3" cstate="print"/>
          <a:srcRect r="35647"/>
          <a:stretch/>
        </p:blipFill>
        <p:spPr>
          <a:xfrm>
            <a:off x="1905703" y="4268647"/>
            <a:ext cx="5779406" cy="1898003"/>
          </a:xfrm>
          <a:prstGeom prst="rect">
            <a:avLst/>
          </a:prstGeom>
        </p:spPr>
      </p:pic>
      <p:sp>
        <p:nvSpPr>
          <p:cNvPr id="2" name="Curved Down Arrow 1"/>
          <p:cNvSpPr/>
          <p:nvPr/>
        </p:nvSpPr>
        <p:spPr>
          <a:xfrm>
            <a:off x="5411654" y="3838487"/>
            <a:ext cx="1342417" cy="3693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12831" y="3576118"/>
            <a:ext cx="35409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dirty="0" err="1">
                <a:solidFill>
                  <a:srgbClr val="00B050"/>
                </a:solidFill>
              </a:rPr>
              <a:t>Dept</a:t>
            </a:r>
            <a:r>
              <a:rPr lang="en-US" sz="3200" dirty="0"/>
              <a:t> </a:t>
            </a:r>
            <a:r>
              <a:rPr lang="en-US" sz="40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3200" dirty="0">
                <a:sym typeface="Symbol" pitchFamily="18" charset="2"/>
              </a:rPr>
              <a:t> </a:t>
            </a:r>
            <a:r>
              <a:rPr lang="en-US" sz="3200" dirty="0" err="1">
                <a:solidFill>
                  <a:srgbClr val="00B050"/>
                </a:solidFill>
                <a:sym typeface="Symbol" pitchFamily="18" charset="2"/>
              </a:rPr>
              <a:t>DeptName</a:t>
            </a:r>
            <a:r>
              <a:rPr lang="en-US" sz="3200" dirty="0">
                <a:sym typeface="Symbol" pitchFamily="18" charset="2"/>
              </a:rPr>
              <a:t> 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996857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Full Functional Dependency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dirty="0"/>
              <a:t>An attribute is fully functional dependent on a set of attributes </a:t>
            </a:r>
            <a:r>
              <a:rPr lang="en-IE" b="1" dirty="0"/>
              <a:t>X</a:t>
            </a:r>
            <a:r>
              <a:rPr lang="en-IE" dirty="0"/>
              <a:t> if it is…</a:t>
            </a:r>
          </a:p>
          <a:p>
            <a:pPr lvl="2"/>
            <a:r>
              <a:rPr lang="en-IE" dirty="0"/>
              <a:t>functionally dependent on </a:t>
            </a:r>
            <a:r>
              <a:rPr lang="en-IE" b="1" dirty="0"/>
              <a:t>X</a:t>
            </a:r>
            <a:r>
              <a:rPr lang="en-IE" dirty="0"/>
              <a:t>, and</a:t>
            </a:r>
          </a:p>
          <a:p>
            <a:pPr lvl="2"/>
            <a:r>
              <a:rPr lang="en-IE" dirty="0"/>
              <a:t>not functionally dependent on any proper subset of </a:t>
            </a:r>
            <a:r>
              <a:rPr lang="en-IE" b="1" dirty="0"/>
              <a:t>X</a:t>
            </a:r>
          </a:p>
          <a:p>
            <a:pPr lvl="2"/>
            <a:endParaRPr lang="en-US" sz="400" b="1" dirty="0"/>
          </a:p>
          <a:p>
            <a:pPr lvl="2"/>
            <a:r>
              <a:rPr lang="en-US" sz="2400" b="1" dirty="0"/>
              <a:t>Only relevant for composite determinants</a:t>
            </a:r>
          </a:p>
          <a:p>
            <a:pPr lvl="2"/>
            <a:endParaRPr lang="en-IE" sz="400" b="1" dirty="0"/>
          </a:p>
          <a:p>
            <a:endParaRPr lang="en-IE" b="1" dirty="0"/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None/>
            </a:pPr>
            <a:endParaRPr lang="en-US" dirty="0"/>
          </a:p>
          <a:p>
            <a:endParaRPr lang="en-I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093E-ADCE-4CEF-A0BC-E1F79F413BC5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0114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8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Functional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None/>
            </a:pPr>
            <a:r>
              <a:rPr lang="en-US" dirty="0"/>
              <a:t>Only of relevance with composite determinants.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None/>
            </a:pPr>
            <a:endParaRPr lang="en-US" dirty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None/>
            </a:pPr>
            <a:r>
              <a:rPr lang="en-US" dirty="0"/>
              <a:t>All the attributes of the composite determinant (Course# and </a:t>
            </a:r>
            <a:r>
              <a:rPr lang="en-US" dirty="0" err="1"/>
              <a:t>Subject_Code</a:t>
            </a:r>
            <a:r>
              <a:rPr lang="en-US" dirty="0"/>
              <a:t>)  are needed to determine the Subject Type.</a:t>
            </a:r>
          </a:p>
          <a:p>
            <a:endParaRPr lang="en-IE" dirty="0"/>
          </a:p>
        </p:txBody>
      </p:sp>
      <p:sp>
        <p:nvSpPr>
          <p:cNvPr id="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C1353-C7FC-45CF-A0FE-A9F8C6C6F68C}" type="slidenum">
              <a:rPr lang="en-IE"/>
              <a:pPr/>
              <a:t>16</a:t>
            </a:fld>
            <a:endParaRPr lang="en-IE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4917" y="4571894"/>
          <a:ext cx="5903943" cy="1249680"/>
        </p:xfrm>
        <a:graphic>
          <a:graphicData uri="http://schemas.openxmlformats.org/drawingml/2006/table">
            <a:tbl>
              <a:tblPr/>
              <a:tblGrid>
                <a:gridCol w="1948301">
                  <a:extLst>
                    <a:ext uri="{9D8B030D-6E8A-4147-A177-3AD203B41FA5}">
                      <a16:colId xmlns:a16="http://schemas.microsoft.com/office/drawing/2014/main" val="4255800420"/>
                    </a:ext>
                  </a:extLst>
                </a:gridCol>
                <a:gridCol w="1948301">
                  <a:extLst>
                    <a:ext uri="{9D8B030D-6E8A-4147-A177-3AD203B41FA5}">
                      <a16:colId xmlns:a16="http://schemas.microsoft.com/office/drawing/2014/main" val="3450399542"/>
                    </a:ext>
                  </a:extLst>
                </a:gridCol>
                <a:gridCol w="2007341">
                  <a:extLst>
                    <a:ext uri="{9D8B030D-6E8A-4147-A177-3AD203B41FA5}">
                      <a16:colId xmlns:a16="http://schemas.microsoft.com/office/drawing/2014/main" val="3414730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E" b="1" dirty="0"/>
                        <a:t>  Course#</a:t>
                      </a:r>
                      <a:endParaRPr lang="en-IE" dirty="0"/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/>
                        <a:t>  </a:t>
                      </a:r>
                      <a:r>
                        <a:rPr lang="en-IE" b="1" dirty="0" err="1"/>
                        <a:t>Subject_Code</a:t>
                      </a:r>
                      <a:endParaRPr lang="en-IE" dirty="0"/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b="1" dirty="0"/>
                        <a:t>  </a:t>
                      </a:r>
                      <a:r>
                        <a:rPr lang="en-IE" b="1" dirty="0" err="1"/>
                        <a:t>Subject_Type</a:t>
                      </a:r>
                      <a:endParaRPr lang="en-IE" dirty="0"/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0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E" dirty="0"/>
                        <a:t>  ICA40299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  ICAITB060A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>
                          <a:solidFill>
                            <a:srgbClr val="00B0F0"/>
                          </a:solidFill>
                        </a:rPr>
                        <a:t>  Core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68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E" dirty="0"/>
                        <a:t>  ICA40299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  ICAITU018B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>
                          <a:solidFill>
                            <a:srgbClr val="00B0F0"/>
                          </a:solidFill>
                        </a:rPr>
                        <a:t>  Elective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42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E" dirty="0"/>
                        <a:t>  ICA40199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  ICAITU018B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dirty="0">
                          <a:solidFill>
                            <a:srgbClr val="00B0F0"/>
                          </a:solidFill>
                        </a:rPr>
                        <a:t>  Core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46373"/>
                  </a:ext>
                </a:extLst>
              </a:tr>
            </a:tbl>
          </a:graphicData>
        </a:graphic>
      </p:graphicFrame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Lightning Bolt 4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3921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8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Functional Dependency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situation that exists if it is necessary to only use a </a:t>
            </a:r>
            <a:r>
              <a:rPr lang="en-US" b="1" dirty="0"/>
              <a:t>subset</a:t>
            </a:r>
            <a:r>
              <a:rPr lang="en-US" dirty="0"/>
              <a:t> of the attributes of the composite determinant to identify its object uniquely.</a:t>
            </a:r>
          </a:p>
          <a:p>
            <a:endParaRPr lang="en-IE" dirty="0"/>
          </a:p>
        </p:txBody>
      </p:sp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30FF-CB3D-4FE2-AEDE-C6BA78E0BFB6}" type="slidenum">
              <a:rPr lang="en-IE"/>
              <a:pPr/>
              <a:t>17</a:t>
            </a:fld>
            <a:endParaRPr lang="en-IE"/>
          </a:p>
        </p:txBody>
      </p:sp>
      <p:pic>
        <p:nvPicPr>
          <p:cNvPr id="40" name="Picture 39" descr="Fig0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28966" y="3840334"/>
            <a:ext cx="8231632" cy="2471566"/>
          </a:xfrm>
          <a:prstGeom prst="rect">
            <a:avLst/>
          </a:prstGeom>
        </p:spPr>
      </p:pic>
      <p:sp>
        <p:nvSpPr>
          <p:cNvPr id="3" name="Lightning Bolt 2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Lightning Bolt 3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4819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964" name="AutoShap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Transitive Dependency</a:t>
            </a:r>
            <a:endParaRPr lang="en-GB" dirty="0"/>
          </a:p>
        </p:txBody>
      </p:sp>
      <p:sp>
        <p:nvSpPr>
          <p:cNvPr id="4008965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2938880"/>
          </a:xfrm>
        </p:spPr>
        <p:txBody>
          <a:bodyPr>
            <a:normAutofit fontScale="77500" lnSpcReduction="20000"/>
          </a:bodyPr>
          <a:lstStyle/>
          <a:p>
            <a:endParaRPr lang="en-IE" sz="400" dirty="0"/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0066FF"/>
                </a:solidFill>
              </a:rPr>
              <a:t>transitive dependency</a:t>
            </a:r>
            <a:r>
              <a:rPr lang="en-US" dirty="0"/>
              <a:t> exists when there is an intermediate functional dependency.</a:t>
            </a:r>
          </a:p>
          <a:p>
            <a:pPr lvl="1"/>
            <a:r>
              <a:rPr lang="en-US" dirty="0"/>
              <a:t>A condition in which an attribute is dependent on another attribute that is not part of the primary key.</a:t>
            </a:r>
            <a:endParaRPr lang="en-IE" dirty="0"/>
          </a:p>
          <a:p>
            <a:pPr lvl="2"/>
            <a:r>
              <a:rPr lang="en-IE" dirty="0"/>
              <a:t>i.e. an indirect functional dependency, </a:t>
            </a:r>
          </a:p>
          <a:p>
            <a:pPr lvl="2"/>
            <a:r>
              <a:rPr lang="en-IE" dirty="0"/>
              <a:t>one in which </a:t>
            </a:r>
            <a:r>
              <a:rPr lang="en-IE" b="1" dirty="0">
                <a:solidFill>
                  <a:srgbClr val="00B050"/>
                </a:solidFill>
              </a:rPr>
              <a:t>X</a:t>
            </a:r>
            <a:r>
              <a:rPr lang="en-IE" b="1" dirty="0">
                <a:solidFill>
                  <a:srgbClr val="0066FF"/>
                </a:solidFill>
              </a:rPr>
              <a:t> </a:t>
            </a:r>
            <a:r>
              <a:rPr lang="en-IE" b="1" dirty="0">
                <a:solidFill>
                  <a:srgbClr val="FF0000"/>
                </a:solidFill>
              </a:rPr>
              <a:t>→</a:t>
            </a:r>
            <a:r>
              <a:rPr lang="en-IE" b="1" dirty="0">
                <a:solidFill>
                  <a:srgbClr val="0066FF"/>
                </a:solidFill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Z</a:t>
            </a:r>
            <a:r>
              <a:rPr lang="en-IE" dirty="0"/>
              <a:t> only by virtue of </a:t>
            </a:r>
            <a:r>
              <a:rPr lang="en-IE" b="1" dirty="0">
                <a:solidFill>
                  <a:srgbClr val="00B050"/>
                </a:solidFill>
              </a:rPr>
              <a:t>X</a:t>
            </a:r>
            <a:r>
              <a:rPr lang="en-IE" dirty="0"/>
              <a:t> </a:t>
            </a:r>
            <a:r>
              <a:rPr lang="en-IE" b="1" dirty="0">
                <a:solidFill>
                  <a:srgbClr val="FF0000"/>
                </a:solidFill>
              </a:rPr>
              <a:t>→</a:t>
            </a:r>
            <a:r>
              <a:rPr lang="en-IE" dirty="0"/>
              <a:t> </a:t>
            </a:r>
            <a:r>
              <a:rPr lang="en-IE" b="1" dirty="0">
                <a:solidFill>
                  <a:srgbClr val="00B050"/>
                </a:solidFill>
              </a:rPr>
              <a:t>Y</a:t>
            </a:r>
            <a:r>
              <a:rPr lang="en-IE" dirty="0"/>
              <a:t> and </a:t>
            </a:r>
            <a:r>
              <a:rPr lang="en-IE" b="1" dirty="0">
                <a:solidFill>
                  <a:srgbClr val="00B050"/>
                </a:solidFill>
              </a:rPr>
              <a:t>Y</a:t>
            </a:r>
            <a:r>
              <a:rPr lang="en-IE" dirty="0"/>
              <a:t> </a:t>
            </a:r>
            <a:r>
              <a:rPr lang="en-IE" b="1" dirty="0">
                <a:solidFill>
                  <a:srgbClr val="FF0000"/>
                </a:solidFill>
              </a:rPr>
              <a:t>→</a:t>
            </a:r>
            <a:r>
              <a:rPr lang="en-IE" dirty="0"/>
              <a:t> </a:t>
            </a:r>
            <a:r>
              <a:rPr lang="en-IE" b="1" dirty="0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8EFD-8544-4FAF-A80A-2594AC6640A9}" type="slidenum">
              <a:rPr lang="en-IE" smtClean="0"/>
              <a:pPr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16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964" name="AutoShap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Transitive Dependency</a:t>
            </a:r>
            <a:br>
              <a:rPr lang="en-IE" dirty="0"/>
            </a:br>
            <a:r>
              <a:rPr lang="en-US" dirty="0">
                <a:solidFill>
                  <a:srgbClr val="C00000"/>
                </a:solidFill>
              </a:rPr>
              <a:t>Formal Notation</a:t>
            </a:r>
            <a:endParaRPr lang="en-GB" dirty="0"/>
          </a:p>
        </p:txBody>
      </p:sp>
      <p:sp>
        <p:nvSpPr>
          <p:cNvPr id="4008965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2938880"/>
          </a:xfrm>
        </p:spPr>
        <p:txBody>
          <a:bodyPr>
            <a:normAutofit/>
          </a:bodyPr>
          <a:lstStyle/>
          <a:p>
            <a:endParaRPr lang="en-IE" dirty="0"/>
          </a:p>
          <a:p>
            <a:pPr lvl="2"/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If </a:t>
            </a:r>
            <a:r>
              <a:rPr lang="en-US" sz="2800" b="1" dirty="0">
                <a:solidFill>
                  <a:srgbClr val="00B050"/>
                </a:solidFill>
              </a:rPr>
              <a:t>A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dirty="0">
                <a:sym typeface="Symbol" pitchFamily="18" charset="2"/>
              </a:rPr>
              <a:t>and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C</a:t>
            </a:r>
            <a:r>
              <a:rPr lang="en-US" sz="2800" dirty="0">
                <a:sym typeface="Symbol" pitchFamily="18" charset="2"/>
              </a:rPr>
              <a:t>, then it can be stated that the following transitive dependency exists:                                     </a:t>
            </a:r>
            <a:r>
              <a:rPr lang="en-US" sz="2800" b="1" dirty="0">
                <a:solidFill>
                  <a:srgbClr val="00B050"/>
                </a:solidFill>
              </a:rPr>
              <a:t>A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B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C</a:t>
            </a:r>
            <a:endParaRPr lang="en-IE" sz="2800" b="1" dirty="0">
              <a:solidFill>
                <a:srgbClr val="00B05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8EFD-8544-4FAF-A80A-2594AC6640A9}" type="slidenum">
              <a:rPr lang="en-IE" smtClean="0"/>
              <a:pPr/>
              <a:t>19</a:t>
            </a:fld>
            <a:endParaRPr lang="en-IE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16602" y="4941154"/>
            <a:ext cx="10449756" cy="48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b="1" dirty="0">
                <a:solidFill>
                  <a:schemeClr val="accent2"/>
                </a:solidFill>
                <a:latin typeface="Arial Narrow" pitchFamily="34" charset="0"/>
                <a:sym typeface="Symbol" pitchFamily="18" charset="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794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85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Transitive Dependency</a:t>
            </a:r>
          </a:p>
        </p:txBody>
      </p:sp>
      <p:sp>
        <p:nvSpPr>
          <p:cNvPr id="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B99CA-ECDC-479A-98C2-B2124B982B70}" type="slidenum">
              <a:rPr lang="en-IE"/>
              <a:pPr/>
              <a:t>20</a:t>
            </a:fld>
            <a:endParaRPr lang="en-IE"/>
          </a:p>
        </p:txBody>
      </p:sp>
      <p:sp>
        <p:nvSpPr>
          <p:cNvPr id="3918854" name="Text Box 6"/>
          <p:cNvSpPr txBox="1">
            <a:spLocks noChangeArrowheads="1"/>
          </p:cNvSpPr>
          <p:nvPr/>
        </p:nvSpPr>
        <p:spPr bwMode="auto">
          <a:xfrm>
            <a:off x="983229" y="1690688"/>
            <a:ext cx="105952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42307"/>
              </p:ext>
            </p:extLst>
          </p:nvPr>
        </p:nvGraphicFramePr>
        <p:xfrm>
          <a:off x="983229" y="2371794"/>
          <a:ext cx="5541295" cy="1828800"/>
        </p:xfrm>
        <a:graphic>
          <a:graphicData uri="http://schemas.openxmlformats.org/drawingml/2006/table">
            <a:tbl>
              <a:tblPr/>
              <a:tblGrid>
                <a:gridCol w="1370865">
                  <a:extLst>
                    <a:ext uri="{9D8B030D-6E8A-4147-A177-3AD203B41FA5}">
                      <a16:colId xmlns:a16="http://schemas.microsoft.com/office/drawing/2014/main" val="913173423"/>
                    </a:ext>
                  </a:extLst>
                </a:gridCol>
                <a:gridCol w="3054485">
                  <a:extLst>
                    <a:ext uri="{9D8B030D-6E8A-4147-A177-3AD203B41FA5}">
                      <a16:colId xmlns:a16="http://schemas.microsoft.com/office/drawing/2014/main" val="4266193455"/>
                    </a:ext>
                  </a:extLst>
                </a:gridCol>
                <a:gridCol w="1115945">
                  <a:extLst>
                    <a:ext uri="{9D8B030D-6E8A-4147-A177-3AD203B41FA5}">
                      <a16:colId xmlns:a16="http://schemas.microsoft.com/office/drawing/2014/main" val="1994028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Company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b="1" dirty="0">
                          <a:effectLst/>
                        </a:rPr>
                        <a:t>CEO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b="1" dirty="0">
                          <a:effectLst/>
                        </a:rPr>
                        <a:t>age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53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Microsoft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Satya Nadella</a:t>
                      </a:r>
                      <a:endParaRPr lang="en-IE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dirty="0">
                          <a:solidFill>
                            <a:srgbClr val="00B0F0"/>
                          </a:solidFill>
                          <a:effectLst/>
                        </a:rPr>
                        <a:t>56</a:t>
                      </a: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926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Alphabet/</a:t>
                      </a:r>
                    </a:p>
                    <a:p>
                      <a:pPr algn="l"/>
                      <a:r>
                        <a:rPr lang="en-US" dirty="0">
                          <a:effectLst/>
                        </a:rPr>
                        <a:t>Google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Sundar</a:t>
                      </a:r>
                      <a:r>
                        <a:rPr lang="en-I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E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Pichai</a:t>
                      </a:r>
                      <a:endParaRPr lang="en-IE" dirty="0">
                        <a:solidFill>
                          <a:srgbClr val="00B0F0"/>
                        </a:solidFill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dirty="0">
                          <a:solidFill>
                            <a:srgbClr val="00B0F0"/>
                          </a:solidFill>
                          <a:effectLst/>
                        </a:rPr>
                        <a:t>51</a:t>
                      </a: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0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Alibaba</a:t>
                      </a:r>
                      <a:endParaRPr lang="en-IE" dirty="0">
                        <a:effectLst/>
                      </a:endParaRP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dirty="0">
                          <a:solidFill>
                            <a:schemeClr val="tx1"/>
                          </a:solidFill>
                          <a:effectLst/>
                        </a:rPr>
                        <a:t>Jack Ma</a:t>
                      </a: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E" dirty="0">
                          <a:solidFill>
                            <a:srgbClr val="00B0F0"/>
                          </a:solidFill>
                          <a:effectLst/>
                        </a:rPr>
                        <a:t>59</a:t>
                      </a:r>
                    </a:p>
                  </a:txBody>
                  <a:tcPr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0359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83229" y="4607380"/>
            <a:ext cx="101442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</a:t>
            </a:r>
            <a:r>
              <a:rPr lang="en-US" sz="2400" b="1" dirty="0">
                <a:solidFill>
                  <a:srgbClr val="00B050"/>
                </a:solidFill>
              </a:rPr>
              <a:t>company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400" b="1" dirty="0">
                <a:sym typeface="Symbol" pitchFamily="18" charset="2"/>
              </a:rPr>
              <a:t> CEO </a:t>
            </a:r>
            <a:r>
              <a:rPr lang="en-US" sz="2400" dirty="0">
                <a:sym typeface="Symbol" pitchFamily="18" charset="2"/>
              </a:rPr>
              <a:t>and</a:t>
            </a:r>
            <a:r>
              <a:rPr lang="en-US" sz="2400" b="1" dirty="0">
                <a:sym typeface="Symbol" pitchFamily="18" charset="2"/>
              </a:rPr>
              <a:t> CEO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400" b="1" dirty="0"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Symbol" pitchFamily="18" charset="2"/>
              </a:rPr>
              <a:t>age</a:t>
            </a:r>
            <a:r>
              <a:rPr lang="en-US" sz="2400" dirty="0">
                <a:sym typeface="Symbol" pitchFamily="18" charset="2"/>
              </a:rPr>
              <a:t>, then it can be stated that the following transitive dependency exists:                                    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company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400" b="1" dirty="0">
                <a:sym typeface="Symbol" pitchFamily="18" charset="2"/>
              </a:rPr>
              <a:t> CEO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→</a:t>
            </a:r>
            <a:r>
              <a:rPr lang="en-US" sz="2400" b="1" dirty="0"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Symbol" pitchFamily="18" charset="2"/>
              </a:rPr>
              <a:t>age</a:t>
            </a:r>
            <a:endParaRPr 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865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55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Forms</a:t>
            </a:r>
            <a:r>
              <a:rPr lang="en-GB" dirty="0"/>
              <a:t>  </a:t>
            </a:r>
            <a:br>
              <a:rPr lang="en-GB" dirty="0"/>
            </a:br>
            <a:r>
              <a:rPr lang="en-US" dirty="0"/>
              <a:t>When is a table in </a:t>
            </a:r>
            <a:r>
              <a:rPr lang="en-US" dirty="0">
                <a:solidFill>
                  <a:srgbClr val="0066FF"/>
                </a:solidFill>
              </a:rPr>
              <a:t>1NF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99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table is in </a:t>
            </a:r>
            <a:r>
              <a:rPr lang="en-US" sz="3200" b="1" dirty="0"/>
              <a:t>1NF</a:t>
            </a:r>
            <a:r>
              <a:rPr lang="en-US" sz="3200" dirty="0"/>
              <a:t> when…</a:t>
            </a:r>
          </a:p>
          <a:p>
            <a:pPr lvl="1"/>
            <a:r>
              <a:rPr lang="en-US" sz="2800" dirty="0"/>
              <a:t>All the key attributes are defined (</a:t>
            </a:r>
            <a:r>
              <a:rPr lang="en-US" sz="2800" b="1" dirty="0">
                <a:solidFill>
                  <a:srgbClr val="0066FF"/>
                </a:solidFill>
              </a:rPr>
              <a:t>no repeating groups</a:t>
            </a:r>
            <a:r>
              <a:rPr lang="en-US" sz="2800" dirty="0"/>
              <a:t> in the table) and when,</a:t>
            </a:r>
          </a:p>
          <a:p>
            <a:pPr lvl="1"/>
            <a:r>
              <a:rPr lang="en-US" sz="2800" dirty="0"/>
              <a:t>All remaining attributes are </a:t>
            </a:r>
            <a:r>
              <a:rPr lang="en-US" sz="2800" b="1" dirty="0">
                <a:solidFill>
                  <a:srgbClr val="0066FF"/>
                </a:solidFill>
              </a:rPr>
              <a:t>dependent</a:t>
            </a:r>
            <a:r>
              <a:rPr lang="en-US" sz="2800" dirty="0"/>
              <a:t> on the primary key</a:t>
            </a:r>
          </a:p>
          <a:p>
            <a:pPr lvl="1"/>
            <a:r>
              <a:rPr lang="en-US" sz="2000" b="1" dirty="0"/>
              <a:t>Note: </a:t>
            </a:r>
            <a:r>
              <a:rPr lang="en-US" sz="2000" dirty="0"/>
              <a:t>A table in </a:t>
            </a:r>
            <a:r>
              <a:rPr lang="en-US" sz="2000" b="1" dirty="0"/>
              <a:t>1NF</a:t>
            </a:r>
            <a:r>
              <a:rPr lang="en-US" sz="2000" dirty="0"/>
              <a:t> still </a:t>
            </a:r>
            <a:r>
              <a:rPr lang="en-US" sz="2000" b="1" dirty="0"/>
              <a:t>may</a:t>
            </a:r>
            <a:r>
              <a:rPr lang="en-US" sz="2000" dirty="0"/>
              <a:t> </a:t>
            </a:r>
            <a:r>
              <a:rPr lang="en-US" sz="2000" b="1" dirty="0"/>
              <a:t>contain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66FF"/>
                </a:solidFill>
              </a:rPr>
              <a:t>partial dependencies</a:t>
            </a:r>
            <a:r>
              <a:rPr lang="en-US" sz="2000" dirty="0"/>
              <a:t>, i.e., dependencies based on </a:t>
            </a:r>
            <a:r>
              <a:rPr lang="en-US" sz="2000" b="1" dirty="0"/>
              <a:t>only</a:t>
            </a:r>
            <a:r>
              <a:rPr lang="en-US" sz="2000" dirty="0"/>
              <a:t> </a:t>
            </a:r>
            <a:r>
              <a:rPr lang="en-US" sz="2000" b="1" dirty="0"/>
              <a:t>part</a:t>
            </a:r>
            <a:r>
              <a:rPr lang="en-US" sz="2000" dirty="0"/>
              <a:t> of the primary key.</a:t>
            </a:r>
            <a:endParaRPr lang="en-GB" sz="2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CBC4-3321-462F-AE19-538735BDB06E}" type="slidenum">
              <a:rPr lang="en-IE" smtClean="0"/>
              <a:pPr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0229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55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Forms</a:t>
            </a:r>
            <a:br>
              <a:rPr lang="en-US" dirty="0"/>
            </a:br>
            <a:r>
              <a:rPr lang="en-US" dirty="0"/>
              <a:t>When is a table in </a:t>
            </a:r>
            <a:r>
              <a:rPr lang="en-US" dirty="0">
                <a:solidFill>
                  <a:srgbClr val="0066FF"/>
                </a:solidFill>
              </a:rPr>
              <a:t>2NF</a:t>
            </a:r>
            <a:r>
              <a:rPr lang="en-US" dirty="0"/>
              <a:t>?</a:t>
            </a:r>
            <a:r>
              <a:rPr lang="en-GB" dirty="0"/>
              <a:t> </a:t>
            </a:r>
          </a:p>
        </p:txBody>
      </p:sp>
      <p:sp>
        <p:nvSpPr>
          <p:cNvPr id="399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table is in </a:t>
            </a:r>
            <a:r>
              <a:rPr lang="en-US" sz="3200" b="1" dirty="0"/>
              <a:t>2NF</a:t>
            </a:r>
            <a:r>
              <a:rPr lang="en-US" sz="3200" dirty="0"/>
              <a:t> when</a:t>
            </a:r>
          </a:p>
          <a:p>
            <a:pPr lvl="1"/>
            <a:r>
              <a:rPr lang="en-US" sz="2800" dirty="0"/>
              <a:t>it is in </a:t>
            </a:r>
            <a:r>
              <a:rPr lang="en-US" sz="2800" b="1" dirty="0"/>
              <a:t>1NF</a:t>
            </a:r>
            <a:r>
              <a:rPr lang="en-US" sz="2800" dirty="0"/>
              <a:t> and,</a:t>
            </a:r>
          </a:p>
          <a:p>
            <a:pPr lvl="1"/>
            <a:r>
              <a:rPr lang="en-US" sz="2800" dirty="0"/>
              <a:t>it includes </a:t>
            </a:r>
            <a:r>
              <a:rPr lang="en-US" sz="2800" b="1" dirty="0">
                <a:solidFill>
                  <a:srgbClr val="0066FF"/>
                </a:solidFill>
              </a:rPr>
              <a:t>no partial dependencies</a:t>
            </a:r>
            <a:r>
              <a:rPr lang="en-US" sz="2800" dirty="0"/>
              <a:t>.</a:t>
            </a:r>
            <a:endParaRPr lang="en-US" sz="1000" dirty="0"/>
          </a:p>
          <a:p>
            <a:pPr>
              <a:buNone/>
            </a:pPr>
            <a:r>
              <a:rPr lang="en-US" sz="4000" dirty="0"/>
              <a:t>	</a:t>
            </a:r>
            <a:r>
              <a:rPr lang="en-US" sz="2000" b="1" dirty="0"/>
              <a:t>Note: </a:t>
            </a:r>
            <a:r>
              <a:rPr lang="en-US" sz="2000" dirty="0"/>
              <a:t>A table in </a:t>
            </a:r>
            <a:r>
              <a:rPr lang="en-US" sz="2000" b="1" dirty="0"/>
              <a:t>2NF</a:t>
            </a:r>
            <a:r>
              <a:rPr lang="en-US" sz="2000" dirty="0"/>
              <a:t> still </a:t>
            </a:r>
            <a:r>
              <a:rPr lang="en-US" sz="2000" b="1" dirty="0"/>
              <a:t>may</a:t>
            </a:r>
            <a:r>
              <a:rPr lang="en-US" sz="2000" dirty="0"/>
              <a:t> </a:t>
            </a:r>
            <a:r>
              <a:rPr lang="en-US" sz="2000" b="1" dirty="0"/>
              <a:t>contain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66FF"/>
                </a:solidFill>
              </a:rPr>
              <a:t>transitive dependencies</a:t>
            </a:r>
            <a:r>
              <a:rPr lang="en-US" sz="2000" dirty="0"/>
              <a:t>, i.e., dependencies based on attributes that are </a:t>
            </a:r>
            <a:r>
              <a:rPr lang="en-US" sz="2000" b="1" dirty="0"/>
              <a:t>not</a:t>
            </a:r>
            <a:r>
              <a:rPr lang="en-US" sz="2000" dirty="0"/>
              <a:t> </a:t>
            </a:r>
            <a:r>
              <a:rPr lang="en-US" sz="2000" b="1" dirty="0"/>
              <a:t>part</a:t>
            </a:r>
            <a:r>
              <a:rPr lang="en-US" sz="2000" dirty="0"/>
              <a:t> of the primary key.</a:t>
            </a:r>
          </a:p>
          <a:p>
            <a:pPr>
              <a:buNone/>
            </a:pP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CBC4-3321-462F-AE19-538735BDB06E}" type="slidenum">
              <a:rPr lang="en-IE" smtClean="0"/>
              <a:pPr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1654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554" name="AutoShap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Forms</a:t>
            </a:r>
            <a:r>
              <a:rPr lang="en-GB" dirty="0"/>
              <a:t> </a:t>
            </a:r>
            <a:br>
              <a:rPr lang="en-GB" dirty="0"/>
            </a:br>
            <a:r>
              <a:rPr lang="en-US" dirty="0"/>
              <a:t>When is a table in </a:t>
            </a:r>
            <a:r>
              <a:rPr lang="en-US" dirty="0">
                <a:solidFill>
                  <a:srgbClr val="0066FF"/>
                </a:solidFill>
              </a:rPr>
              <a:t>3NF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3991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table is in </a:t>
            </a:r>
            <a:r>
              <a:rPr lang="en-US" sz="3200" b="1" dirty="0"/>
              <a:t>3NF</a:t>
            </a:r>
            <a:r>
              <a:rPr lang="en-US" sz="3200" dirty="0"/>
              <a:t> when…</a:t>
            </a:r>
          </a:p>
          <a:p>
            <a:pPr lvl="1"/>
            <a:r>
              <a:rPr lang="en-US" sz="2800" dirty="0"/>
              <a:t>it is in </a:t>
            </a:r>
            <a:r>
              <a:rPr lang="en-US" sz="2800" b="1" dirty="0"/>
              <a:t>2NF</a:t>
            </a:r>
            <a:r>
              <a:rPr lang="en-US" sz="2800" dirty="0"/>
              <a:t>, and</a:t>
            </a:r>
          </a:p>
          <a:p>
            <a:pPr lvl="1"/>
            <a:r>
              <a:rPr lang="en-US" sz="2800" dirty="0"/>
              <a:t>it contains no </a:t>
            </a:r>
            <a:r>
              <a:rPr lang="en-US" sz="2800" b="1" dirty="0">
                <a:solidFill>
                  <a:srgbClr val="0066FF"/>
                </a:solidFill>
              </a:rPr>
              <a:t>transitive dependencies</a:t>
            </a:r>
            <a:r>
              <a:rPr lang="en-US" sz="2800" dirty="0"/>
              <a:t>.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6CBC4-3321-462F-AE19-538735BDB06E}" type="slidenum">
              <a:rPr lang="en-IE" smtClean="0"/>
              <a:pPr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0317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Un-</a:t>
            </a:r>
            <a:r>
              <a:rPr lang="en-US" dirty="0" err="1"/>
              <a:t>normalised</a:t>
            </a:r>
            <a:r>
              <a:rPr lang="en-US" dirty="0"/>
              <a:t> Normal Form (UNF </a:t>
            </a:r>
            <a:r>
              <a:rPr lang="en-US" b="0" dirty="0"/>
              <a:t>or</a:t>
            </a:r>
            <a:r>
              <a:rPr lang="en-US" dirty="0"/>
              <a:t> 0NF)</a:t>
            </a:r>
          </a:p>
        </p:txBody>
      </p:sp>
      <p:sp>
        <p:nvSpPr>
          <p:cNvPr id="3921923" name="Rectangle 3"/>
          <p:cNvSpPr>
            <a:spLocks noGrp="1" noChangeArrowheads="1"/>
          </p:cNvSpPr>
          <p:nvPr>
            <p:ph idx="1"/>
          </p:nvPr>
        </p:nvSpPr>
        <p:spPr>
          <a:xfrm>
            <a:off x="468549" y="1690688"/>
            <a:ext cx="11107366" cy="4301550"/>
          </a:xfrm>
        </p:spPr>
        <p:txBody>
          <a:bodyPr>
            <a:normAutofit lnSpcReduction="10000"/>
          </a:bodyPr>
          <a:lstStyle/>
          <a:p>
            <a:r>
              <a:rPr lang="en-IE" b="1" dirty="0"/>
              <a:t>Un-normalised</a:t>
            </a:r>
            <a:r>
              <a:rPr lang="en-US" b="1" dirty="0"/>
              <a:t> Normal Form (UNF </a:t>
            </a:r>
            <a:r>
              <a:rPr lang="en-US" dirty="0"/>
              <a:t>or</a:t>
            </a:r>
            <a:r>
              <a:rPr lang="en-US" b="1" dirty="0"/>
              <a:t> 0NF)</a:t>
            </a:r>
            <a:endParaRPr lang="en-IE" b="1" dirty="0"/>
          </a:p>
          <a:p>
            <a:pPr lvl="1"/>
            <a:r>
              <a:rPr lang="en-IE" b="1" dirty="0"/>
              <a:t>Definition:</a:t>
            </a:r>
            <a:r>
              <a:rPr lang="en-IE" dirty="0"/>
              <a:t> A relation is un-normalised when it has not had any normalisation rules applied to it, and it suffers from various anomalies.</a:t>
            </a:r>
          </a:p>
          <a:p>
            <a:pPr lvl="1"/>
            <a:r>
              <a:rPr lang="en-IE" sz="2400" dirty="0"/>
              <a:t>This only tends to occur where the relation has been designed using a ‘</a:t>
            </a:r>
            <a:r>
              <a:rPr lang="en-IE" sz="2400" i="1" dirty="0"/>
              <a:t>bottom-up approach</a:t>
            </a:r>
            <a:r>
              <a:rPr lang="en-IE" sz="2400" dirty="0"/>
              <a:t>’ i.e. the capturing of attributes to a ‘universal relation’ from a screen layout, manual report, manual document, etc...</a:t>
            </a:r>
          </a:p>
          <a:p>
            <a:endParaRPr lang="en-IE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D845-CEB0-4A63-BC62-3E377154D459}" type="slidenum">
              <a:rPr lang="en-IE" smtClean="0"/>
              <a:pPr/>
              <a:t>24</a:t>
            </a:fld>
            <a:endParaRPr lang="en-IE"/>
          </a:p>
        </p:txBody>
      </p:sp>
      <p:sp>
        <p:nvSpPr>
          <p:cNvPr id="3921924" name="Rectangle 4"/>
          <p:cNvSpPr>
            <a:spLocks noChangeArrowheads="1"/>
          </p:cNvSpPr>
          <p:nvPr/>
        </p:nvSpPr>
        <p:spPr bwMode="auto">
          <a:xfrm>
            <a:off x="2132014" y="3529014"/>
            <a:ext cx="820737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endParaRPr lang="en-US" sz="1900" b="1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56695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9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Logical Design (‘Bottom-up’ Approach)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2D9D-3B1E-46D4-A174-F5F84DAC7596}" type="slidenum">
              <a:rPr lang="en-IE"/>
              <a:pPr/>
              <a:t>25</a:t>
            </a:fld>
            <a:endParaRPr lang="en-IE"/>
          </a:p>
        </p:txBody>
      </p:sp>
      <p:pic>
        <p:nvPicPr>
          <p:cNvPr id="10" name="Picture 9" descr="orders for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7949" y="1690688"/>
            <a:ext cx="6498076" cy="522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12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Place in UNF</a:t>
            </a:r>
            <a:endParaRPr lang="en-IE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62109" cy="4351338"/>
          </a:xfrm>
        </p:spPr>
        <p:txBody>
          <a:bodyPr>
            <a:noAutofit/>
          </a:bodyPr>
          <a:lstStyle/>
          <a:p>
            <a:r>
              <a:rPr lang="en-IE" sz="2400" dirty="0"/>
              <a:t>Gather attributes in the following schema form: </a:t>
            </a:r>
          </a:p>
          <a:p>
            <a:r>
              <a:rPr lang="en-IE" sz="2400" b="1" dirty="0">
                <a:solidFill>
                  <a:srgbClr val="0066FF"/>
                </a:solidFill>
              </a:rPr>
              <a:t>Entity</a:t>
            </a:r>
            <a:r>
              <a:rPr lang="en-IE" sz="2400" dirty="0"/>
              <a:t>( non-repeating attributes (</a:t>
            </a:r>
            <a:r>
              <a:rPr lang="en-IE" sz="2400" dirty="0">
                <a:solidFill>
                  <a:srgbClr val="00B050"/>
                </a:solidFill>
              </a:rPr>
              <a:t>repeating attributes</a:t>
            </a:r>
            <a:r>
              <a:rPr lang="en-IE" sz="2400" dirty="0"/>
              <a:t>)* )</a:t>
            </a:r>
          </a:p>
          <a:p>
            <a:pPr>
              <a:buNone/>
            </a:pPr>
            <a:endParaRPr lang="en-IE" sz="700" dirty="0"/>
          </a:p>
          <a:p>
            <a:endParaRPr lang="en-IE" sz="2400" dirty="0"/>
          </a:p>
          <a:p>
            <a:endParaRPr lang="en-IE" sz="2400" dirty="0"/>
          </a:p>
          <a:p>
            <a:pPr>
              <a:buNone/>
            </a:pPr>
            <a:endParaRPr lang="en-IE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0F726-502A-4A13-B38C-4A07697E010C}" type="slidenum">
              <a:rPr lang="en-IE" smtClean="0"/>
              <a:pPr/>
              <a:t>26</a:t>
            </a:fld>
            <a:endParaRPr lang="en-IE"/>
          </a:p>
        </p:txBody>
      </p:sp>
      <p:pic>
        <p:nvPicPr>
          <p:cNvPr id="15" name="Picture 14" descr="orders for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5717" y="2064651"/>
            <a:ext cx="5378443" cy="43235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6844673" y="4319081"/>
            <a:ext cx="3943849" cy="1472726"/>
          </a:xfrm>
          <a:prstGeom prst="rect">
            <a:avLst/>
          </a:prstGeom>
          <a:noFill/>
          <a:ln w="57150" cap="sq" cmpd="sng" algn="ctr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10" name="Rectangle 9"/>
          <p:cNvSpPr/>
          <p:nvPr/>
        </p:nvSpPr>
        <p:spPr bwMode="auto">
          <a:xfrm>
            <a:off x="10913760" y="4319081"/>
            <a:ext cx="681610" cy="1818972"/>
          </a:xfrm>
          <a:prstGeom prst="rect">
            <a:avLst/>
          </a:prstGeom>
          <a:noFill/>
          <a:ln w="38100" cap="sq" cmpd="sng" algn="ctr">
            <a:solidFill>
              <a:srgbClr val="7030A0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3568926" y="4845717"/>
            <a:ext cx="245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b="1" dirty="0"/>
              <a:t>Repeating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688" y="941983"/>
            <a:ext cx="246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Calculated fields</a:t>
            </a: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9363848" y="1463676"/>
            <a:ext cx="1653570" cy="3541998"/>
          </a:xfrm>
          <a:prstGeom prst="straightConnector1">
            <a:avLst/>
          </a:prstGeom>
          <a:noFill/>
          <a:ln w="19050" cap="sq" cmpd="sng" algn="ctr">
            <a:solidFill>
              <a:srgbClr val="7030A0"/>
            </a:solidFill>
            <a:prstDash val="dash"/>
            <a:miter lim="800000"/>
            <a:headEnd type="none" w="sm" len="sm"/>
            <a:tailEnd type="stealth" w="lg" len="lg"/>
          </a:ln>
          <a:effectLst/>
        </p:spPr>
      </p:cxnSp>
      <p:cxnSp>
        <p:nvCxnSpPr>
          <p:cNvPr id="19" name="Straight Arrow Connector 18"/>
          <p:cNvCxnSpPr>
            <a:stCxn id="13" idx="3"/>
          </p:cNvCxnSpPr>
          <p:nvPr/>
        </p:nvCxnSpPr>
        <p:spPr bwMode="auto">
          <a:xfrm>
            <a:off x="6028023" y="5030383"/>
            <a:ext cx="527694" cy="247820"/>
          </a:xfrm>
          <a:prstGeom prst="straightConnector1">
            <a:avLst/>
          </a:prstGeom>
          <a:noFill/>
          <a:ln w="19050" cap="sq" cmpd="sng" algn="ctr">
            <a:solidFill>
              <a:srgbClr val="00B050"/>
            </a:solidFill>
            <a:prstDash val="dash"/>
            <a:miter lim="800000"/>
            <a:headEnd type="none" w="sm" len="sm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6265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Place in UNF</a:t>
            </a:r>
            <a:endParaRPr lang="en-IE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IE" sz="2400" b="1" dirty="0">
                <a:solidFill>
                  <a:srgbClr val="0066FF"/>
                </a:solidFill>
              </a:rPr>
              <a:t>Entity</a:t>
            </a:r>
            <a:r>
              <a:rPr lang="en-IE" sz="2400" dirty="0"/>
              <a:t>( non-repeating attributes (</a:t>
            </a:r>
            <a:r>
              <a:rPr lang="en-IE" sz="2400" dirty="0">
                <a:solidFill>
                  <a:srgbClr val="00B050"/>
                </a:solidFill>
              </a:rPr>
              <a:t>repeating attributes</a:t>
            </a:r>
            <a:r>
              <a:rPr lang="en-IE" sz="2400" dirty="0"/>
              <a:t>)* )</a:t>
            </a:r>
          </a:p>
          <a:p>
            <a:pPr>
              <a:buNone/>
            </a:pPr>
            <a:endParaRPr lang="en-IE" sz="700" dirty="0"/>
          </a:p>
          <a:p>
            <a:r>
              <a:rPr lang="en-IE" sz="2400" dirty="0"/>
              <a:t>Un-normalised</a:t>
            </a:r>
            <a:r>
              <a:rPr lang="en-US" sz="2400" dirty="0"/>
              <a:t> Normal Form (UNF or 0NF)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IE" sz="2400" b="1" dirty="0">
                <a:solidFill>
                  <a:srgbClr val="0066FF"/>
                </a:solidFill>
              </a:rPr>
              <a:t>Orders</a:t>
            </a:r>
            <a:r>
              <a:rPr lang="en-IE" sz="2400" dirty="0"/>
              <a:t>( </a:t>
            </a:r>
            <a:r>
              <a:rPr lang="en-IE" sz="2400" dirty="0" err="1"/>
              <a:t>cust_no,cust_name,cust_add</a:t>
            </a:r>
            <a:r>
              <a:rPr lang="en-IE" sz="2400" dirty="0"/>
              <a:t>, </a:t>
            </a:r>
            <a:r>
              <a:rPr lang="en-IE" sz="2400" b="1" u="sng" dirty="0" err="1"/>
              <a:t>order_no</a:t>
            </a:r>
            <a:r>
              <a:rPr lang="en-IE" sz="2400" dirty="0"/>
              <a:t>, </a:t>
            </a:r>
            <a:r>
              <a:rPr lang="en-IE" sz="2400" dirty="0" err="1"/>
              <a:t>order_date</a:t>
            </a:r>
            <a:r>
              <a:rPr lang="en-IE" sz="2400" dirty="0"/>
              <a:t>,(</a:t>
            </a:r>
            <a:r>
              <a:rPr lang="en-IE" sz="2400" dirty="0" err="1">
                <a:solidFill>
                  <a:srgbClr val="00B050"/>
                </a:solidFill>
              </a:rPr>
              <a:t>product_no</a:t>
            </a:r>
            <a:r>
              <a:rPr lang="en-IE" sz="2400" dirty="0">
                <a:solidFill>
                  <a:srgbClr val="00B050"/>
                </a:solidFill>
              </a:rPr>
              <a:t>, </a:t>
            </a:r>
            <a:r>
              <a:rPr lang="en-IE" sz="2400" dirty="0" err="1">
                <a:solidFill>
                  <a:srgbClr val="00B050"/>
                </a:solidFill>
              </a:rPr>
              <a:t>prod_desc_unit_price</a:t>
            </a:r>
            <a:r>
              <a:rPr lang="en-IE" sz="2400" dirty="0">
                <a:solidFill>
                  <a:srgbClr val="00B050"/>
                </a:solidFill>
              </a:rPr>
              <a:t>, </a:t>
            </a:r>
            <a:r>
              <a:rPr lang="en-IE" sz="2400" dirty="0" err="1">
                <a:solidFill>
                  <a:srgbClr val="00B050"/>
                </a:solidFill>
              </a:rPr>
              <a:t>order_qty</a:t>
            </a:r>
            <a:r>
              <a:rPr lang="en-IE" sz="2400" dirty="0">
                <a:solidFill>
                  <a:srgbClr val="00B050"/>
                </a:solidFill>
              </a:rPr>
              <a:t>, </a:t>
            </a:r>
            <a:r>
              <a:rPr lang="en-IE" sz="2400" dirty="0" err="1">
                <a:solidFill>
                  <a:srgbClr val="AD03A5"/>
                </a:solidFill>
              </a:rPr>
              <a:t>line_total</a:t>
            </a:r>
            <a:r>
              <a:rPr lang="en-IE" sz="2400" dirty="0"/>
              <a:t>)*, </a:t>
            </a:r>
            <a:r>
              <a:rPr lang="en-IE" sz="2400" dirty="0" err="1">
                <a:solidFill>
                  <a:srgbClr val="AD03A5"/>
                </a:solidFill>
              </a:rPr>
              <a:t>order_tota</a:t>
            </a:r>
            <a:r>
              <a:rPr lang="en-IE" sz="2400" dirty="0" err="1"/>
              <a:t>l</a:t>
            </a:r>
            <a:r>
              <a:rPr lang="en-IE" sz="2400" dirty="0"/>
              <a:t> 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0F726-502A-4A13-B38C-4A07697E010C}" type="slidenum">
              <a:rPr lang="en-IE" smtClean="0"/>
              <a:pPr/>
              <a:t>27</a:t>
            </a:fld>
            <a:endParaRPr lang="en-IE"/>
          </a:p>
        </p:txBody>
      </p:sp>
      <p:pic>
        <p:nvPicPr>
          <p:cNvPr id="7" name="Picture 6" descr="Fig1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206" y="3253156"/>
            <a:ext cx="11595587" cy="74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8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9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Normal Form (1NF)</a:t>
            </a:r>
          </a:p>
        </p:txBody>
      </p:sp>
      <p:sp>
        <p:nvSpPr>
          <p:cNvPr id="392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	Definition:</a:t>
            </a:r>
            <a:r>
              <a:rPr lang="en-US" dirty="0"/>
              <a:t> A relation is in </a:t>
            </a:r>
            <a:r>
              <a:rPr lang="en-US" b="1" dirty="0">
                <a:solidFill>
                  <a:srgbClr val="0000FF"/>
                </a:solidFill>
              </a:rPr>
              <a:t>1NF</a:t>
            </a:r>
            <a:r>
              <a:rPr lang="en-US" dirty="0"/>
              <a:t> if, and only if, all its underlying attributes contain ‘</a:t>
            </a:r>
            <a:r>
              <a:rPr lang="en-US" b="1" dirty="0"/>
              <a:t>atomic</a:t>
            </a:r>
            <a:r>
              <a:rPr lang="en-US" dirty="0"/>
              <a:t>’ values only.</a:t>
            </a:r>
          </a:p>
          <a:p>
            <a:pPr algn="ctr">
              <a:buNone/>
            </a:pPr>
            <a:r>
              <a:rPr lang="en-US" sz="3200" b="1" dirty="0"/>
              <a:t>Remove </a:t>
            </a:r>
            <a:r>
              <a:rPr lang="en-US" sz="3200" b="1" dirty="0">
                <a:solidFill>
                  <a:srgbClr val="0000FF"/>
                </a:solidFill>
              </a:rPr>
              <a:t>repeating groups</a:t>
            </a:r>
            <a:r>
              <a:rPr lang="en-US" sz="3200" b="1" dirty="0"/>
              <a:t> into a new relation</a:t>
            </a:r>
          </a:p>
          <a:p>
            <a:pPr algn="ctr">
              <a:buNone/>
            </a:pPr>
            <a:endParaRPr lang="en-GB" sz="2400" b="1" dirty="0">
              <a:solidFill>
                <a:srgbClr val="0000FF"/>
              </a:solidFill>
              <a:latin typeface="Arial" charset="0"/>
            </a:endParaRPr>
          </a:p>
          <a:p>
            <a:pPr algn="ctr">
              <a:buNone/>
            </a:pPr>
            <a:r>
              <a:rPr lang="en-GB" sz="2400" b="1" dirty="0">
                <a:solidFill>
                  <a:srgbClr val="0000FF"/>
                </a:solidFill>
                <a:latin typeface="Arial" charset="0"/>
              </a:rPr>
              <a:t>ORDERS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 (</a:t>
            </a:r>
            <a:r>
              <a:rPr lang="en-GB" sz="2400" b="1" u="sng" dirty="0">
                <a:latin typeface="Arial" charset="0"/>
              </a:rPr>
              <a:t>order_no</a:t>
            </a:r>
            <a:r>
              <a:rPr lang="en-GB" sz="2400" dirty="0">
                <a:latin typeface="Arial" charset="0"/>
              </a:rPr>
              <a:t>, order_date, cust_no, cust_name, cust_add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</a:p>
          <a:p>
            <a:pPr algn="ctr">
              <a:buNone/>
            </a:pPr>
            <a:r>
              <a:rPr lang="en-GB" sz="2400" dirty="0">
                <a:solidFill>
                  <a:schemeClr val="tx2"/>
                </a:solidFill>
                <a:latin typeface="Arial" charset="0"/>
              </a:rPr>
              <a:t>	   </a:t>
            </a:r>
            <a:r>
              <a:rPr lang="en-GB" sz="2400" dirty="0">
                <a:latin typeface="Arial" charset="0"/>
              </a:rPr>
              <a:t>(</a:t>
            </a:r>
            <a:r>
              <a:rPr lang="en-GB" sz="2400" b="1" dirty="0">
                <a:solidFill>
                  <a:srgbClr val="00B050"/>
                </a:solidFill>
                <a:latin typeface="Arial" charset="0"/>
              </a:rPr>
              <a:t>prod_no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GB" sz="2400" b="1" dirty="0">
                <a:solidFill>
                  <a:srgbClr val="00B050"/>
                </a:solidFill>
                <a:latin typeface="Arial" charset="0"/>
              </a:rPr>
              <a:t>prod_desc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GB" sz="2400" b="1" dirty="0">
                <a:solidFill>
                  <a:srgbClr val="00B050"/>
                </a:solidFill>
                <a:latin typeface="Arial" charset="0"/>
              </a:rPr>
              <a:t>unit_price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GB" sz="2400" b="1" dirty="0">
                <a:solidFill>
                  <a:srgbClr val="00B050"/>
                </a:solidFill>
                <a:latin typeface="Arial" charset="0"/>
              </a:rPr>
              <a:t>ord_qty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GB" sz="2400" b="1" dirty="0">
                <a:solidFill>
                  <a:srgbClr val="7030A0"/>
                </a:solidFill>
                <a:latin typeface="Arial" charset="0"/>
              </a:rPr>
              <a:t>line_total</a:t>
            </a:r>
            <a:r>
              <a:rPr lang="en-GB" sz="2400" dirty="0">
                <a:latin typeface="Arial" charset="0"/>
              </a:rPr>
              <a:t>)*</a:t>
            </a:r>
            <a:r>
              <a:rPr lang="en-GB" sz="2400" dirty="0">
                <a:solidFill>
                  <a:schemeClr val="tx2"/>
                </a:solidFill>
                <a:latin typeface="Arial" charset="0"/>
              </a:rPr>
              <a:t>, </a:t>
            </a:r>
            <a:r>
              <a:rPr lang="en-GB" sz="2400" b="1" dirty="0">
                <a:solidFill>
                  <a:srgbClr val="7030A0"/>
                </a:solidFill>
                <a:latin typeface="Arial" charset="0"/>
              </a:rPr>
              <a:t>order-total</a:t>
            </a:r>
            <a:r>
              <a:rPr lang="en-GB" sz="2400" dirty="0">
                <a:latin typeface="Arial" charset="0"/>
              </a:rPr>
              <a:t>)</a:t>
            </a:r>
            <a:endParaRPr lang="en-GB" sz="2400" b="1" dirty="0">
              <a:latin typeface="Arial" charset="0"/>
            </a:endParaRP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F131C-7ED4-4FE7-90AA-7D70899CD63C}" type="slidenum">
              <a:rPr lang="en-IE" smtClean="0"/>
              <a:pPr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3772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UNF to 1NF</a:t>
            </a:r>
            <a:endParaRPr lang="en-IE" b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C3300"/>
              </a:buClr>
              <a:buFont typeface="+mj-lt"/>
              <a:buAutoNum type="arabicPeriod"/>
            </a:pPr>
            <a:r>
              <a:rPr lang="en-US" b="1" dirty="0"/>
              <a:t>Remove</a:t>
            </a:r>
            <a:r>
              <a:rPr lang="en-US" dirty="0"/>
              <a:t> the outermost </a:t>
            </a:r>
            <a:r>
              <a:rPr lang="en-US" dirty="0">
                <a:solidFill>
                  <a:srgbClr val="0000FF"/>
                </a:solidFill>
              </a:rPr>
              <a:t>repeating group</a:t>
            </a:r>
            <a:r>
              <a:rPr lang="en-US" dirty="0"/>
              <a:t> (and any nested repeated groups it may contain) and create a new relation to contain it. Rename original to indicate </a:t>
            </a:r>
            <a:r>
              <a:rPr lang="en-US" dirty="0">
                <a:solidFill>
                  <a:srgbClr val="0000FF"/>
                </a:solidFill>
              </a:rPr>
              <a:t>1NF</a:t>
            </a:r>
            <a:r>
              <a:rPr lang="en-US" dirty="0"/>
              <a:t>.</a:t>
            </a: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29</a:t>
            </a:fld>
            <a:endParaRPr lang="en-IE"/>
          </a:p>
        </p:txBody>
      </p:sp>
      <p:pic>
        <p:nvPicPr>
          <p:cNvPr id="13" name="Picture 12" descr="Fig15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3071" y="3994531"/>
            <a:ext cx="8413353" cy="127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6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UNF to 1NF</a:t>
            </a:r>
            <a:endParaRPr lang="en-IE" b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C3300"/>
              </a:buClr>
              <a:buFont typeface="+mj-lt"/>
              <a:buAutoNum type="arabicPeriod" startAt="2"/>
            </a:pPr>
            <a:r>
              <a:rPr lang="en-US" b="1" dirty="0"/>
              <a:t> Add</a:t>
            </a:r>
            <a:r>
              <a:rPr lang="en-US" dirty="0"/>
              <a:t> to this relation a copy of the </a:t>
            </a:r>
            <a:r>
              <a:rPr lang="en-US" b="1" dirty="0"/>
              <a:t>PK</a:t>
            </a:r>
            <a:r>
              <a:rPr lang="en-US" dirty="0"/>
              <a:t> of the relation immediately enclosing it.</a:t>
            </a: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30</a:t>
            </a:fld>
            <a:endParaRPr lang="en-IE"/>
          </a:p>
        </p:txBody>
      </p:sp>
      <p:pic>
        <p:nvPicPr>
          <p:cNvPr id="14" name="Picture 13" descr="Fig15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0243" y="3648298"/>
            <a:ext cx="9232054" cy="144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1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UNF to 1NF</a:t>
            </a:r>
            <a:endParaRPr lang="en-IE" b="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698804" cy="4351338"/>
          </a:xfrm>
        </p:spPr>
        <p:txBody>
          <a:bodyPr>
            <a:normAutofit/>
          </a:bodyPr>
          <a:lstStyle/>
          <a:p>
            <a:endParaRPr lang="en-US" sz="1000" dirty="0"/>
          </a:p>
          <a:p>
            <a:pPr>
              <a:buClr>
                <a:srgbClr val="CC3300"/>
              </a:buClr>
              <a:buFont typeface="+mj-lt"/>
              <a:buAutoNum type="arabicPeriod" startAt="3"/>
            </a:pPr>
            <a:r>
              <a:rPr lang="en-US" b="1" dirty="0"/>
              <a:t> Name</a:t>
            </a:r>
            <a:r>
              <a:rPr lang="en-US" dirty="0"/>
              <a:t> the new entity (appending the number </a:t>
            </a:r>
            <a:r>
              <a:rPr lang="en-US" dirty="0">
                <a:solidFill>
                  <a:srgbClr val="0000FF"/>
                </a:solidFill>
              </a:rPr>
              <a:t>1</a:t>
            </a:r>
            <a:r>
              <a:rPr lang="en-US" dirty="0"/>
              <a:t> to indicate </a:t>
            </a:r>
            <a:r>
              <a:rPr lang="en-US" dirty="0">
                <a:solidFill>
                  <a:srgbClr val="0000FF"/>
                </a:solidFill>
              </a:rPr>
              <a:t>1NF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pPr>
              <a:buClr>
                <a:srgbClr val="C00000"/>
              </a:buClr>
              <a:buFont typeface="+mj-lt"/>
              <a:buAutoNum type="arabicPeriod" startAt="4"/>
            </a:pPr>
            <a:r>
              <a:rPr lang="en-US" b="1" dirty="0"/>
              <a:t>Determine</a:t>
            </a:r>
            <a:r>
              <a:rPr lang="en-US" dirty="0"/>
              <a:t> the </a:t>
            </a:r>
            <a:r>
              <a:rPr lang="en-US" b="1" dirty="0"/>
              <a:t>PK</a:t>
            </a:r>
            <a:r>
              <a:rPr lang="en-US" dirty="0"/>
              <a:t> of the new entity.</a:t>
            </a:r>
            <a:endParaRPr lang="en-GB" dirty="0"/>
          </a:p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31</a:t>
            </a:fld>
            <a:endParaRPr lang="en-IE"/>
          </a:p>
        </p:txBody>
      </p:sp>
      <p:pic>
        <p:nvPicPr>
          <p:cNvPr id="15" name="Picture 14" descr="Fig15-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64696" y="3111443"/>
            <a:ext cx="8903868" cy="565612"/>
          </a:xfrm>
          <a:prstGeom prst="rect">
            <a:avLst/>
          </a:prstGeom>
        </p:spPr>
      </p:pic>
      <p:pic>
        <p:nvPicPr>
          <p:cNvPr id="16" name="Picture 15" descr="Fig15-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64696" y="5391747"/>
            <a:ext cx="8872003" cy="57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9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32629"/>
                </a:solidFill>
                <a:latin typeface="-apple-system"/>
              </a:rPr>
              <a:t>Note on choosing PK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en-US" sz="3200" dirty="0">
                <a:solidFill>
                  <a:srgbClr val="232629"/>
                </a:solidFill>
                <a:latin typeface="-apple-system"/>
              </a:rPr>
              <a:t>Foreign Keys as part of a composite key can be used as PKs</a:t>
            </a:r>
          </a:p>
          <a:p>
            <a:pPr fontAlgn="base">
              <a:lnSpc>
                <a:spcPct val="100000"/>
              </a:lnSpc>
            </a:pPr>
            <a:r>
              <a:rPr lang="en-US" sz="3200" dirty="0">
                <a:solidFill>
                  <a:srgbClr val="232629"/>
                </a:solidFill>
                <a:latin typeface="-apple-system"/>
              </a:rPr>
              <a:t>A single Foreign key is usually not suitable as Primary Keys as they allow duplication</a:t>
            </a:r>
          </a:p>
          <a:p>
            <a:pPr fontAlgn="base">
              <a:lnSpc>
                <a:spcPct val="100000"/>
              </a:lnSpc>
            </a:pPr>
            <a:r>
              <a:rPr lang="en-US" sz="3200" dirty="0">
                <a:solidFill>
                  <a:srgbClr val="232629"/>
                </a:solidFill>
                <a:latin typeface="-apple-system"/>
              </a:rPr>
              <a:t>Alternatives:</a:t>
            </a:r>
          </a:p>
          <a:p>
            <a:pPr lvl="1" fontAlgn="base">
              <a:lnSpc>
                <a:spcPct val="100000"/>
              </a:lnSpc>
            </a:pPr>
            <a:r>
              <a:rPr lang="en-US" sz="2800" dirty="0">
                <a:solidFill>
                  <a:srgbClr val="232629"/>
                </a:solidFill>
                <a:latin typeface="-apple-system"/>
              </a:rPr>
              <a:t>Find a field that uniquely identifies each record in the table</a:t>
            </a:r>
          </a:p>
          <a:p>
            <a:pPr lvl="1" fontAlgn="base">
              <a:lnSpc>
                <a:spcPct val="100000"/>
              </a:lnSpc>
            </a:pPr>
            <a:r>
              <a:rPr lang="en-US" sz="2800" dirty="0">
                <a:solidFill>
                  <a:srgbClr val="232629"/>
                </a:solidFill>
                <a:latin typeface="-apple-system"/>
              </a:rPr>
              <a:t>Add a new field (auto-incrementing integer) to act as the primary key.</a:t>
            </a:r>
            <a:endParaRPr lang="en-US" sz="2800" b="0" i="0" dirty="0">
              <a:solidFill>
                <a:srgbClr val="232629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44409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0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Normal Form (2NF)</a:t>
            </a:r>
          </a:p>
        </p:txBody>
      </p:sp>
      <p:sp>
        <p:nvSpPr>
          <p:cNvPr id="392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C00000"/>
                </a:solidFill>
              </a:rPr>
              <a:t>Definition: </a:t>
            </a:r>
            <a:r>
              <a:rPr lang="en-US" dirty="0"/>
              <a:t>A relation is in </a:t>
            </a:r>
            <a:r>
              <a:rPr lang="en-US" b="1" dirty="0">
                <a:solidFill>
                  <a:srgbClr val="0000FF"/>
                </a:solidFill>
              </a:rPr>
              <a:t>2NF</a:t>
            </a:r>
            <a:r>
              <a:rPr lang="en-US" dirty="0"/>
              <a:t> if, and only if, it is in </a:t>
            </a:r>
            <a:r>
              <a:rPr lang="en-US" b="1" dirty="0">
                <a:solidFill>
                  <a:srgbClr val="0000FF"/>
                </a:solidFill>
              </a:rPr>
              <a:t>1NF</a:t>
            </a:r>
            <a:r>
              <a:rPr lang="en-US" dirty="0"/>
              <a:t> and every non-key attribute is </a:t>
            </a:r>
            <a:r>
              <a:rPr lang="en-US" b="1" dirty="0">
                <a:solidFill>
                  <a:srgbClr val="0000FF"/>
                </a:solidFill>
              </a:rPr>
              <a:t>fully dependent</a:t>
            </a:r>
            <a:r>
              <a:rPr lang="en-US" dirty="0"/>
              <a:t> on the primary key.</a:t>
            </a:r>
          </a:p>
          <a:p>
            <a:endParaRPr lang="en-US" sz="1000" dirty="0"/>
          </a:p>
          <a:p>
            <a:pPr>
              <a:buNone/>
            </a:pPr>
            <a:r>
              <a:rPr lang="en-US" sz="3200" b="1" dirty="0"/>
              <a:t>Remove </a:t>
            </a:r>
            <a:r>
              <a:rPr lang="en-US" sz="3200" b="1" dirty="0">
                <a:solidFill>
                  <a:srgbClr val="0000FF"/>
                </a:solidFill>
              </a:rPr>
              <a:t>partial functional dependencies</a:t>
            </a:r>
            <a:r>
              <a:rPr lang="en-US" sz="3200" b="1" dirty="0"/>
              <a:t> into a new relation.</a:t>
            </a:r>
          </a:p>
          <a:p>
            <a:pPr>
              <a:buNone/>
            </a:pPr>
            <a:r>
              <a:rPr lang="en-US" sz="3200" b="1" dirty="0"/>
              <a:t>Check each relation individually.</a:t>
            </a:r>
          </a:p>
          <a:p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8CA-B10B-425D-AF3F-90643DCDFB71}" type="slidenum">
              <a:rPr lang="en-IE" smtClean="0"/>
              <a:pPr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287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0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 (2NF)</a:t>
            </a:r>
            <a:br>
              <a:rPr lang="en-US" dirty="0"/>
            </a:br>
            <a:r>
              <a:rPr lang="en-US" dirty="0"/>
              <a:t>First relation check</a:t>
            </a:r>
          </a:p>
        </p:txBody>
      </p:sp>
      <p:sp>
        <p:nvSpPr>
          <p:cNvPr id="392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8CA-B10B-425D-AF3F-90643DCDFB71}" type="slidenum">
              <a:rPr lang="en-IE" smtClean="0"/>
              <a:pPr/>
              <a:t>34</a:t>
            </a:fld>
            <a:endParaRPr lang="en-IE"/>
          </a:p>
        </p:txBody>
      </p:sp>
      <p:pic>
        <p:nvPicPr>
          <p:cNvPr id="8" name="Picture 7" descr="Fig15-1.jpg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b="49205"/>
          <a:stretch/>
        </p:blipFill>
        <p:spPr>
          <a:xfrm>
            <a:off x="1354105" y="2707987"/>
            <a:ext cx="9483790" cy="731675"/>
          </a:xfrm>
          <a:prstGeom prst="rect">
            <a:avLst/>
          </a:prstGeom>
          <a:gradFill>
            <a:gsLst>
              <a:gs pos="0">
                <a:schemeClr val="bg1">
                  <a:lumMod val="50000"/>
                  <a:alpha val="22000"/>
                </a:schemeClr>
              </a:gs>
              <a:gs pos="74000">
                <a:schemeClr val="bg1">
                  <a:lumMod val="8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" name="TextBox 1"/>
          <p:cNvSpPr txBox="1"/>
          <p:nvPr/>
        </p:nvSpPr>
        <p:spPr>
          <a:xfrm>
            <a:off x="1354105" y="4820235"/>
            <a:ext cx="915176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Only one single primary key. No partial dependencies.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4008982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0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 (2NF)</a:t>
            </a:r>
            <a:br>
              <a:rPr lang="en-US" dirty="0"/>
            </a:br>
            <a:r>
              <a:rPr lang="en-US" dirty="0"/>
              <a:t>Second relation check</a:t>
            </a:r>
          </a:p>
        </p:txBody>
      </p:sp>
      <p:sp>
        <p:nvSpPr>
          <p:cNvPr id="392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348CA-B10B-425D-AF3F-90643DCDFB71}" type="slidenum">
              <a:rPr lang="en-IE" smtClean="0"/>
              <a:pPr/>
              <a:t>35</a:t>
            </a:fld>
            <a:endParaRPr lang="en-IE"/>
          </a:p>
        </p:txBody>
      </p:sp>
      <p:grpSp>
        <p:nvGrpSpPr>
          <p:cNvPr id="3" name="Group 2"/>
          <p:cNvGrpSpPr/>
          <p:nvPr/>
        </p:nvGrpSpPr>
        <p:grpSpPr>
          <a:xfrm>
            <a:off x="1297519" y="2373550"/>
            <a:ext cx="9207855" cy="2133708"/>
            <a:chOff x="1492072" y="3385226"/>
            <a:chExt cx="9207855" cy="2133708"/>
          </a:xfrm>
        </p:grpSpPr>
        <p:pic>
          <p:nvPicPr>
            <p:cNvPr id="7" name="Picture 6" descr="Fig15-4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2072" y="3970085"/>
              <a:ext cx="9207855" cy="593538"/>
            </a:xfrm>
            <a:prstGeom prst="rect">
              <a:avLst/>
            </a:prstGeom>
          </p:spPr>
        </p:pic>
        <p:sp>
          <p:nvSpPr>
            <p:cNvPr id="2" name="Curved Down Arrow 1"/>
            <p:cNvSpPr/>
            <p:nvPr/>
          </p:nvSpPr>
          <p:spPr>
            <a:xfrm flipH="1">
              <a:off x="5019472" y="3385226"/>
              <a:ext cx="1303507" cy="616068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schemeClr val="tx1"/>
                </a:solidFill>
              </a:endParaRPr>
            </a:p>
          </p:txBody>
        </p:sp>
        <p:sp>
          <p:nvSpPr>
            <p:cNvPr id="9" name="Curved Down Arrow 8"/>
            <p:cNvSpPr/>
            <p:nvPr/>
          </p:nvSpPr>
          <p:spPr>
            <a:xfrm flipH="1" flipV="1">
              <a:off x="5019472" y="4617362"/>
              <a:ext cx="2723744" cy="901572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354105" y="4820235"/>
            <a:ext cx="915176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Composite primary key. Partial dependencies found.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221219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1272" y="153503"/>
            <a:ext cx="10515600" cy="48292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0" dirty="0"/>
              <a:t>1NF to 2NF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Font typeface="+mj-lt"/>
              <a:buAutoNum type="arabicPeriod"/>
            </a:pPr>
            <a:endParaRPr lang="en-US" sz="2400" b="1" dirty="0"/>
          </a:p>
          <a:p>
            <a:pPr>
              <a:buClr>
                <a:srgbClr val="C00000"/>
              </a:buClr>
              <a:buFont typeface="+mj-lt"/>
              <a:buAutoNum type="arabicPeriod"/>
            </a:pPr>
            <a:r>
              <a:rPr lang="en-US" sz="2400" b="1" dirty="0"/>
              <a:t> Remove</a:t>
            </a:r>
            <a:r>
              <a:rPr lang="en-US" sz="2400" dirty="0"/>
              <a:t> the offending attributes that are only </a:t>
            </a:r>
            <a:r>
              <a:rPr lang="en-US" sz="2400" dirty="0">
                <a:solidFill>
                  <a:srgbClr val="0000FF"/>
                </a:solidFill>
              </a:rPr>
              <a:t>partially functionally dependent</a:t>
            </a:r>
            <a:r>
              <a:rPr lang="en-US" sz="2400" dirty="0"/>
              <a:t> on the composite key, and place them in a new relation.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300" dirty="0"/>
          </a:p>
          <a:p>
            <a:endParaRPr lang="en-US" sz="3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36</a:t>
            </a:fld>
            <a:endParaRPr lang="en-IE"/>
          </a:p>
        </p:txBody>
      </p:sp>
      <p:pic>
        <p:nvPicPr>
          <p:cNvPr id="13" name="Picture 12" descr="Fig15-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09392" y="1533058"/>
            <a:ext cx="9077480" cy="585134"/>
          </a:xfrm>
          <a:prstGeom prst="rect">
            <a:avLst/>
          </a:prstGeom>
        </p:spPr>
      </p:pic>
      <p:pic>
        <p:nvPicPr>
          <p:cNvPr id="14" name="Picture 13" descr="Fig16-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13491" y="4001294"/>
            <a:ext cx="5631161" cy="117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5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1272" y="153503"/>
            <a:ext cx="10515600" cy="48292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0" dirty="0"/>
              <a:t>1NF to 2NF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00" dirty="0"/>
          </a:p>
          <a:p>
            <a:pPr>
              <a:buClr>
                <a:srgbClr val="C00000"/>
              </a:buClr>
              <a:buFont typeface="+mj-lt"/>
              <a:buAutoNum type="arabicPeriod" startAt="2"/>
            </a:pPr>
            <a:r>
              <a:rPr lang="en-US" sz="2400" b="1" dirty="0"/>
              <a:t>Add</a:t>
            </a:r>
            <a:r>
              <a:rPr lang="en-US" sz="2400" dirty="0"/>
              <a:t> to this relation a copy of the attribute(s) which determines these offending attributes. These will automatically become the primary key of this new relation…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37</a:t>
            </a:fld>
            <a:endParaRPr lang="en-IE"/>
          </a:p>
        </p:txBody>
      </p:sp>
      <p:pic>
        <p:nvPicPr>
          <p:cNvPr id="13" name="Picture 12" descr="Fig15-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3216" y="1240491"/>
            <a:ext cx="9077480" cy="585134"/>
          </a:xfrm>
          <a:prstGeom prst="rect">
            <a:avLst/>
          </a:prstGeom>
        </p:spPr>
      </p:pic>
      <p:pic>
        <p:nvPicPr>
          <p:cNvPr id="12" name="Picture 11" descr="Fig16-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49732" y="4054121"/>
            <a:ext cx="5988574" cy="1251777"/>
          </a:xfrm>
          <a:prstGeom prst="rect">
            <a:avLst/>
          </a:prstGeom>
        </p:spPr>
      </p:pic>
      <p:sp>
        <p:nvSpPr>
          <p:cNvPr id="2" name="5-Point Star 1"/>
          <p:cNvSpPr/>
          <p:nvPr/>
        </p:nvSpPr>
        <p:spPr>
          <a:xfrm>
            <a:off x="9649837" y="4824919"/>
            <a:ext cx="2081719" cy="153143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FK?</a:t>
            </a:r>
            <a:endParaRPr lang="en-IE" sz="3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11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1NF to 2NF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873902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Clr>
                <a:srgbClr val="C00000"/>
              </a:buClr>
              <a:buFont typeface="+mj-lt"/>
              <a:buAutoNum type="arabicPeriod" startAt="3"/>
            </a:pPr>
            <a:r>
              <a:rPr lang="en-US" b="1" dirty="0"/>
              <a:t> Name</a:t>
            </a:r>
            <a:r>
              <a:rPr lang="en-US" dirty="0"/>
              <a:t> the new entity (appending the number 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 to indicate </a:t>
            </a:r>
            <a:r>
              <a:rPr lang="en-US" dirty="0">
                <a:solidFill>
                  <a:srgbClr val="0000FF"/>
                </a:solidFill>
              </a:rPr>
              <a:t>2NF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IE" sz="600" dirty="0"/>
          </a:p>
          <a:p>
            <a:pPr>
              <a:buClr>
                <a:srgbClr val="C00000"/>
              </a:buClr>
              <a:buFont typeface="+mj-lt"/>
              <a:buAutoNum type="arabicPeriod" startAt="4"/>
            </a:pPr>
            <a:r>
              <a:rPr lang="en-US" b="1" dirty="0"/>
              <a:t> Rename</a:t>
            </a:r>
            <a:r>
              <a:rPr lang="en-US" dirty="0"/>
              <a:t> the original entity (ending with a 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 to indicate </a:t>
            </a:r>
            <a:r>
              <a:rPr lang="en-US" dirty="0">
                <a:solidFill>
                  <a:srgbClr val="0000FF"/>
                </a:solidFill>
              </a:rPr>
              <a:t>2NF</a:t>
            </a:r>
            <a:r>
              <a:rPr lang="en-US" dirty="0"/>
              <a:t>).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38</a:t>
            </a:fld>
            <a:endParaRPr lang="en-IE"/>
          </a:p>
        </p:txBody>
      </p:sp>
      <p:pic>
        <p:nvPicPr>
          <p:cNvPr id="16" name="Picture 15" descr="Fig16-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0132" y="3525825"/>
            <a:ext cx="5046674" cy="520131"/>
          </a:xfrm>
          <a:prstGeom prst="rect">
            <a:avLst/>
          </a:prstGeom>
        </p:spPr>
      </p:pic>
      <p:pic>
        <p:nvPicPr>
          <p:cNvPr id="17" name="Picture 16" descr="Fig16-4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0132" y="5603346"/>
            <a:ext cx="6590161" cy="5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4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80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 Normal Form (3NF)</a:t>
            </a:r>
          </a:p>
        </p:txBody>
      </p:sp>
      <p:sp>
        <p:nvSpPr>
          <p:cNvPr id="392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C00000"/>
                </a:solidFill>
              </a:rPr>
              <a:t>Definition: </a:t>
            </a:r>
            <a:r>
              <a:rPr lang="en-US" dirty="0"/>
              <a:t>A relation is in </a:t>
            </a:r>
            <a:r>
              <a:rPr lang="en-US" b="1" dirty="0">
                <a:solidFill>
                  <a:srgbClr val="0000FF"/>
                </a:solidFill>
              </a:rPr>
              <a:t>3NF</a:t>
            </a:r>
            <a:r>
              <a:rPr lang="en-US" dirty="0"/>
              <a:t> if, and only if, it is in </a:t>
            </a:r>
            <a:r>
              <a:rPr lang="en-US" b="1" dirty="0">
                <a:solidFill>
                  <a:srgbClr val="0000FF"/>
                </a:solidFill>
              </a:rPr>
              <a:t>2NF</a:t>
            </a:r>
            <a:r>
              <a:rPr lang="en-US" dirty="0"/>
              <a:t> and every non-key attribute is </a:t>
            </a:r>
            <a:r>
              <a:rPr lang="en-US" b="1" dirty="0">
                <a:solidFill>
                  <a:srgbClr val="0000FF"/>
                </a:solidFill>
              </a:rPr>
              <a:t>non-transitively dependent</a:t>
            </a:r>
            <a:r>
              <a:rPr lang="en-US" dirty="0"/>
              <a:t> on the primary key.</a:t>
            </a:r>
          </a:p>
          <a:p>
            <a:endParaRPr lang="en-US" sz="1000" dirty="0"/>
          </a:p>
          <a:p>
            <a:pPr algn="ctr">
              <a:buNone/>
            </a:pPr>
            <a:r>
              <a:rPr lang="en-US" sz="3200" b="1" dirty="0"/>
              <a:t>Remove </a:t>
            </a:r>
            <a:r>
              <a:rPr lang="en-US" sz="3200" b="1" dirty="0">
                <a:solidFill>
                  <a:srgbClr val="0000FF"/>
                </a:solidFill>
              </a:rPr>
              <a:t>transitive dependencies</a:t>
            </a:r>
            <a:r>
              <a:rPr lang="en-US" sz="3200" b="1" dirty="0"/>
              <a:t> into a new relation</a:t>
            </a:r>
          </a:p>
          <a:p>
            <a:endParaRPr lang="en-GB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83AB8-858C-4B5E-98EE-DB5BF2BCB8EF}" type="slidenum">
              <a:rPr lang="en-IE" smtClean="0"/>
              <a:pPr/>
              <a:t>39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5329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80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 Normal Form (3NF)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83AB8-858C-4B5E-98EE-DB5BF2BCB8EF}" type="slidenum">
              <a:rPr lang="en-IE" smtClean="0"/>
              <a:pPr/>
              <a:t>40</a:t>
            </a:fld>
            <a:endParaRPr lang="en-IE"/>
          </a:p>
        </p:txBody>
      </p:sp>
      <p:grpSp>
        <p:nvGrpSpPr>
          <p:cNvPr id="5" name="Group 4"/>
          <p:cNvGrpSpPr/>
          <p:nvPr/>
        </p:nvGrpSpPr>
        <p:grpSpPr>
          <a:xfrm>
            <a:off x="1224249" y="2246938"/>
            <a:ext cx="8757951" cy="2294308"/>
            <a:chOff x="1518038" y="3355891"/>
            <a:chExt cx="8757951" cy="2294308"/>
          </a:xfrm>
        </p:grpSpPr>
        <p:pic>
          <p:nvPicPr>
            <p:cNvPr id="7" name="Picture 6" descr="Fig18-1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8038" y="4114648"/>
              <a:ext cx="8757951" cy="574084"/>
            </a:xfrm>
            <a:prstGeom prst="rect">
              <a:avLst/>
            </a:prstGeom>
          </p:spPr>
        </p:pic>
        <p:sp>
          <p:nvSpPr>
            <p:cNvPr id="2" name="Curved Down Arrow 1"/>
            <p:cNvSpPr/>
            <p:nvPr/>
          </p:nvSpPr>
          <p:spPr>
            <a:xfrm flipH="1">
              <a:off x="5544766" y="3355891"/>
              <a:ext cx="1575881" cy="758757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schemeClr val="tx1"/>
                </a:solidFill>
              </a:endParaRPr>
            </a:p>
          </p:txBody>
        </p:sp>
        <p:sp>
          <p:nvSpPr>
            <p:cNvPr id="10" name="Curved Down Arrow 9"/>
            <p:cNvSpPr/>
            <p:nvPr/>
          </p:nvSpPr>
          <p:spPr>
            <a:xfrm flipH="1" flipV="1">
              <a:off x="5544766" y="4891442"/>
              <a:ext cx="2723744" cy="758757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245140" y="5530632"/>
            <a:ext cx="6729581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/>
              <a:t>Cust_no</a:t>
            </a:r>
            <a:r>
              <a:rPr lang="en-US" sz="2800" dirty="0"/>
              <a:t> is not part of the primary key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870682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2557" y="190122"/>
            <a:ext cx="10515600" cy="5545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0" dirty="0"/>
              <a:t>2NF to 3NF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57865"/>
            <a:ext cx="10515600" cy="4719098"/>
          </a:xfrm>
        </p:spPr>
        <p:txBody>
          <a:bodyPr>
            <a:normAutofit/>
          </a:bodyPr>
          <a:lstStyle/>
          <a:p>
            <a:endParaRPr lang="en-US" sz="500" dirty="0"/>
          </a:p>
          <a:p>
            <a:pPr marL="0" indent="0">
              <a:buClr>
                <a:srgbClr val="C00000"/>
              </a:buClr>
              <a:buNone/>
            </a:pPr>
            <a:endParaRPr lang="en-US" b="1" dirty="0"/>
          </a:p>
          <a:p>
            <a:pPr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Remove</a:t>
            </a:r>
            <a:r>
              <a:rPr lang="en-US" dirty="0"/>
              <a:t> the offending attributes that are </a:t>
            </a:r>
            <a:r>
              <a:rPr lang="en-US" dirty="0">
                <a:solidFill>
                  <a:srgbClr val="0000FF"/>
                </a:solidFill>
              </a:rPr>
              <a:t>transitively dependent</a:t>
            </a:r>
            <a:r>
              <a:rPr lang="en-US" dirty="0"/>
              <a:t> on non-key attributes, and place them in a new relation.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41</a:t>
            </a:fld>
            <a:endParaRPr lang="en-IE"/>
          </a:p>
        </p:txBody>
      </p:sp>
      <p:pic>
        <p:nvPicPr>
          <p:cNvPr id="12" name="Picture 11" descr="Fig18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7936" y="1457865"/>
            <a:ext cx="8347272" cy="547164"/>
          </a:xfrm>
          <a:prstGeom prst="rect">
            <a:avLst/>
          </a:prstGeom>
        </p:spPr>
      </p:pic>
      <p:pic>
        <p:nvPicPr>
          <p:cNvPr id="18" name="Picture 17" descr="Fig18-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76210" y="4109492"/>
            <a:ext cx="5408290" cy="11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7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2557" y="190122"/>
            <a:ext cx="10515600" cy="5545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0" dirty="0"/>
              <a:t>2NF to 3NF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457865"/>
            <a:ext cx="10515600" cy="4719098"/>
          </a:xfrm>
        </p:spPr>
        <p:txBody>
          <a:bodyPr>
            <a:normAutofit/>
          </a:bodyPr>
          <a:lstStyle/>
          <a:p>
            <a:endParaRPr lang="en-US" sz="500" dirty="0"/>
          </a:p>
          <a:p>
            <a:endParaRPr lang="en-US" sz="400" dirty="0"/>
          </a:p>
          <a:p>
            <a:pPr>
              <a:buClr>
                <a:srgbClr val="C00000"/>
              </a:buClr>
              <a:buFont typeface="+mj-lt"/>
              <a:buAutoNum type="arabicPeriod" startAt="2"/>
            </a:pPr>
            <a:r>
              <a:rPr lang="en-US" b="1" dirty="0"/>
              <a:t>Add</a:t>
            </a:r>
            <a:r>
              <a:rPr lang="en-US" dirty="0"/>
              <a:t> to this relation a copy of the attribute(s) which determines these offending attributes. These will automatically become the primary key of this new relation…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42</a:t>
            </a:fld>
            <a:endParaRPr lang="en-IE"/>
          </a:p>
        </p:txBody>
      </p:sp>
      <p:pic>
        <p:nvPicPr>
          <p:cNvPr id="12" name="Picture 11" descr="Fig18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22364" y="1246579"/>
            <a:ext cx="8347272" cy="547164"/>
          </a:xfrm>
          <a:prstGeom prst="rect">
            <a:avLst/>
          </a:prstGeom>
        </p:spPr>
      </p:pic>
      <p:pic>
        <p:nvPicPr>
          <p:cNvPr id="19" name="Picture 18" descr="Fig18-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22364" y="4418664"/>
            <a:ext cx="6232604" cy="1359566"/>
          </a:xfrm>
          <a:prstGeom prst="rect">
            <a:avLst/>
          </a:prstGeom>
        </p:spPr>
      </p:pic>
      <p:sp>
        <p:nvSpPr>
          <p:cNvPr id="8" name="5-Point Star 7"/>
          <p:cNvSpPr/>
          <p:nvPr/>
        </p:nvSpPr>
        <p:spPr>
          <a:xfrm>
            <a:off x="9584031" y="4963031"/>
            <a:ext cx="2081719" cy="153143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ysClr val="windowText" lastClr="000000"/>
                </a:solidFill>
              </a:rPr>
              <a:t>FK?</a:t>
            </a:r>
            <a:endParaRPr lang="en-IE" sz="3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49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2NF to 3NF</a:t>
            </a:r>
            <a:endParaRPr lang="en-IE" b="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+mj-lt"/>
              <a:buAutoNum type="arabicPeriod" startAt="3"/>
            </a:pPr>
            <a:r>
              <a:rPr lang="en-US" b="1" dirty="0"/>
              <a:t>Name</a:t>
            </a:r>
            <a:r>
              <a:rPr lang="en-US" dirty="0"/>
              <a:t> the new entity (appending the number 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 to indicate </a:t>
            </a:r>
            <a:r>
              <a:rPr lang="en-US" dirty="0">
                <a:solidFill>
                  <a:srgbClr val="0000FF"/>
                </a:solidFill>
              </a:rPr>
              <a:t>3NF</a:t>
            </a:r>
            <a:r>
              <a:rPr lang="en-US" dirty="0"/>
              <a:t>).</a:t>
            </a:r>
          </a:p>
          <a:p>
            <a:endParaRPr lang="en-IE" dirty="0"/>
          </a:p>
          <a:p>
            <a:endParaRPr lang="en-US" sz="600" dirty="0"/>
          </a:p>
          <a:p>
            <a:endParaRPr lang="en-IE" sz="600" dirty="0"/>
          </a:p>
          <a:p>
            <a:pPr>
              <a:buClr>
                <a:srgbClr val="C00000"/>
              </a:buClr>
              <a:buFont typeface="+mj-lt"/>
              <a:buAutoNum type="arabicPeriod" startAt="4"/>
            </a:pPr>
            <a:r>
              <a:rPr lang="en-US" b="1" dirty="0"/>
              <a:t>Rename</a:t>
            </a:r>
            <a:r>
              <a:rPr lang="en-US" dirty="0"/>
              <a:t> the original entity (ending with a 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 to indicate </a:t>
            </a:r>
            <a:r>
              <a:rPr lang="en-US" dirty="0">
                <a:solidFill>
                  <a:srgbClr val="0000FF"/>
                </a:solidFill>
              </a:rPr>
              <a:t>3NF</a:t>
            </a:r>
            <a:r>
              <a:rPr lang="en-US" dirty="0"/>
              <a:t>).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3A4D-B6E1-4BA8-8E72-E8BBC188521C}" type="slidenum">
              <a:rPr lang="en-IE" smtClean="0"/>
              <a:pPr/>
              <a:t>43</a:t>
            </a:fld>
            <a:endParaRPr lang="en-IE"/>
          </a:p>
        </p:txBody>
      </p:sp>
      <p:pic>
        <p:nvPicPr>
          <p:cNvPr id="20" name="Picture 19" descr="Fig18-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8426" y="3180913"/>
            <a:ext cx="5049873" cy="508360"/>
          </a:xfrm>
          <a:prstGeom prst="rect">
            <a:avLst/>
          </a:prstGeom>
        </p:spPr>
      </p:pic>
      <p:pic>
        <p:nvPicPr>
          <p:cNvPr id="21" name="Picture 20" descr="Fig18-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18426" y="5197696"/>
            <a:ext cx="6480011" cy="58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2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011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b="0" dirty="0"/>
              <a:t>Relations in Highest Normal Form</a:t>
            </a:r>
          </a:p>
        </p:txBody>
      </p:sp>
      <p:sp>
        <p:nvSpPr>
          <p:cNvPr id="393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Logical Schema:</a:t>
            </a:r>
          </a:p>
          <a:p>
            <a:pPr>
              <a:buNone/>
            </a:pPr>
            <a:r>
              <a:rPr lang="en-GB" b="1" dirty="0">
                <a:solidFill>
                  <a:srgbClr val="0000FF"/>
                </a:solidFill>
              </a:rPr>
              <a:t>	ORDERS-3</a:t>
            </a:r>
            <a:r>
              <a:rPr lang="en-GB" dirty="0"/>
              <a:t> (</a:t>
            </a:r>
            <a:r>
              <a:rPr lang="en-GB" b="1" u="sng" dirty="0"/>
              <a:t>order_no</a:t>
            </a:r>
            <a:r>
              <a:rPr lang="en-GB" dirty="0"/>
              <a:t>, order_date, cust_no)</a:t>
            </a:r>
          </a:p>
          <a:p>
            <a:pPr>
              <a:buNone/>
            </a:pPr>
            <a:r>
              <a:rPr lang="en-GB" b="1" dirty="0">
                <a:solidFill>
                  <a:srgbClr val="0000FF"/>
                </a:solidFill>
              </a:rPr>
              <a:t>	CUSTOMERS-3</a:t>
            </a:r>
            <a:r>
              <a:rPr lang="en-GB" dirty="0"/>
              <a:t> (</a:t>
            </a:r>
            <a:r>
              <a:rPr lang="en-GB" b="1" u="sng" dirty="0"/>
              <a:t>cust_no</a:t>
            </a:r>
            <a:r>
              <a:rPr lang="en-GB" dirty="0"/>
              <a:t>, cust_name, cust_add)</a:t>
            </a:r>
          </a:p>
          <a:p>
            <a:pPr>
              <a:buNone/>
            </a:pPr>
            <a:r>
              <a:rPr lang="en-GB" b="1" dirty="0">
                <a:solidFill>
                  <a:srgbClr val="0000FF"/>
                </a:solidFill>
              </a:rPr>
              <a:t>	PRODUCTS-3</a:t>
            </a:r>
            <a:r>
              <a:rPr lang="en-GB" dirty="0"/>
              <a:t> (</a:t>
            </a:r>
            <a:r>
              <a:rPr lang="en-GB" b="1" u="sng" dirty="0"/>
              <a:t>prod_no</a:t>
            </a:r>
            <a:r>
              <a:rPr lang="en-GB" dirty="0"/>
              <a:t>, prod_desc, unit_price)</a:t>
            </a:r>
          </a:p>
          <a:p>
            <a:pPr>
              <a:buNone/>
            </a:pPr>
            <a:r>
              <a:rPr lang="en-GB" b="1" dirty="0">
                <a:solidFill>
                  <a:srgbClr val="0000FF"/>
                </a:solidFill>
              </a:rPr>
              <a:t>	ORDER-LINES-3</a:t>
            </a:r>
            <a:r>
              <a:rPr lang="en-GB" dirty="0"/>
              <a:t> (</a:t>
            </a:r>
            <a:r>
              <a:rPr lang="en-GB" b="1" u="sng" dirty="0"/>
              <a:t>order_no</a:t>
            </a:r>
            <a:r>
              <a:rPr lang="en-GB" u="sng" dirty="0"/>
              <a:t>, </a:t>
            </a:r>
            <a:r>
              <a:rPr lang="en-GB" b="1" u="sng" dirty="0"/>
              <a:t>prod_no</a:t>
            </a:r>
            <a:r>
              <a:rPr lang="en-GB" dirty="0"/>
              <a:t>, ord_qty)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307-7470-4568-A539-273463708D32}" type="slidenum">
              <a:rPr lang="en-IE" smtClean="0"/>
              <a:pPr/>
              <a:t>44</a:t>
            </a:fld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1150066" y="5653743"/>
            <a:ext cx="8046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Note! Calculated fields are removed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159078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r>
              <a:rPr lang="en-US" b="0" dirty="0"/>
              <a:t> E-R Diagrams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0F726-502A-4A13-B38C-4A07697E010C}" type="slidenum">
              <a:rPr lang="en-IE" smtClean="0"/>
              <a:pPr/>
              <a:t>45</a:t>
            </a:fld>
            <a:endParaRPr lang="en-IE"/>
          </a:p>
        </p:txBody>
      </p:sp>
      <p:pic>
        <p:nvPicPr>
          <p:cNvPr id="8" name="Picture 7" descr="Fig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53" y="1868624"/>
            <a:ext cx="6067978" cy="35908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3171" y="6154814"/>
            <a:ext cx="291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Basic E-R Diagram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6517531" y="2798340"/>
            <a:ext cx="6301362" cy="138175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ORDERS-3</a:t>
            </a:r>
            <a:r>
              <a:rPr lang="en-GB" kern="0" dirty="0"/>
              <a:t> (</a:t>
            </a:r>
            <a:r>
              <a:rPr lang="en-GB" b="1" u="sng" kern="0" dirty="0"/>
              <a:t>order_no</a:t>
            </a:r>
            <a:r>
              <a:rPr lang="en-GB" kern="0" dirty="0"/>
              <a:t>, order_date, cust_no)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CUSTOMERS-3</a:t>
            </a:r>
            <a:r>
              <a:rPr lang="en-GB" kern="0" dirty="0"/>
              <a:t> (</a:t>
            </a:r>
            <a:r>
              <a:rPr lang="en-GB" b="1" u="sng" kern="0" dirty="0"/>
              <a:t>cust_no</a:t>
            </a:r>
            <a:r>
              <a:rPr lang="en-GB" kern="0" dirty="0"/>
              <a:t>, cust_name, cust_add)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PRODUCTS-3</a:t>
            </a:r>
            <a:r>
              <a:rPr lang="en-GB" kern="0" dirty="0"/>
              <a:t> (</a:t>
            </a:r>
            <a:r>
              <a:rPr lang="en-GB" b="1" u="sng" kern="0" dirty="0"/>
              <a:t>prod_no</a:t>
            </a:r>
            <a:r>
              <a:rPr lang="en-GB" kern="0" dirty="0"/>
              <a:t>, prod_desc, unit_price)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ORDER-LINES-3</a:t>
            </a:r>
            <a:r>
              <a:rPr lang="en-GB" kern="0" dirty="0"/>
              <a:t> (</a:t>
            </a:r>
            <a:r>
              <a:rPr lang="en-GB" b="1" u="sng" kern="0" dirty="0"/>
              <a:t>order_no</a:t>
            </a:r>
            <a:r>
              <a:rPr lang="en-GB" u="sng" kern="0" dirty="0"/>
              <a:t>, </a:t>
            </a:r>
            <a:r>
              <a:rPr lang="en-GB" b="1" u="sng" kern="0" dirty="0"/>
              <a:t>prod_no</a:t>
            </a:r>
            <a:r>
              <a:rPr lang="en-GB" kern="0" dirty="0"/>
              <a:t>, ord_qty)</a:t>
            </a:r>
            <a:endParaRPr lang="en-US" kern="0" dirty="0"/>
          </a:p>
        </p:txBody>
      </p:sp>
      <p:sp>
        <p:nvSpPr>
          <p:cNvPr id="2" name="TextBox 1"/>
          <p:cNvSpPr txBox="1"/>
          <p:nvPr/>
        </p:nvSpPr>
        <p:spPr>
          <a:xfrm>
            <a:off x="7274257" y="4599296"/>
            <a:ext cx="24293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Also in 3-NF</a:t>
            </a:r>
            <a:endParaRPr lang="en-IE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6305266" y="4831307"/>
            <a:ext cx="791570" cy="2729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322395" y="4599296"/>
            <a:ext cx="4951862" cy="4439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0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r>
              <a:rPr lang="en-US" b="0" dirty="0"/>
              <a:t> E-R Diagrams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0F726-502A-4A13-B38C-4A07697E010C}" type="slidenum">
              <a:rPr lang="en-IE" smtClean="0"/>
              <a:pPr/>
              <a:t>46</a:t>
            </a:fld>
            <a:endParaRPr lang="en-IE"/>
          </a:p>
        </p:txBody>
      </p:sp>
      <p:sp>
        <p:nvSpPr>
          <p:cNvPr id="12" name="TextBox 11"/>
          <p:cNvSpPr txBox="1"/>
          <p:nvPr/>
        </p:nvSpPr>
        <p:spPr>
          <a:xfrm>
            <a:off x="6731642" y="5643408"/>
            <a:ext cx="3634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Fully-Attributed Key-Based E-R Diagram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6600230" y="2698806"/>
            <a:ext cx="6301362" cy="138175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ORDERS-3</a:t>
            </a:r>
            <a:r>
              <a:rPr lang="en-GB" kern="0" dirty="0"/>
              <a:t> (</a:t>
            </a:r>
            <a:r>
              <a:rPr lang="en-GB" b="1" u="sng" kern="0" dirty="0"/>
              <a:t>order_no</a:t>
            </a:r>
            <a:r>
              <a:rPr lang="en-GB" kern="0" dirty="0"/>
              <a:t>, order_date, cust_no)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CUSTOMERS-3</a:t>
            </a:r>
            <a:r>
              <a:rPr lang="en-GB" kern="0" dirty="0"/>
              <a:t> (</a:t>
            </a:r>
            <a:r>
              <a:rPr lang="en-GB" b="1" u="sng" kern="0" dirty="0"/>
              <a:t>cust_no</a:t>
            </a:r>
            <a:r>
              <a:rPr lang="en-GB" kern="0" dirty="0"/>
              <a:t>, cust_name, cust_add)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PRODUCTS-3</a:t>
            </a:r>
            <a:r>
              <a:rPr lang="en-GB" kern="0" dirty="0"/>
              <a:t> (</a:t>
            </a:r>
            <a:r>
              <a:rPr lang="en-GB" b="1" u="sng" kern="0" dirty="0"/>
              <a:t>prod_no</a:t>
            </a:r>
            <a:r>
              <a:rPr lang="en-GB" kern="0" dirty="0"/>
              <a:t>, prod_desc, unit_price)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defRPr/>
            </a:pPr>
            <a:r>
              <a:rPr lang="en-GB" b="1" kern="0" dirty="0">
                <a:solidFill>
                  <a:srgbClr val="0000FF"/>
                </a:solidFill>
              </a:rPr>
              <a:t>ORDER-LINES-3</a:t>
            </a:r>
            <a:r>
              <a:rPr lang="en-GB" kern="0" dirty="0"/>
              <a:t> (</a:t>
            </a:r>
            <a:r>
              <a:rPr lang="en-GB" b="1" u="sng" kern="0" dirty="0"/>
              <a:t>order_no</a:t>
            </a:r>
            <a:r>
              <a:rPr lang="en-GB" u="sng" kern="0" dirty="0"/>
              <a:t>, </a:t>
            </a:r>
            <a:r>
              <a:rPr lang="en-GB" b="1" u="sng" kern="0" dirty="0"/>
              <a:t>prod_no</a:t>
            </a:r>
            <a:r>
              <a:rPr lang="en-GB" kern="0" dirty="0"/>
              <a:t>, ord_qty)</a:t>
            </a:r>
            <a:endParaRPr lang="en-US" kern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72" y="1690688"/>
            <a:ext cx="6111981" cy="48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8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Normalisation</a:t>
            </a:r>
            <a:r>
              <a:rPr lang="en-US" dirty="0"/>
              <a:t> Example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0462728"/>
              </p:ext>
            </p:extLst>
          </p:nvPr>
        </p:nvGraphicFramePr>
        <p:xfrm>
          <a:off x="838199" y="1825625"/>
          <a:ext cx="104075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511">
                  <a:extLst>
                    <a:ext uri="{9D8B030D-6E8A-4147-A177-3AD203B41FA5}">
                      <a16:colId xmlns:a16="http://schemas.microsoft.com/office/drawing/2014/main" val="1889476088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94176239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142982404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3550636667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05748214"/>
                    </a:ext>
                  </a:extLst>
                </a:gridCol>
              </a:tblGrid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PPS</a:t>
                      </a:r>
                      <a:r>
                        <a:rPr lang="en-US" baseline="0" dirty="0"/>
                        <a:t> number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Empl_Name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Empl_Role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Empl_salary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Empl_email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2550079045"/>
                  </a:ext>
                </a:extLst>
              </a:tr>
              <a:tr h="890131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Mary Smith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mary@tup.ie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4"/>
                        </a:rPr>
                        <a:t>m.white@tup.ie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5"/>
                        </a:rPr>
                        <a:t>whitem@tup.ie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1265440727"/>
                  </a:ext>
                </a:extLst>
              </a:tr>
              <a:tr h="468490">
                <a:tc>
                  <a:txBody>
                    <a:bodyPr/>
                    <a:lstStyle/>
                    <a:p>
                      <a:r>
                        <a:rPr lang="en-US" dirty="0"/>
                        <a:t>432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Murphy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John.murphy@tup.ie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999558021"/>
                  </a:ext>
                </a:extLst>
              </a:tr>
              <a:tr h="609037">
                <a:tc>
                  <a:txBody>
                    <a:bodyPr/>
                    <a:lstStyle/>
                    <a:p>
                      <a:r>
                        <a:rPr lang="en-US" dirty="0"/>
                        <a:t>524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Adele Ryan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a.ryan@tup.ie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8"/>
                        </a:rPr>
                        <a:t>ryana@tup.ie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452334117"/>
                  </a:ext>
                </a:extLst>
              </a:tr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8828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Sonya Kennedy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s.kennedy@tup.ie</a:t>
                      </a:r>
                      <a:r>
                        <a:rPr lang="en-US" dirty="0"/>
                        <a:t> 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830815662"/>
                  </a:ext>
                </a:extLst>
              </a:tr>
            </a:tbl>
          </a:graphicData>
        </a:graphic>
      </p:graphicFrame>
      <p:sp>
        <p:nvSpPr>
          <p:cNvPr id="6" name="Lightning Bolt 5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Lightning Bolt 6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5728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Normalisation</a:t>
            </a:r>
            <a:r>
              <a:rPr lang="en-US" dirty="0"/>
              <a:t> Example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0462728"/>
              </p:ext>
            </p:extLst>
          </p:nvPr>
        </p:nvGraphicFramePr>
        <p:xfrm>
          <a:off x="838199" y="1825625"/>
          <a:ext cx="104075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511">
                  <a:extLst>
                    <a:ext uri="{9D8B030D-6E8A-4147-A177-3AD203B41FA5}">
                      <a16:colId xmlns:a16="http://schemas.microsoft.com/office/drawing/2014/main" val="1889476088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94176239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142982404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3550636667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05748214"/>
                    </a:ext>
                  </a:extLst>
                </a:gridCol>
              </a:tblGrid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PPS</a:t>
                      </a:r>
                      <a:r>
                        <a:rPr lang="en-US" baseline="0" dirty="0"/>
                        <a:t> number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Empl_Name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Empl_Role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Empl_salary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Empl_email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2550079045"/>
                  </a:ext>
                </a:extLst>
              </a:tr>
              <a:tr h="890131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Mary Smith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mary@tup.ie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4"/>
                        </a:rPr>
                        <a:t>m.white@tup.ie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5"/>
                        </a:rPr>
                        <a:t>whitem@tup.ie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1265440727"/>
                  </a:ext>
                </a:extLst>
              </a:tr>
              <a:tr h="468490">
                <a:tc>
                  <a:txBody>
                    <a:bodyPr/>
                    <a:lstStyle/>
                    <a:p>
                      <a:r>
                        <a:rPr lang="en-US" dirty="0"/>
                        <a:t>432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Murphy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John.murphy@tup.ie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999558021"/>
                  </a:ext>
                </a:extLst>
              </a:tr>
              <a:tr h="609037">
                <a:tc>
                  <a:txBody>
                    <a:bodyPr/>
                    <a:lstStyle/>
                    <a:p>
                      <a:r>
                        <a:rPr lang="en-US" dirty="0"/>
                        <a:t>524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Adele Ryan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a.ryan@tup.ie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8"/>
                        </a:rPr>
                        <a:t>ryana@tup.ie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452334117"/>
                  </a:ext>
                </a:extLst>
              </a:tr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8828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Sonya Kennedy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s.kennedy@tup.ie</a:t>
                      </a:r>
                      <a:r>
                        <a:rPr lang="en-US" dirty="0"/>
                        <a:t> 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830815662"/>
                  </a:ext>
                </a:extLst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173707" y="5130105"/>
            <a:ext cx="10180093" cy="81339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Salary depends on role</a:t>
            </a:r>
          </a:p>
          <a:p>
            <a:r>
              <a:rPr lang="en-US" dirty="0"/>
              <a:t>PK PPS number</a:t>
            </a:r>
            <a:endParaRPr lang="en-IE" dirty="0"/>
          </a:p>
        </p:txBody>
      </p:sp>
      <p:sp>
        <p:nvSpPr>
          <p:cNvPr id="6" name="Lightning Bolt 5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Lightning Bolt 6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28380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Company</a:t>
            </a:r>
            <a:endParaRPr lang="en-I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60462728"/>
              </p:ext>
            </p:extLst>
          </p:nvPr>
        </p:nvGraphicFramePr>
        <p:xfrm>
          <a:off x="838199" y="1825625"/>
          <a:ext cx="104075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511">
                  <a:extLst>
                    <a:ext uri="{9D8B030D-6E8A-4147-A177-3AD203B41FA5}">
                      <a16:colId xmlns:a16="http://schemas.microsoft.com/office/drawing/2014/main" val="1889476088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94176239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142982404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3550636667"/>
                    </a:ext>
                  </a:extLst>
                </a:gridCol>
                <a:gridCol w="2081511">
                  <a:extLst>
                    <a:ext uri="{9D8B030D-6E8A-4147-A177-3AD203B41FA5}">
                      <a16:colId xmlns:a16="http://schemas.microsoft.com/office/drawing/2014/main" val="1005748214"/>
                    </a:ext>
                  </a:extLst>
                </a:gridCol>
              </a:tblGrid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PPS</a:t>
                      </a:r>
                      <a:r>
                        <a:rPr lang="en-US" baseline="0" dirty="0"/>
                        <a:t> number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Empl_Name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Empl_Role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Empl_salary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Empl_email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2550079045"/>
                  </a:ext>
                </a:extLst>
              </a:tr>
              <a:tr h="890131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Mary Smith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mary@tup.ie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4"/>
                        </a:rPr>
                        <a:t>m.white@tup.ie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5"/>
                        </a:rPr>
                        <a:t>whitem@tup.ie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1265440727"/>
                  </a:ext>
                </a:extLst>
              </a:tr>
              <a:tr h="468490">
                <a:tc>
                  <a:txBody>
                    <a:bodyPr/>
                    <a:lstStyle/>
                    <a:p>
                      <a:r>
                        <a:rPr lang="en-US" dirty="0"/>
                        <a:t>432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Murphy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John.murphy@tup.ie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999558021"/>
                  </a:ext>
                </a:extLst>
              </a:tr>
              <a:tr h="609037">
                <a:tc>
                  <a:txBody>
                    <a:bodyPr/>
                    <a:lstStyle/>
                    <a:p>
                      <a:r>
                        <a:rPr lang="en-US" dirty="0"/>
                        <a:t>524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Adele Ryan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a.ryan@tup.ie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>
                          <a:hlinkClick r:id="rId8"/>
                        </a:rPr>
                        <a:t>ryana@tup.ie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452334117"/>
                  </a:ext>
                </a:extLst>
              </a:tr>
              <a:tr h="327943">
                <a:tc>
                  <a:txBody>
                    <a:bodyPr/>
                    <a:lstStyle/>
                    <a:p>
                      <a:r>
                        <a:rPr lang="en-US" dirty="0"/>
                        <a:t>8828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Sonya Kennedy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en-IE" dirty="0"/>
                    </a:p>
                  </a:txBody>
                  <a:tcPr marL="45057" marR="4505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s.kennedy@tup.ie</a:t>
                      </a:r>
                      <a:r>
                        <a:rPr lang="en-US" dirty="0"/>
                        <a:t> </a:t>
                      </a:r>
                      <a:endParaRPr lang="en-IE" dirty="0"/>
                    </a:p>
                  </a:txBody>
                  <a:tcPr marL="45057" marR="45057"/>
                </a:tc>
                <a:extLst>
                  <a:ext uri="{0D108BD9-81ED-4DB2-BD59-A6C34878D82A}">
                    <a16:rowId xmlns:a16="http://schemas.microsoft.com/office/drawing/2014/main" val="3830815662"/>
                  </a:ext>
                </a:extLst>
              </a:tr>
            </a:tbl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173707" y="5363569"/>
            <a:ext cx="10180093" cy="813393"/>
          </a:xfrm>
        </p:spPr>
        <p:txBody>
          <a:bodyPr>
            <a:normAutofit/>
          </a:bodyPr>
          <a:lstStyle/>
          <a:p>
            <a:r>
              <a:rPr lang="en-US" dirty="0"/>
              <a:t>What normal form is this table in?</a:t>
            </a:r>
            <a:endParaRPr lang="en-IE" dirty="0"/>
          </a:p>
        </p:txBody>
      </p:sp>
      <p:sp>
        <p:nvSpPr>
          <p:cNvPr id="6" name="Lightning Bolt 5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Lightning Bolt 6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53489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00501"/>
            <a:ext cx="5181600" cy="55764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Plan for next few weeks</a:t>
            </a:r>
          </a:p>
          <a:p>
            <a:r>
              <a:rPr lang="en-US" dirty="0"/>
              <a:t>Week 6</a:t>
            </a:r>
          </a:p>
          <a:p>
            <a:pPr lvl="1"/>
            <a:r>
              <a:rPr lang="en-US" dirty="0"/>
              <a:t>Revision class</a:t>
            </a:r>
          </a:p>
          <a:p>
            <a:pPr lvl="1"/>
            <a:r>
              <a:rPr lang="en-US" dirty="0"/>
              <a:t>Lab SQLite 1</a:t>
            </a:r>
          </a:p>
          <a:p>
            <a:r>
              <a:rPr lang="en-US" dirty="0"/>
              <a:t>Week 7</a:t>
            </a:r>
          </a:p>
          <a:p>
            <a:pPr lvl="1"/>
            <a:r>
              <a:rPr lang="en-US" dirty="0"/>
              <a:t>Quiz</a:t>
            </a:r>
          </a:p>
          <a:p>
            <a:pPr lvl="1"/>
            <a:r>
              <a:rPr lang="en-US" dirty="0"/>
              <a:t>No Lab</a:t>
            </a:r>
          </a:p>
          <a:p>
            <a:r>
              <a:rPr lang="en-US" dirty="0"/>
              <a:t>Week 8</a:t>
            </a:r>
          </a:p>
          <a:p>
            <a:pPr lvl="1"/>
            <a:r>
              <a:rPr lang="en-US" dirty="0"/>
              <a:t>Submission of Assignment</a:t>
            </a:r>
          </a:p>
          <a:p>
            <a:pPr lvl="1"/>
            <a:r>
              <a:rPr lang="en-US" dirty="0"/>
              <a:t>Lab SQLite 2</a:t>
            </a:r>
          </a:p>
          <a:p>
            <a:endParaRPr lang="en-US" dirty="0"/>
          </a:p>
        </p:txBody>
      </p:sp>
      <p:sp>
        <p:nvSpPr>
          <p:cNvPr id="6" name="Lightning Bolt 5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Lightning Bolt 6"/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219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Edmund </a:t>
            </a:r>
            <a:r>
              <a:rPr lang="en-US" dirty="0" err="1"/>
              <a:t>Nevin</a:t>
            </a:r>
            <a:r>
              <a:rPr lang="en-US" dirty="0"/>
              <a:t> </a:t>
            </a:r>
            <a:r>
              <a:rPr lang="en-IE" dirty="0"/>
              <a:t>for a earlier versions of these lecture notes</a:t>
            </a:r>
          </a:p>
        </p:txBody>
      </p:sp>
    </p:spTree>
    <p:extLst>
      <p:ext uri="{BB962C8B-B14F-4D97-AF65-F5344CB8AC3E}">
        <p14:creationId xmlns:p14="http://schemas.microsoft.com/office/powerpoint/2010/main" val="30650680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499" cy="6858000"/>
          </a:xfrm>
        </p:spPr>
      </p:pic>
    </p:spTree>
    <p:extLst>
      <p:ext uri="{BB962C8B-B14F-4D97-AF65-F5344CB8AC3E}">
        <p14:creationId xmlns:p14="http://schemas.microsoft.com/office/powerpoint/2010/main" val="3432006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4bef8efa-a88a-4794-940b-cbf7845202e3"/>
</p:tagLst>
</file>

<file path=ppt/theme/theme1.xml><?xml version="1.0" encoding="utf-8"?>
<a:theme xmlns:a="http://schemas.openxmlformats.org/drawingml/2006/main" name="AccessibleTemplat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otx" id="{19A76EF7-685B-4DD9-AEC2-DD2E690A5E16}" vid="{F9D02FCD-DE17-4A7B-9E71-714D7E1CC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86a8af6-524e-48fb-a2b5-8db5625d74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97A5DDE61EC49B38F08F69D7D1C30" ma:contentTypeVersion="15" ma:contentTypeDescription="Create a new document." ma:contentTypeScope="" ma:versionID="9bb0376d8ed59645cd949b27d95b7409">
  <xsd:schema xmlns:xsd="http://www.w3.org/2001/XMLSchema" xmlns:xs="http://www.w3.org/2001/XMLSchema" xmlns:p="http://schemas.microsoft.com/office/2006/metadata/properties" xmlns:ns3="186a8af6-524e-48fb-a2b5-8db5625d742b" xmlns:ns4="8713c86b-11c3-4892-8b22-8e1103c1c89f" targetNamespace="http://schemas.microsoft.com/office/2006/metadata/properties" ma:root="true" ma:fieldsID="dc57b1baf380e13117ae7081a2a87d27" ns3:_="" ns4:_="">
    <xsd:import namespace="186a8af6-524e-48fb-a2b5-8db5625d742b"/>
    <xsd:import namespace="8713c86b-11c3-4892-8b22-8e1103c1c8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a8af6-524e-48fb-a2b5-8db5625d7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3c86b-11c3-4892-8b22-8e1103c1c89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F0107A-F0F9-4F2F-8885-16CBFB37C1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D80550-865F-444A-BC76-648199381973}">
  <ds:schemaRefs>
    <ds:schemaRef ds:uri="186a8af6-524e-48fb-a2b5-8db5625d742b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8713c86b-11c3-4892-8b22-8e1103c1c89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1F4D3FE-D829-488E-A486-DE7F389937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6a8af6-524e-48fb-a2b5-8db5625d742b"/>
    <ds:schemaRef ds:uri="8713c86b-11c3-4892-8b22-8e1103c1c8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AccessibleTemplate</Template>
  <TotalTime>32215</TotalTime>
  <Words>2282</Words>
  <Application>Microsoft Office PowerPoint</Application>
  <PresentationFormat>Widescreen</PresentationFormat>
  <Paragraphs>497</Paragraphs>
  <Slides>52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-apple-system</vt:lpstr>
      <vt:lpstr>Arial</vt:lpstr>
      <vt:lpstr>Arial Narrow</vt:lpstr>
      <vt:lpstr>Calibri</vt:lpstr>
      <vt:lpstr>Helvetica</vt:lpstr>
      <vt:lpstr>Symbol</vt:lpstr>
      <vt:lpstr>Times New Roman</vt:lpstr>
      <vt:lpstr>Wingdings</vt:lpstr>
      <vt:lpstr>AccessibleTemplate</vt:lpstr>
      <vt:lpstr>PowerPoint Presentation</vt:lpstr>
      <vt:lpstr>Week 5 Information Systems</vt:lpstr>
      <vt:lpstr>Agenda</vt:lpstr>
      <vt:lpstr>Normalisation</vt:lpstr>
      <vt:lpstr>Normalisation</vt:lpstr>
      <vt:lpstr>Stages of Normalisation</vt:lpstr>
      <vt:lpstr>Repeating Groups</vt:lpstr>
      <vt:lpstr>Repeating Groups</vt:lpstr>
      <vt:lpstr>Repeating Groups</vt:lpstr>
      <vt:lpstr>Repeating Groups</vt:lpstr>
      <vt:lpstr>Dependencies</vt:lpstr>
      <vt:lpstr>Functional Dependency</vt:lpstr>
      <vt:lpstr>Functional Dependency  Formal Notation     A → B </vt:lpstr>
      <vt:lpstr>Functional Dependency Example</vt:lpstr>
      <vt:lpstr>Full Functional Dependency</vt:lpstr>
      <vt:lpstr>Full Functional Dependency</vt:lpstr>
      <vt:lpstr>Partial Functional Dependency</vt:lpstr>
      <vt:lpstr>Transitive Dependency</vt:lpstr>
      <vt:lpstr>Transitive Dependency Formal Notation</vt:lpstr>
      <vt:lpstr>Transitive Dependency</vt:lpstr>
      <vt:lpstr>Normal Forms   When is a table in 1NF?</vt:lpstr>
      <vt:lpstr>Normal Forms When is a table in 2NF? </vt:lpstr>
      <vt:lpstr>Normal Forms  When is a table in 3NF?</vt:lpstr>
      <vt:lpstr>Un-normalised Normal Form (UNF or 0NF)</vt:lpstr>
      <vt:lpstr>Example: Logical Design (‘Bottom-up’ Approach)</vt:lpstr>
      <vt:lpstr>Example: Place in UNF</vt:lpstr>
      <vt:lpstr>Example: Place in UNF</vt:lpstr>
      <vt:lpstr>First Normal Form (1NF)</vt:lpstr>
      <vt:lpstr>Example: UNF to 1NF</vt:lpstr>
      <vt:lpstr>Example: UNF to 1NF</vt:lpstr>
      <vt:lpstr>Example: UNF to 1NF</vt:lpstr>
      <vt:lpstr>Note on choosing PK</vt:lpstr>
      <vt:lpstr>Second Normal Form (2NF)</vt:lpstr>
      <vt:lpstr>Second Normal Form (2NF) First relation check</vt:lpstr>
      <vt:lpstr>Second Normal Form (2NF) Second relation check</vt:lpstr>
      <vt:lpstr>Example: 1NF to 2NF</vt:lpstr>
      <vt:lpstr>Example: 1NF to 2NF</vt:lpstr>
      <vt:lpstr>Example: 1NF to 2NF</vt:lpstr>
      <vt:lpstr>Third Normal Form (3NF)</vt:lpstr>
      <vt:lpstr>Third Normal Form (3NF)</vt:lpstr>
      <vt:lpstr>Example: 2NF to 3NF</vt:lpstr>
      <vt:lpstr>Example: 2NF to 3NF</vt:lpstr>
      <vt:lpstr>Example: 2NF to 3NF</vt:lpstr>
      <vt:lpstr>Example: Relations in Highest Normal Form</vt:lpstr>
      <vt:lpstr>Example: E-R Diagrams</vt:lpstr>
      <vt:lpstr>Example: E-R Diagrams</vt:lpstr>
      <vt:lpstr>Normalisation Example</vt:lpstr>
      <vt:lpstr>Normalisation Example</vt:lpstr>
      <vt:lpstr>Example Company</vt:lpstr>
      <vt:lpstr>PowerPoint Presentation</vt:lpstr>
      <vt:lpstr>Thanks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Marisa Llorens Salvador</dc:creator>
  <cp:lastModifiedBy>Marisa Llorens Salvador</cp:lastModifiedBy>
  <cp:revision>148</cp:revision>
  <cp:lastPrinted>2020-10-19T08:26:08Z</cp:lastPrinted>
  <dcterms:created xsi:type="dcterms:W3CDTF">2020-07-08T11:07:05Z</dcterms:created>
  <dcterms:modified xsi:type="dcterms:W3CDTF">2024-10-14T14:33:22Z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0x010100CE497A5DDE61EC49B38F08F69D7D1C30</vt:lpwstr>
  </property>
</Properties>
</file>