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1"/>
  </p:notesMasterIdLst>
  <p:sldIdLst>
    <p:sldId id="275" r:id="rId5"/>
    <p:sldId id="256" r:id="rId6"/>
    <p:sldId id="310" r:id="rId7"/>
    <p:sldId id="312" r:id="rId8"/>
    <p:sldId id="378" r:id="rId9"/>
    <p:sldId id="380" r:id="rId10"/>
    <p:sldId id="381" r:id="rId11"/>
    <p:sldId id="379" r:id="rId12"/>
    <p:sldId id="382" r:id="rId13"/>
    <p:sldId id="350" r:id="rId14"/>
    <p:sldId id="352" r:id="rId15"/>
    <p:sldId id="370" r:id="rId16"/>
    <p:sldId id="351" r:id="rId17"/>
    <p:sldId id="372" r:id="rId18"/>
    <p:sldId id="385" r:id="rId19"/>
    <p:sldId id="386" r:id="rId20"/>
    <p:sldId id="387" r:id="rId21"/>
    <p:sldId id="342" r:id="rId22"/>
    <p:sldId id="343" r:id="rId23"/>
    <p:sldId id="383" r:id="rId24"/>
    <p:sldId id="384" r:id="rId25"/>
    <p:sldId id="332" r:id="rId26"/>
    <p:sldId id="278" r:id="rId27"/>
    <p:sldId id="279" r:id="rId28"/>
    <p:sldId id="374" r:id="rId29"/>
    <p:sldId id="298" r:id="rId30"/>
    <p:sldId id="375" r:id="rId31"/>
    <p:sldId id="299" r:id="rId32"/>
    <p:sldId id="300" r:id="rId33"/>
    <p:sldId id="295" r:id="rId34"/>
    <p:sldId id="296" r:id="rId35"/>
    <p:sldId id="280" r:id="rId36"/>
    <p:sldId id="335" r:id="rId37"/>
    <p:sldId id="281" r:id="rId38"/>
    <p:sldId id="285" r:id="rId39"/>
    <p:sldId id="286" r:id="rId40"/>
    <p:sldId id="283" r:id="rId41"/>
    <p:sldId id="376" r:id="rId42"/>
    <p:sldId id="284" r:id="rId43"/>
    <p:sldId id="353" r:id="rId44"/>
    <p:sldId id="354" r:id="rId45"/>
    <p:sldId id="355" r:id="rId46"/>
    <p:sldId id="356" r:id="rId47"/>
    <p:sldId id="357" r:id="rId48"/>
    <p:sldId id="358" r:id="rId49"/>
    <p:sldId id="359" r:id="rId50"/>
    <p:sldId id="361" r:id="rId51"/>
    <p:sldId id="362" r:id="rId52"/>
    <p:sldId id="363" r:id="rId53"/>
    <p:sldId id="364" r:id="rId54"/>
    <p:sldId id="345" r:id="rId55"/>
    <p:sldId id="346" r:id="rId56"/>
    <p:sldId id="365" r:id="rId57"/>
    <p:sldId id="366" r:id="rId58"/>
    <p:sldId id="388" r:id="rId59"/>
    <p:sldId id="367" r:id="rId60"/>
    <p:sldId id="368" r:id="rId61"/>
    <p:sldId id="313" r:id="rId62"/>
    <p:sldId id="377" r:id="rId63"/>
    <p:sldId id="347" r:id="rId64"/>
    <p:sldId id="369" r:id="rId65"/>
    <p:sldId id="348" r:id="rId66"/>
    <p:sldId id="333" r:id="rId67"/>
    <p:sldId id="334" r:id="rId68"/>
    <p:sldId id="288" r:id="rId69"/>
    <p:sldId id="289" r:id="rId70"/>
  </p:sldIdLst>
  <p:sldSz cx="12192000" cy="6858000"/>
  <p:notesSz cx="6858000" cy="9144000"/>
  <p:custDataLst>
    <p:tags r:id="rId7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957B8-3DA6-4E69-A259-6A4D27AF5797}" v="6" dt="2024-10-07T14:40:43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1" autoAdjust="0"/>
    <p:restoredTop sz="72263" autoAdjust="0"/>
  </p:normalViewPr>
  <p:slideViewPr>
    <p:cSldViewPr snapToGrid="0">
      <p:cViewPr varScale="1">
        <p:scale>
          <a:sx n="114" d="100"/>
          <a:sy n="114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sa Llorens Salvador" userId="c80fc008-d1da-4311-939b-b78dfe62e0c7" providerId="ADAL" clId="{00C957B8-3DA6-4E69-A259-6A4D27AF5797}"/>
    <pc:docChg chg="undo custSel addSld delSld modSld">
      <pc:chgData name="Marisa Llorens Salvador" userId="c80fc008-d1da-4311-939b-b78dfe62e0c7" providerId="ADAL" clId="{00C957B8-3DA6-4E69-A259-6A4D27AF5797}" dt="2024-10-07T14:41:21.404" v="154" actId="14100"/>
      <pc:docMkLst>
        <pc:docMk/>
      </pc:docMkLst>
      <pc:sldChg chg="modSp mod">
        <pc:chgData name="Marisa Llorens Salvador" userId="c80fc008-d1da-4311-939b-b78dfe62e0c7" providerId="ADAL" clId="{00C957B8-3DA6-4E69-A259-6A4D27AF5797}" dt="2024-09-30T14:30:24.603" v="96" actId="5793"/>
        <pc:sldMkLst>
          <pc:docMk/>
          <pc:sldMk cId="3616250592" sldId="278"/>
        </pc:sldMkLst>
        <pc:spChg chg="mod">
          <ac:chgData name="Marisa Llorens Salvador" userId="c80fc008-d1da-4311-939b-b78dfe62e0c7" providerId="ADAL" clId="{00C957B8-3DA6-4E69-A259-6A4D27AF5797}" dt="2024-09-30T14:30:24.603" v="96" actId="5793"/>
          <ac:spMkLst>
            <pc:docMk/>
            <pc:sldMk cId="3616250592" sldId="278"/>
            <ac:spMk id="3" creationId="{00000000-0000-0000-0000-000000000000}"/>
          </ac:spMkLst>
        </pc:spChg>
        <pc:picChg chg="mod">
          <ac:chgData name="Marisa Llorens Salvador" userId="c80fc008-d1da-4311-939b-b78dfe62e0c7" providerId="ADAL" clId="{00C957B8-3DA6-4E69-A259-6A4D27AF5797}" dt="2024-09-30T14:30:22.542" v="94" actId="1076"/>
          <ac:picMkLst>
            <pc:docMk/>
            <pc:sldMk cId="3616250592" sldId="278"/>
            <ac:picMk id="4" creationId="{00000000-0000-0000-0000-000000000000}"/>
          </ac:picMkLst>
        </pc:picChg>
      </pc:sldChg>
      <pc:sldChg chg="addSp delSp modSp mod">
        <pc:chgData name="Marisa Llorens Salvador" userId="c80fc008-d1da-4311-939b-b78dfe62e0c7" providerId="ADAL" clId="{00C957B8-3DA6-4E69-A259-6A4D27AF5797}" dt="2024-09-25T20:04:28.592" v="58" actId="1076"/>
        <pc:sldMkLst>
          <pc:docMk/>
          <pc:sldMk cId="3369035338" sldId="281"/>
        </pc:sldMkLst>
        <pc:picChg chg="del">
          <ac:chgData name="Marisa Llorens Salvador" userId="c80fc008-d1da-4311-939b-b78dfe62e0c7" providerId="ADAL" clId="{00C957B8-3DA6-4E69-A259-6A4D27AF5797}" dt="2024-09-25T20:04:15.314" v="53" actId="478"/>
          <ac:picMkLst>
            <pc:docMk/>
            <pc:sldMk cId="3369035338" sldId="281"/>
            <ac:picMk id="4" creationId="{00000000-0000-0000-0000-000000000000}"/>
          </ac:picMkLst>
        </pc:picChg>
        <pc:picChg chg="add mod">
          <ac:chgData name="Marisa Llorens Salvador" userId="c80fc008-d1da-4311-939b-b78dfe62e0c7" providerId="ADAL" clId="{00C957B8-3DA6-4E69-A259-6A4D27AF5797}" dt="2024-09-25T20:04:28.592" v="58" actId="1076"/>
          <ac:picMkLst>
            <pc:docMk/>
            <pc:sldMk cId="3369035338" sldId="281"/>
            <ac:picMk id="8" creationId="{6DBCD072-F990-C10E-928E-826772A70BDF}"/>
          </ac:picMkLst>
        </pc:picChg>
      </pc:sldChg>
      <pc:sldChg chg="modSp mod">
        <pc:chgData name="Marisa Llorens Salvador" userId="c80fc008-d1da-4311-939b-b78dfe62e0c7" providerId="ADAL" clId="{00C957B8-3DA6-4E69-A259-6A4D27AF5797}" dt="2024-09-25T20:05:17.976" v="63" actId="20577"/>
        <pc:sldMkLst>
          <pc:docMk/>
          <pc:sldMk cId="1251325170" sldId="283"/>
        </pc:sldMkLst>
        <pc:spChg chg="mod">
          <ac:chgData name="Marisa Llorens Salvador" userId="c80fc008-d1da-4311-939b-b78dfe62e0c7" providerId="ADAL" clId="{00C957B8-3DA6-4E69-A259-6A4D27AF5797}" dt="2024-09-25T20:05:17.976" v="63" actId="20577"/>
          <ac:spMkLst>
            <pc:docMk/>
            <pc:sldMk cId="1251325170" sldId="283"/>
            <ac:spMk id="3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6:11.963" v="81" actId="1076"/>
        <pc:sldMkLst>
          <pc:docMk/>
          <pc:sldMk cId="3258953138" sldId="284"/>
        </pc:sldMkLst>
        <pc:spChg chg="mod">
          <ac:chgData name="Marisa Llorens Salvador" userId="c80fc008-d1da-4311-939b-b78dfe62e0c7" providerId="ADAL" clId="{00C957B8-3DA6-4E69-A259-6A4D27AF5797}" dt="2024-09-25T20:06:02.568" v="80" actId="20577"/>
          <ac:spMkLst>
            <pc:docMk/>
            <pc:sldMk cId="3258953138" sldId="284"/>
            <ac:spMk id="3" creationId="{00000000-0000-0000-0000-000000000000}"/>
          </ac:spMkLst>
        </pc:spChg>
        <pc:picChg chg="mod">
          <ac:chgData name="Marisa Llorens Salvador" userId="c80fc008-d1da-4311-939b-b78dfe62e0c7" providerId="ADAL" clId="{00C957B8-3DA6-4E69-A259-6A4D27AF5797}" dt="2024-09-25T20:06:11.963" v="81" actId="1076"/>
          <ac:picMkLst>
            <pc:docMk/>
            <pc:sldMk cId="3258953138" sldId="284"/>
            <ac:picMk id="4" creationId="{00000000-0000-0000-0000-000000000000}"/>
          </ac:picMkLst>
        </pc:picChg>
      </pc:sldChg>
      <pc:sldChg chg="modSp mod">
        <pc:chgData name="Marisa Llorens Salvador" userId="c80fc008-d1da-4311-939b-b78dfe62e0c7" providerId="ADAL" clId="{00C957B8-3DA6-4E69-A259-6A4D27AF5797}" dt="2024-09-30T14:48:02.434" v="98" actId="20577"/>
        <pc:sldMkLst>
          <pc:docMk/>
          <pc:sldMk cId="3065068057" sldId="288"/>
        </pc:sldMkLst>
        <pc:spChg chg="mod">
          <ac:chgData name="Marisa Llorens Salvador" userId="c80fc008-d1da-4311-939b-b78dfe62e0c7" providerId="ADAL" clId="{00C957B8-3DA6-4E69-A259-6A4D27AF5797}" dt="2024-09-30T14:48:02.434" v="98" actId="20577"/>
          <ac:spMkLst>
            <pc:docMk/>
            <pc:sldMk cId="3065068057" sldId="288"/>
            <ac:spMk id="3" creationId="{00000000-0000-0000-0000-000000000000}"/>
          </ac:spMkLst>
        </pc:spChg>
      </pc:sldChg>
      <pc:sldChg chg="add del">
        <pc:chgData name="Marisa Llorens Salvador" userId="c80fc008-d1da-4311-939b-b78dfe62e0c7" providerId="ADAL" clId="{00C957B8-3DA6-4E69-A259-6A4D27AF5797}" dt="2024-09-30T14:29:40.334" v="92" actId="47"/>
        <pc:sldMkLst>
          <pc:docMk/>
          <pc:sldMk cId="1018129383" sldId="299"/>
        </pc:sldMkLst>
      </pc:sldChg>
      <pc:sldChg chg="modSp mod">
        <pc:chgData name="Marisa Llorens Salvador" userId="c80fc008-d1da-4311-939b-b78dfe62e0c7" providerId="ADAL" clId="{00C957B8-3DA6-4E69-A259-6A4D27AF5797}" dt="2024-10-02T17:07:17.551" v="144" actId="27636"/>
        <pc:sldMkLst>
          <pc:docMk/>
          <pc:sldMk cId="2162650918" sldId="310"/>
        </pc:sldMkLst>
        <pc:spChg chg="mod">
          <ac:chgData name="Marisa Llorens Salvador" userId="c80fc008-d1da-4311-939b-b78dfe62e0c7" providerId="ADAL" clId="{00C957B8-3DA6-4E69-A259-6A4D27AF5797}" dt="2024-10-02T17:07:17.551" v="144" actId="27636"/>
          <ac:spMkLst>
            <pc:docMk/>
            <pc:sldMk cId="2162650918" sldId="310"/>
            <ac:spMk id="3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1:08.044" v="19" actId="27636"/>
        <pc:sldMkLst>
          <pc:docMk/>
          <pc:sldMk cId="1745377833" sldId="312"/>
        </pc:sldMkLst>
        <pc:spChg chg="mod">
          <ac:chgData name="Marisa Llorens Salvador" userId="c80fc008-d1da-4311-939b-b78dfe62e0c7" providerId="ADAL" clId="{00C957B8-3DA6-4E69-A259-6A4D27AF5797}" dt="2024-09-25T20:01:08.044" v="19" actId="27636"/>
          <ac:spMkLst>
            <pc:docMk/>
            <pc:sldMk cId="1745377833" sldId="312"/>
            <ac:spMk id="3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1:08.030" v="18" actId="27636"/>
        <pc:sldMkLst>
          <pc:docMk/>
          <pc:sldMk cId="1880393749" sldId="334"/>
        </pc:sldMkLst>
        <pc:spChg chg="mod">
          <ac:chgData name="Marisa Llorens Salvador" userId="c80fc008-d1da-4311-939b-b78dfe62e0c7" providerId="ADAL" clId="{00C957B8-3DA6-4E69-A259-6A4D27AF5797}" dt="2024-09-25T20:01:08.030" v="18" actId="27636"/>
          <ac:spMkLst>
            <pc:docMk/>
            <pc:sldMk cId="1880393749" sldId="334"/>
            <ac:spMk id="3" creationId="{00000000-0000-0000-0000-000000000000}"/>
          </ac:spMkLst>
        </pc:spChg>
      </pc:sldChg>
      <pc:sldChg chg="addSp delSp modSp mod">
        <pc:chgData name="Marisa Llorens Salvador" userId="c80fc008-d1da-4311-939b-b78dfe62e0c7" providerId="ADAL" clId="{00C957B8-3DA6-4E69-A259-6A4D27AF5797}" dt="2024-09-25T20:04:11.122" v="52" actId="1076"/>
        <pc:sldMkLst>
          <pc:docMk/>
          <pc:sldMk cId="964898997" sldId="335"/>
        </pc:sldMkLst>
        <pc:picChg chg="add mod">
          <ac:chgData name="Marisa Llorens Salvador" userId="c80fc008-d1da-4311-939b-b78dfe62e0c7" providerId="ADAL" clId="{00C957B8-3DA6-4E69-A259-6A4D27AF5797}" dt="2024-09-25T20:04:11.122" v="52" actId="1076"/>
          <ac:picMkLst>
            <pc:docMk/>
            <pc:sldMk cId="964898997" sldId="335"/>
            <ac:picMk id="4" creationId="{6F9489A3-D0D7-FD02-42D6-0FD4DD6C113A}"/>
          </ac:picMkLst>
        </pc:picChg>
        <pc:picChg chg="del">
          <ac:chgData name="Marisa Llorens Salvador" userId="c80fc008-d1da-4311-939b-b78dfe62e0c7" providerId="ADAL" clId="{00C957B8-3DA6-4E69-A259-6A4D27AF5797}" dt="2024-09-25T20:04:03.519" v="49" actId="478"/>
          <ac:picMkLst>
            <pc:docMk/>
            <pc:sldMk cId="964898997" sldId="335"/>
            <ac:picMk id="6" creationId="{00000000-0000-0000-0000-000000000000}"/>
          </ac:picMkLst>
        </pc:picChg>
      </pc:sldChg>
      <pc:sldChg chg="modSp mod">
        <pc:chgData name="Marisa Llorens Salvador" userId="c80fc008-d1da-4311-939b-b78dfe62e0c7" providerId="ADAL" clId="{00C957B8-3DA6-4E69-A259-6A4D27AF5797}" dt="2024-09-25T20:01:07.945" v="12" actId="27636"/>
        <pc:sldMkLst>
          <pc:docMk/>
          <pc:sldMk cId="2237111549" sldId="343"/>
        </pc:sldMkLst>
        <pc:spChg chg="mod">
          <ac:chgData name="Marisa Llorens Salvador" userId="c80fc008-d1da-4311-939b-b78dfe62e0c7" providerId="ADAL" clId="{00C957B8-3DA6-4E69-A259-6A4D27AF5797}" dt="2024-09-25T20:01:07.945" v="12" actId="27636"/>
          <ac:spMkLst>
            <pc:docMk/>
            <pc:sldMk cId="2237111549" sldId="343"/>
            <ac:spMk id="3" creationId="{00000000-0000-0000-0000-000000000000}"/>
          </ac:spMkLst>
        </pc:spChg>
      </pc:sldChg>
      <pc:sldChg chg="addSp delSp modSp mod">
        <pc:chgData name="Marisa Llorens Salvador" userId="c80fc008-d1da-4311-939b-b78dfe62e0c7" providerId="ADAL" clId="{00C957B8-3DA6-4E69-A259-6A4D27AF5797}" dt="2024-10-07T14:41:21.404" v="154" actId="14100"/>
        <pc:sldMkLst>
          <pc:docMk/>
          <pc:sldMk cId="3593961141" sldId="348"/>
        </pc:sldMkLst>
        <pc:spChg chg="add del mod">
          <ac:chgData name="Marisa Llorens Salvador" userId="c80fc008-d1da-4311-939b-b78dfe62e0c7" providerId="ADAL" clId="{00C957B8-3DA6-4E69-A259-6A4D27AF5797}" dt="2024-10-07T14:40:43.144" v="146" actId="931"/>
          <ac:spMkLst>
            <pc:docMk/>
            <pc:sldMk cId="3593961141" sldId="348"/>
            <ac:spMk id="6" creationId="{73170D1B-881D-EC3F-C1B4-91812272F6C7}"/>
          </ac:spMkLst>
        </pc:spChg>
        <pc:picChg chg="del">
          <ac:chgData name="Marisa Llorens Salvador" userId="c80fc008-d1da-4311-939b-b78dfe62e0c7" providerId="ADAL" clId="{00C957B8-3DA6-4E69-A259-6A4D27AF5797}" dt="2024-10-07T14:40:25.646" v="145" actId="478"/>
          <ac:picMkLst>
            <pc:docMk/>
            <pc:sldMk cId="3593961141" sldId="348"/>
            <ac:picMk id="5" creationId="{00000000-0000-0000-0000-000000000000}"/>
          </ac:picMkLst>
        </pc:picChg>
        <pc:picChg chg="add mod modCrop">
          <ac:chgData name="Marisa Llorens Salvador" userId="c80fc008-d1da-4311-939b-b78dfe62e0c7" providerId="ADAL" clId="{00C957B8-3DA6-4E69-A259-6A4D27AF5797}" dt="2024-10-07T14:41:21.404" v="154" actId="14100"/>
          <ac:picMkLst>
            <pc:docMk/>
            <pc:sldMk cId="3593961141" sldId="348"/>
            <ac:picMk id="8" creationId="{22228892-0708-6043-1862-BD7E2E477D14}"/>
          </ac:picMkLst>
        </pc:picChg>
      </pc:sldChg>
      <pc:sldChg chg="modSp mod">
        <pc:chgData name="Marisa Llorens Salvador" userId="c80fc008-d1da-4311-939b-b78dfe62e0c7" providerId="ADAL" clId="{00C957B8-3DA6-4E69-A259-6A4D27AF5797}" dt="2024-09-25T20:01:07.916" v="9" actId="27636"/>
        <pc:sldMkLst>
          <pc:docMk/>
          <pc:sldMk cId="2239402360" sldId="350"/>
        </pc:sldMkLst>
        <pc:spChg chg="mod">
          <ac:chgData name="Marisa Llorens Salvador" userId="c80fc008-d1da-4311-939b-b78dfe62e0c7" providerId="ADAL" clId="{00C957B8-3DA6-4E69-A259-6A4D27AF5797}" dt="2024-09-25T20:01:07.916" v="9" actId="27636"/>
          <ac:spMkLst>
            <pc:docMk/>
            <pc:sldMk cId="2239402360" sldId="350"/>
            <ac:spMk id="5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2:31.774" v="48" actId="27636"/>
        <pc:sldMkLst>
          <pc:docMk/>
          <pc:sldMk cId="3447338613" sldId="351"/>
        </pc:sldMkLst>
        <pc:spChg chg="mod">
          <ac:chgData name="Marisa Llorens Salvador" userId="c80fc008-d1da-4311-939b-b78dfe62e0c7" providerId="ADAL" clId="{00C957B8-3DA6-4E69-A259-6A4D27AF5797}" dt="2024-09-25T20:02:31.774" v="48" actId="27636"/>
          <ac:spMkLst>
            <pc:docMk/>
            <pc:sldMk cId="3447338613" sldId="351"/>
            <ac:spMk id="9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2:01.777" v="43" actId="1076"/>
        <pc:sldMkLst>
          <pc:docMk/>
          <pc:sldMk cId="543725143" sldId="352"/>
        </pc:sldMkLst>
        <pc:spChg chg="mod">
          <ac:chgData name="Marisa Llorens Salvador" userId="c80fc008-d1da-4311-939b-b78dfe62e0c7" providerId="ADAL" clId="{00C957B8-3DA6-4E69-A259-6A4D27AF5797}" dt="2024-09-25T20:01:07.927" v="10" actId="27636"/>
          <ac:spMkLst>
            <pc:docMk/>
            <pc:sldMk cId="543725143" sldId="352"/>
            <ac:spMk id="5" creationId="{00000000-0000-0000-0000-000000000000}"/>
          </ac:spMkLst>
        </pc:spChg>
        <pc:picChg chg="mod">
          <ac:chgData name="Marisa Llorens Salvador" userId="c80fc008-d1da-4311-939b-b78dfe62e0c7" providerId="ADAL" clId="{00C957B8-3DA6-4E69-A259-6A4D27AF5797}" dt="2024-09-25T20:02:01.777" v="43" actId="1076"/>
          <ac:picMkLst>
            <pc:docMk/>
            <pc:sldMk cId="543725143" sldId="352"/>
            <ac:picMk id="8" creationId="{00000000-0000-0000-0000-000000000000}"/>
          </ac:picMkLst>
        </pc:picChg>
      </pc:sldChg>
      <pc:sldChg chg="modSp mod">
        <pc:chgData name="Marisa Llorens Salvador" userId="c80fc008-d1da-4311-939b-b78dfe62e0c7" providerId="ADAL" clId="{00C957B8-3DA6-4E69-A259-6A4D27AF5797}" dt="2024-09-25T19:46:00.888" v="3" actId="27636"/>
        <pc:sldMkLst>
          <pc:docMk/>
          <pc:sldMk cId="3440363527" sldId="353"/>
        </pc:sldMkLst>
        <pc:spChg chg="mod">
          <ac:chgData name="Marisa Llorens Salvador" userId="c80fc008-d1da-4311-939b-b78dfe62e0c7" providerId="ADAL" clId="{00C957B8-3DA6-4E69-A259-6A4D27AF5797}" dt="2024-09-25T19:46:00.888" v="3" actId="27636"/>
          <ac:spMkLst>
            <pc:docMk/>
            <pc:sldMk cId="3440363527" sldId="353"/>
            <ac:spMk id="3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19:47:02.753" v="5" actId="27636"/>
        <pc:sldMkLst>
          <pc:docMk/>
          <pc:sldMk cId="1741007474" sldId="354"/>
        </pc:sldMkLst>
        <pc:spChg chg="mod">
          <ac:chgData name="Marisa Llorens Salvador" userId="c80fc008-d1da-4311-939b-b78dfe62e0c7" providerId="ADAL" clId="{00C957B8-3DA6-4E69-A259-6A4D27AF5797}" dt="2024-09-25T19:47:02.753" v="5" actId="27636"/>
          <ac:spMkLst>
            <pc:docMk/>
            <pc:sldMk cId="1741007474" sldId="354"/>
            <ac:spMk id="3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1:08.013" v="17" actId="27636"/>
        <pc:sldMkLst>
          <pc:docMk/>
          <pc:sldMk cId="2021697537" sldId="355"/>
        </pc:sldMkLst>
        <pc:spChg chg="mod">
          <ac:chgData name="Marisa Llorens Salvador" userId="c80fc008-d1da-4311-939b-b78dfe62e0c7" providerId="ADAL" clId="{00C957B8-3DA6-4E69-A259-6A4D27AF5797}" dt="2024-09-25T20:01:08.013" v="17" actId="27636"/>
          <ac:spMkLst>
            <pc:docMk/>
            <pc:sldMk cId="2021697537" sldId="355"/>
            <ac:spMk id="3" creationId="{00000000-0000-0000-0000-000000000000}"/>
          </ac:spMkLst>
        </pc:spChg>
      </pc:sldChg>
      <pc:sldChg chg="del">
        <pc:chgData name="Marisa Llorens Salvador" userId="c80fc008-d1da-4311-939b-b78dfe62e0c7" providerId="ADAL" clId="{00C957B8-3DA6-4E69-A259-6A4D27AF5797}" dt="2024-10-02T11:17:34.343" v="99" actId="47"/>
        <pc:sldMkLst>
          <pc:docMk/>
          <pc:sldMk cId="2627537093" sldId="360"/>
        </pc:sldMkLst>
      </pc:sldChg>
      <pc:sldChg chg="modSp mod">
        <pc:chgData name="Marisa Llorens Salvador" userId="c80fc008-d1da-4311-939b-b78dfe62e0c7" providerId="ADAL" clId="{00C957B8-3DA6-4E69-A259-6A4D27AF5797}" dt="2024-10-02T11:19:11.198" v="126" actId="20577"/>
        <pc:sldMkLst>
          <pc:docMk/>
          <pc:sldMk cId="3309474160" sldId="363"/>
        </pc:sldMkLst>
        <pc:spChg chg="mod">
          <ac:chgData name="Marisa Llorens Salvador" userId="c80fc008-d1da-4311-939b-b78dfe62e0c7" providerId="ADAL" clId="{00C957B8-3DA6-4E69-A259-6A4D27AF5797}" dt="2024-10-02T11:19:11.198" v="126" actId="20577"/>
          <ac:spMkLst>
            <pc:docMk/>
            <pc:sldMk cId="3309474160" sldId="363"/>
            <ac:spMk id="2" creationId="{00000000-0000-0000-0000-000000000000}"/>
          </ac:spMkLst>
        </pc:spChg>
      </pc:sldChg>
      <pc:sldChg chg="modSp mod">
        <pc:chgData name="Marisa Llorens Salvador" userId="c80fc008-d1da-4311-939b-b78dfe62e0c7" providerId="ADAL" clId="{00C957B8-3DA6-4E69-A259-6A4D27AF5797}" dt="2024-09-25T20:01:07.957" v="13" actId="27636"/>
        <pc:sldMkLst>
          <pc:docMk/>
          <pc:sldMk cId="2650941241" sldId="374"/>
        </pc:sldMkLst>
        <pc:spChg chg="mod">
          <ac:chgData name="Marisa Llorens Salvador" userId="c80fc008-d1da-4311-939b-b78dfe62e0c7" providerId="ADAL" clId="{00C957B8-3DA6-4E69-A259-6A4D27AF5797}" dt="2024-09-25T20:01:07.957" v="13" actId="27636"/>
          <ac:spMkLst>
            <pc:docMk/>
            <pc:sldMk cId="2650941241" sldId="374"/>
            <ac:spMk id="3" creationId="{00000000-0000-0000-0000-000000000000}"/>
          </ac:spMkLst>
        </pc:spChg>
      </pc:sldChg>
      <pc:sldChg chg="delSp modSp mod">
        <pc:chgData name="Marisa Llorens Salvador" userId="c80fc008-d1da-4311-939b-b78dfe62e0c7" providerId="ADAL" clId="{00C957B8-3DA6-4E69-A259-6A4D27AF5797}" dt="2024-09-25T20:05:28.435" v="64" actId="478"/>
        <pc:sldMkLst>
          <pc:docMk/>
          <pc:sldMk cId="3013886788" sldId="376"/>
        </pc:sldMkLst>
        <pc:spChg chg="mod">
          <ac:chgData name="Marisa Llorens Salvador" userId="c80fc008-d1da-4311-939b-b78dfe62e0c7" providerId="ADAL" clId="{00C957B8-3DA6-4E69-A259-6A4D27AF5797}" dt="2024-09-25T20:01:07.983" v="15" actId="27636"/>
          <ac:spMkLst>
            <pc:docMk/>
            <pc:sldMk cId="3013886788" sldId="376"/>
            <ac:spMk id="3" creationId="{00000000-0000-0000-0000-000000000000}"/>
          </ac:spMkLst>
        </pc:spChg>
        <pc:picChg chg="del">
          <ac:chgData name="Marisa Llorens Salvador" userId="c80fc008-d1da-4311-939b-b78dfe62e0c7" providerId="ADAL" clId="{00C957B8-3DA6-4E69-A259-6A4D27AF5797}" dt="2024-09-25T20:05:28.435" v="64" actId="478"/>
          <ac:picMkLst>
            <pc:docMk/>
            <pc:sldMk cId="3013886788" sldId="376"/>
            <ac:picMk id="4" creationId="{00000000-0000-0000-0000-000000000000}"/>
          </ac:picMkLst>
        </pc:picChg>
      </pc:sldChg>
      <pc:sldChg chg="modSp mod">
        <pc:chgData name="Marisa Llorens Salvador" userId="c80fc008-d1da-4311-939b-b78dfe62e0c7" providerId="ADAL" clId="{00C957B8-3DA6-4E69-A259-6A4D27AF5797}" dt="2024-09-30T14:15:34.936" v="90" actId="403"/>
        <pc:sldMkLst>
          <pc:docMk/>
          <pc:sldMk cId="1098647772" sldId="379"/>
        </pc:sldMkLst>
        <pc:spChg chg="mod">
          <ac:chgData name="Marisa Llorens Salvador" userId="c80fc008-d1da-4311-939b-b78dfe62e0c7" providerId="ADAL" clId="{00C957B8-3DA6-4E69-A259-6A4D27AF5797}" dt="2024-09-30T14:15:34.936" v="90" actId="403"/>
          <ac:spMkLst>
            <pc:docMk/>
            <pc:sldMk cId="1098647772" sldId="379"/>
            <ac:spMk id="6" creationId="{00000000-0000-0000-0000-000000000000}"/>
          </ac:spMkLst>
        </pc:spChg>
      </pc:sldChg>
      <pc:sldChg chg="addSp modSp mod">
        <pc:chgData name="Marisa Llorens Salvador" userId="c80fc008-d1da-4311-939b-b78dfe62e0c7" providerId="ADAL" clId="{00C957B8-3DA6-4E69-A259-6A4D27AF5797}" dt="2024-09-25T20:01:32.576" v="42" actId="20577"/>
        <pc:sldMkLst>
          <pc:docMk/>
          <pc:sldMk cId="3425053978" sldId="382"/>
        </pc:sldMkLst>
        <pc:spChg chg="add mod">
          <ac:chgData name="Marisa Llorens Salvador" userId="c80fc008-d1da-4311-939b-b78dfe62e0c7" providerId="ADAL" clId="{00C957B8-3DA6-4E69-A259-6A4D27AF5797}" dt="2024-09-25T20:01:32.576" v="42" actId="20577"/>
          <ac:spMkLst>
            <pc:docMk/>
            <pc:sldMk cId="3425053978" sldId="382"/>
            <ac:spMk id="3" creationId="{2E06D061-94AF-C574-49BA-7DE2BFDC7F19}"/>
          </ac:spMkLst>
        </pc:spChg>
        <pc:spChg chg="mod">
          <ac:chgData name="Marisa Llorens Salvador" userId="c80fc008-d1da-4311-939b-b78dfe62e0c7" providerId="ADAL" clId="{00C957B8-3DA6-4E69-A259-6A4D27AF5797}" dt="2024-09-25T20:01:20.757" v="25" actId="27636"/>
          <ac:spMkLst>
            <pc:docMk/>
            <pc:sldMk cId="3425053978" sldId="382"/>
            <ac:spMk id="5" creationId="{00000000-0000-0000-0000-000000000000}"/>
          </ac:spMkLst>
        </pc:spChg>
      </pc:sldChg>
      <pc:sldChg chg="del">
        <pc:chgData name="Marisa Llorens Salvador" userId="c80fc008-d1da-4311-939b-b78dfe62e0c7" providerId="ADAL" clId="{00C957B8-3DA6-4E69-A259-6A4D27AF5797}" dt="2024-09-25T19:59:26.353" v="6" actId="47"/>
        <pc:sldMkLst>
          <pc:docMk/>
          <pc:sldMk cId="2570558499" sldId="388"/>
        </pc:sldMkLst>
      </pc:sldChg>
      <pc:sldChg chg="addSp modSp add mod">
        <pc:chgData name="Marisa Llorens Salvador" userId="c80fc008-d1da-4311-939b-b78dfe62e0c7" providerId="ADAL" clId="{00C957B8-3DA6-4E69-A259-6A4D27AF5797}" dt="2024-10-02T11:22:39.390" v="142" actId="14100"/>
        <pc:sldMkLst>
          <pc:docMk/>
          <pc:sldMk cId="3933378130" sldId="388"/>
        </pc:sldMkLst>
        <pc:spChg chg="mod">
          <ac:chgData name="Marisa Llorens Salvador" userId="c80fc008-d1da-4311-939b-b78dfe62e0c7" providerId="ADAL" clId="{00C957B8-3DA6-4E69-A259-6A4D27AF5797}" dt="2024-10-02T11:21:18.605" v="128" actId="20577"/>
          <ac:spMkLst>
            <pc:docMk/>
            <pc:sldMk cId="3933378130" sldId="388"/>
            <ac:spMk id="2" creationId="{00000000-0000-0000-0000-000000000000}"/>
          </ac:spMkLst>
        </pc:spChg>
        <pc:spChg chg="add mod">
          <ac:chgData name="Marisa Llorens Salvador" userId="c80fc008-d1da-4311-939b-b78dfe62e0c7" providerId="ADAL" clId="{00C957B8-3DA6-4E69-A259-6A4D27AF5797}" dt="2024-10-02T11:22:07.188" v="134" actId="1582"/>
          <ac:spMkLst>
            <pc:docMk/>
            <pc:sldMk cId="3933378130" sldId="388"/>
            <ac:spMk id="11" creationId="{FF98EB2D-3A9A-B777-766D-D5428D2E4395}"/>
          </ac:spMkLst>
        </pc:spChg>
        <pc:spChg chg="add mod">
          <ac:chgData name="Marisa Llorens Salvador" userId="c80fc008-d1da-4311-939b-b78dfe62e0c7" providerId="ADAL" clId="{00C957B8-3DA6-4E69-A259-6A4D27AF5797}" dt="2024-10-02T11:22:14.896" v="136" actId="1076"/>
          <ac:spMkLst>
            <pc:docMk/>
            <pc:sldMk cId="3933378130" sldId="388"/>
            <ac:spMk id="12" creationId="{37B0D34B-1551-1FFB-AF2B-346E3E7E3973}"/>
          </ac:spMkLst>
        </pc:spChg>
        <pc:spChg chg="add mod">
          <ac:chgData name="Marisa Llorens Salvador" userId="c80fc008-d1da-4311-939b-b78dfe62e0c7" providerId="ADAL" clId="{00C957B8-3DA6-4E69-A259-6A4D27AF5797}" dt="2024-10-02T11:22:39.390" v="142" actId="14100"/>
          <ac:spMkLst>
            <pc:docMk/>
            <pc:sldMk cId="3933378130" sldId="388"/>
            <ac:spMk id="13" creationId="{C651A519-1F12-C60D-8186-1E9C6C3F31D3}"/>
          </ac:spMkLst>
        </pc:spChg>
        <pc:grpChg chg="mod">
          <ac:chgData name="Marisa Llorens Salvador" userId="c80fc008-d1da-4311-939b-b78dfe62e0c7" providerId="ADAL" clId="{00C957B8-3DA6-4E69-A259-6A4D27AF5797}" dt="2024-10-02T11:21:30.708" v="129" actId="1076"/>
          <ac:grpSpMkLst>
            <pc:docMk/>
            <pc:sldMk cId="3933378130" sldId="388"/>
            <ac:grpSpMk id="5" creationId="{00000000-0000-0000-0000-000000000000}"/>
          </ac:grpSpMkLst>
        </pc:grpChg>
        <pc:picChg chg="mod">
          <ac:chgData name="Marisa Llorens Salvador" userId="c80fc008-d1da-4311-939b-b78dfe62e0c7" providerId="ADAL" clId="{00C957B8-3DA6-4E69-A259-6A4D27AF5797}" dt="2024-10-02T11:22:21.378" v="139" actId="1076"/>
          <ac:picMkLst>
            <pc:docMk/>
            <pc:sldMk cId="3933378130" sldId="388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85DF0-59FF-4857-9F82-F93A5D9DD461}" type="datetimeFigureOut">
              <a:rPr lang="en-IE" smtClean="0"/>
              <a:t>26/10/2024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D7177-ECA0-45C5-A5EE-1EDD549F8A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268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6725-EAD8-425D-899C-9472BA626451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816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A1FC39-9C75-44F9-AA12-D44FD36F095D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849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">
    <p:bg>
      <p:bgPr>
        <a:solidFill>
          <a:srgbClr val="004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EB7C3B-AFE7-4770-87DF-2024B6A51E31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726" y="1825625"/>
            <a:ext cx="2084363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0" y="2147888"/>
            <a:ext cx="861060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223000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DDC8B60-65EC-427B-83AC-13F1EA936364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776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816548"/>
            <a:ext cx="10515600" cy="122385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7C3B-AFE7-4770-87DF-2024B6A51E31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4313" y="712788"/>
            <a:ext cx="6794500" cy="4103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41267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5C83-4A74-47A1-B8E2-8355713FDF40}" type="datetime1">
              <a:rPr lang="en-IE" smtClean="0"/>
              <a:t>26/10/2024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294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7017-DDDC-46A3-A3D9-1B3378E953EB}" type="datetime1">
              <a:rPr lang="en-IE" smtClean="0"/>
              <a:t>26/10/2024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186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D4B5-07EA-43A5-B6C2-8F479BA5E9E3}" type="datetime1">
              <a:rPr lang="en-IE" smtClean="0"/>
              <a:t>26/10/2024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828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AA7D-CB80-46AE-81A4-C2E3176CF9B5}" type="datetime1">
              <a:rPr lang="en-IE" smtClean="0"/>
              <a:t>26/10/2024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94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 colou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7C3B-AFE7-4770-87DF-2024B6A51E31}" type="datetime1">
              <a:rPr lang="en-IE" smtClean="0"/>
              <a:t>26/10/2024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8490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A90F-610F-4D52-B7C8-2C522E82C176}" type="datetime1">
              <a:rPr lang="en-IE" smtClean="0"/>
              <a:t>26/10/2024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480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10263-AF41-4764-B6C7-D6453FFCD6A2}" type="datetime1">
              <a:rPr lang="en-IE" smtClean="0"/>
              <a:t>26/10/2024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1965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0CB7-05F7-4FD8-AA5E-87064F36C456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8430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D724D-151F-4C98-8BE7-EFF43E847170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752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2EB7C3B-AFE7-4770-87DF-2024B6A51E31}" type="datetime1">
              <a:rPr lang="en-IE" smtClean="0"/>
              <a:t>26/10/2024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882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257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1</a:t>
            </a:fld>
            <a:endParaRPr lang="en-IE"/>
          </a:p>
        </p:txBody>
      </p:sp>
      <p:sp>
        <p:nvSpPr>
          <p:cNvPr id="3" name="Lightning Bolt 2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Lightning Bolt 4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403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Diagrams 2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Lesson 3  Information Systems </a:t>
            </a:r>
          </a:p>
          <a:p>
            <a:r>
              <a:rPr lang="en-US" dirty="0"/>
              <a:t>02/10/24</a:t>
            </a:r>
          </a:p>
          <a:p>
            <a:r>
              <a:rPr lang="en-US" dirty="0"/>
              <a:t>TU257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247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Outline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Foreign Keys</a:t>
            </a:r>
          </a:p>
          <a:p>
            <a:r>
              <a:rPr lang="en-US" dirty="0"/>
              <a:t>Many to many relationships and Bridge Entities</a:t>
            </a:r>
          </a:p>
          <a:p>
            <a:r>
              <a:rPr lang="en-US" dirty="0"/>
              <a:t>Identifying relationships</a:t>
            </a:r>
          </a:p>
          <a:p>
            <a:r>
              <a:rPr lang="en-US" dirty="0"/>
              <a:t>Degree of a relationship</a:t>
            </a:r>
          </a:p>
          <a:p>
            <a:r>
              <a:rPr lang="en-US" dirty="0"/>
              <a:t>Key Based ER Diagram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6265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Foreign Key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271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 foreign key is a reference to a key in another table.</a:t>
            </a:r>
          </a:p>
          <a:p>
            <a:r>
              <a:rPr lang="en-US" dirty="0"/>
              <a:t>A foreign key is a set of attributes of one table, say </a:t>
            </a:r>
            <a:r>
              <a:rPr lang="en-US" b="1" dirty="0"/>
              <a:t>R2</a:t>
            </a:r>
            <a:r>
              <a:rPr lang="en-US" dirty="0"/>
              <a:t>, whose values are required to match values of some candidate key of another table, say </a:t>
            </a:r>
            <a:r>
              <a:rPr lang="en-US" b="1" dirty="0"/>
              <a:t>R1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537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PKs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</a:t>
            </a:fld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7" y="1941476"/>
            <a:ext cx="10982273" cy="16478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8364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4587923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9569355" y="2492462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055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7" y="4253284"/>
            <a:ext cx="10827231" cy="16246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Foreign Key One to One v1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</a:t>
            </a:fld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7" y="1941476"/>
            <a:ext cx="10982273" cy="16478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8364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4587923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9569355" y="2492462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18364" y="4792639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4587923" y="4792639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9514763" y="4814856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9479507" y="5257118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351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Foreign Key One to One v2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7</a:t>
            </a:fld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7" y="1941476"/>
            <a:ext cx="10982273" cy="16478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8364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4587923" y="2470245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9" y="4380931"/>
            <a:ext cx="11353351" cy="17035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569355" y="2492462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122829" y="4956410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9615985" y="4954135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4481357" y="4981359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4481357" y="5611812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1587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Modified Example</a:t>
            </a:r>
            <a:br>
              <a:rPr lang="en-IE" b="1" dirty="0"/>
            </a:br>
            <a:r>
              <a:rPr lang="en-IE" b="1" dirty="0"/>
              <a:t>Foreign Key One to Many</a:t>
            </a:r>
            <a:endParaRPr lang="en-IE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38227" y="4563510"/>
            <a:ext cx="10611664" cy="1478024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 u="sng" dirty="0"/>
              <a:t>Case where students can </a:t>
            </a:r>
            <a:r>
              <a:rPr lang="en-US" sz="2400" b="1" u="sng" dirty="0"/>
              <a:t>only register for one module</a:t>
            </a:r>
            <a:r>
              <a:rPr lang="en-US" sz="2400" dirty="0"/>
              <a:t>.</a:t>
            </a:r>
          </a:p>
          <a:p>
            <a:r>
              <a:rPr lang="en-US" sz="2400" dirty="0"/>
              <a:t>PK from the one side becomes FK on the many side.</a:t>
            </a:r>
            <a:endParaRPr lang="en-I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8</a:t>
            </a:fld>
            <a:endParaRPr lang="en-IE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54" y="2554190"/>
            <a:ext cx="10941146" cy="1641712"/>
          </a:xfrm>
          <a:prstGeom prst="rect">
            <a:avLst/>
          </a:prstGeom>
        </p:spPr>
      </p:pic>
      <p:sp>
        <p:nvSpPr>
          <p:cNvPr id="9" name="Lightning Bolt 8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Lightning Bolt 9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412654" y="3089941"/>
            <a:ext cx="1392072" cy="272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/>
          <p:cNvSpPr/>
          <p:nvPr/>
        </p:nvSpPr>
        <p:spPr>
          <a:xfrm>
            <a:off x="4703928" y="3102091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9489937" y="3077487"/>
            <a:ext cx="1392072" cy="27295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412654" y="3576232"/>
            <a:ext cx="1392072" cy="27295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rgbClr val="00B0F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49336" y="3720314"/>
            <a:ext cx="1392072" cy="27295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864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Foreign Key Many to Many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9</a:t>
            </a:fld>
            <a:endParaRPr lang="en-IE"/>
          </a:p>
        </p:txBody>
      </p:sp>
      <p:sp>
        <p:nvSpPr>
          <p:cNvPr id="9" name="Lightning Bolt 8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Lightning Bolt 9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82388" y="4740495"/>
            <a:ext cx="10044752" cy="143646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modelling many to many relationships, no FKs can be used directly in the original entities.</a:t>
            </a:r>
          </a:p>
          <a:p>
            <a:r>
              <a:rPr lang="en-US" dirty="0"/>
              <a:t>A new entity has to be created.</a:t>
            </a:r>
            <a:endParaRPr lang="en-IE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7" y="1941476"/>
            <a:ext cx="10982273" cy="1647883"/>
          </a:xfrm>
          <a:prstGeom prst="rect">
            <a:avLst/>
          </a:prstGeom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E06D061-94AF-C574-49BA-7DE2BFDC7F19}"/>
              </a:ext>
            </a:extLst>
          </p:cNvPr>
          <p:cNvSpPr txBox="1">
            <a:spLocks/>
          </p:cNvSpPr>
          <p:nvPr/>
        </p:nvSpPr>
        <p:spPr>
          <a:xfrm>
            <a:off x="682388" y="3800645"/>
            <a:ext cx="9547746" cy="72856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Case where students can </a:t>
            </a:r>
            <a:r>
              <a:rPr lang="en-US" b="1" u="sng" dirty="0"/>
              <a:t>register for more than one module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05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to Many Relationships</a:t>
            </a:r>
            <a:br>
              <a:rPr lang="en-US" dirty="0"/>
            </a:br>
            <a:r>
              <a:rPr lang="en-IE" dirty="0"/>
              <a:t>Associative (Bridge) Entities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8201" y="1825625"/>
            <a:ext cx="10515600" cy="35568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an instance of an entity may be related to multiple instances of another entity and vice versa, that is called a ‘</a:t>
            </a:r>
            <a:r>
              <a:rPr lang="en-US" b="1" i="1" dirty="0"/>
              <a:t>many-to-many</a:t>
            </a:r>
            <a:r>
              <a:rPr lang="en-US" dirty="0"/>
              <a:t>’ relationship.</a:t>
            </a:r>
            <a:r>
              <a:rPr lang="en-GB" dirty="0"/>
              <a:t> 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US" dirty="0"/>
              <a:t>While this relationship model is perfectly valid, it cannot be translated directly into a relational database design.</a:t>
            </a:r>
          </a:p>
        </p:txBody>
      </p:sp>
      <p:pic>
        <p:nvPicPr>
          <p:cNvPr id="9" name="Picture 8" descr="Fig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31528" y="3430424"/>
            <a:ext cx="5773522" cy="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0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to Many Relationships</a:t>
            </a:r>
            <a:br>
              <a:rPr lang="en-US" dirty="0"/>
            </a:br>
            <a:r>
              <a:rPr lang="en-IE" dirty="0"/>
              <a:t>Associative (Bridge or Weak) Entities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8201" y="1825625"/>
            <a:ext cx="10515600" cy="35568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While this relationship model is perfectly valid, it cannot be translated directly into a relational database design.</a:t>
            </a:r>
          </a:p>
          <a:p>
            <a:endParaRPr lang="en-US" sz="1200" dirty="0"/>
          </a:p>
          <a:p>
            <a:r>
              <a:rPr lang="en-US" dirty="0"/>
              <a:t>In order to build a relational database that captures this relationship, it is necessary to build a bridge between the two entities that uniquely expresses each relationship instance.  </a:t>
            </a:r>
            <a:endParaRPr lang="en-GB" dirty="0"/>
          </a:p>
        </p:txBody>
      </p:sp>
      <p:pic>
        <p:nvPicPr>
          <p:cNvPr id="8" name="Picture 7" descr="Fig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3091" y="5517428"/>
            <a:ext cx="5773522" cy="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2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Student-Module-Lecturer</a:t>
            </a:r>
            <a:br>
              <a:rPr lang="en-US" dirty="0"/>
            </a:br>
            <a:r>
              <a:rPr lang="en-US" dirty="0"/>
              <a:t>Week 2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Revise</a:t>
            </a:r>
          </a:p>
          <a:p>
            <a:pPr marL="0" indent="0">
              <a:buNone/>
            </a:pPr>
            <a:br>
              <a:rPr lang="en-US" dirty="0"/>
            </a:br>
            <a:endParaRPr lang="en-IE" dirty="0"/>
          </a:p>
        </p:txBody>
      </p:sp>
      <p:sp>
        <p:nvSpPr>
          <p:cNvPr id="4" name="Down Arrow 3"/>
          <p:cNvSpPr/>
          <p:nvPr/>
        </p:nvSpPr>
        <p:spPr>
          <a:xfrm>
            <a:off x="4057650" y="2153776"/>
            <a:ext cx="419100" cy="1219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546" y="3372976"/>
            <a:ext cx="9511522" cy="132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5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Associative (Bridge) Entities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7988969" y="1364745"/>
            <a:ext cx="4042610" cy="2758076"/>
          </a:xfrm>
        </p:spPr>
        <p:txBody>
          <a:bodyPr>
            <a:normAutofit fontScale="77500" lnSpcReduction="20000"/>
          </a:bodyPr>
          <a:lstStyle/>
          <a:p>
            <a:endParaRPr lang="en-GB" sz="1000" dirty="0"/>
          </a:p>
          <a:p>
            <a:r>
              <a:rPr lang="en-GB" dirty="0"/>
              <a:t>Many-to-many relationships can cause lots of trouble.</a:t>
            </a:r>
          </a:p>
          <a:p>
            <a:r>
              <a:rPr lang="en-GB" dirty="0"/>
              <a:t>Get rid of them by defining an intermediate third entity.</a:t>
            </a:r>
          </a:p>
        </p:txBody>
      </p:sp>
      <p:sp>
        <p:nvSpPr>
          <p:cNvPr id="8" name="Down Arrow 7"/>
          <p:cNvSpPr/>
          <p:nvPr/>
        </p:nvSpPr>
        <p:spPr>
          <a:xfrm rot="19490569">
            <a:off x="3470910" y="2735568"/>
            <a:ext cx="635163" cy="1575995"/>
          </a:xfrm>
          <a:prstGeom prst="downArrow">
            <a:avLst>
              <a:gd name="adj1" fmla="val 44001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93"/>
          <a:stretch/>
        </p:blipFill>
        <p:spPr>
          <a:xfrm>
            <a:off x="371528" y="1709076"/>
            <a:ext cx="6853732" cy="16478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17"/>
          <a:stretch/>
        </p:blipFill>
        <p:spPr>
          <a:xfrm>
            <a:off x="1593963" y="4449011"/>
            <a:ext cx="8416528" cy="1771907"/>
          </a:xfrm>
          <a:prstGeom prst="rect">
            <a:avLst/>
          </a:prstGeom>
        </p:spPr>
      </p:pic>
      <p:pic>
        <p:nvPicPr>
          <p:cNvPr id="3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93"/>
          <a:stretch/>
        </p:blipFill>
        <p:spPr>
          <a:xfrm>
            <a:off x="371528" y="1709076"/>
            <a:ext cx="6853732" cy="1647883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17"/>
          <a:stretch/>
        </p:blipFill>
        <p:spPr>
          <a:xfrm>
            <a:off x="1593963" y="4449011"/>
            <a:ext cx="8416528" cy="17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38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Revise</a:t>
            </a:r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br>
              <a:rPr lang="en-US" dirty="0"/>
            </a:b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506" y="583073"/>
            <a:ext cx="6775149" cy="8896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696438"/>
            <a:ext cx="7743044" cy="448052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696438"/>
            <a:ext cx="7743044" cy="44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0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</a:t>
            </a:r>
            <a:r>
              <a:rPr lang="en-US" dirty="0" err="1"/>
              <a:t>db</a:t>
            </a:r>
            <a:r>
              <a:rPr lang="en-US" dirty="0"/>
              <a:t> provided </a:t>
            </a:r>
            <a:r>
              <a:rPr lang="en-US" dirty="0" err="1"/>
              <a:t>University.db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15</a:t>
            </a:fld>
            <a:endParaRPr lang="en-I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950" t="23535" r="60469" b="22636"/>
          <a:stretch/>
        </p:blipFill>
        <p:spPr>
          <a:xfrm>
            <a:off x="4077325" y="2816316"/>
            <a:ext cx="5366480" cy="35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7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 the data in the different tables.</a:t>
            </a:r>
          </a:p>
          <a:p>
            <a:r>
              <a:rPr lang="en-US" dirty="0"/>
              <a:t>Identify PKs and FKs.</a:t>
            </a:r>
            <a:endParaRPr lang="en-IE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519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the following queries in the “Execute SQL” Tab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* FROM students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LastName</a:t>
            </a:r>
            <a:r>
              <a:rPr lang="en-US" dirty="0"/>
              <a:t> FROM Lecturers</a:t>
            </a:r>
          </a:p>
          <a:p>
            <a:pPr marL="0" indent="0">
              <a:buNone/>
            </a:pPr>
            <a:r>
              <a:rPr lang="en-US" dirty="0"/>
              <a:t>SELECT * FROM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17</a:t>
            </a:fld>
            <a:endParaRPr lang="en-I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2994" t="23369" r="61143" b="22277"/>
          <a:stretch/>
        </p:blipFill>
        <p:spPr>
          <a:xfrm>
            <a:off x="7080836" y="2646474"/>
            <a:ext cx="5111164" cy="353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20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Identifying Relationships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743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220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identifying relationship means that the child table cannot be uniquely identified without the parent. </a:t>
            </a:r>
          </a:p>
          <a:p>
            <a:endParaRPr lang="en-US" dirty="0"/>
          </a:p>
          <a:p>
            <a:r>
              <a:rPr lang="en-US" sz="2400" dirty="0"/>
              <a:t>For example, you have this situation in the intersection table used to resolve a many-to-many relationship where the intersecting table's Primary Key is a composite of the left and right (parents) table's Primary Keys.</a:t>
            </a:r>
            <a:endParaRPr lang="en-IE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803" t="58917" r="81040" b="13034"/>
          <a:stretch/>
        </p:blipFill>
        <p:spPr>
          <a:xfrm>
            <a:off x="10058400" y="1825625"/>
            <a:ext cx="1072324" cy="4068202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11154008" y="1690688"/>
            <a:ext cx="199792" cy="1097117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Brace 5"/>
          <p:cNvSpPr/>
          <p:nvPr/>
        </p:nvSpPr>
        <p:spPr>
          <a:xfrm>
            <a:off x="11199516" y="3016251"/>
            <a:ext cx="154284" cy="260396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11377084" y="1592915"/>
            <a:ext cx="814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Ident</a:t>
            </a:r>
            <a:endParaRPr lang="en-IE" dirty="0"/>
          </a:p>
        </p:txBody>
      </p:sp>
      <p:sp>
        <p:nvSpPr>
          <p:cNvPr id="8" name="TextBox 7"/>
          <p:cNvSpPr txBox="1"/>
          <p:nvPr/>
        </p:nvSpPr>
        <p:spPr>
          <a:xfrm>
            <a:off x="11353800" y="3948901"/>
            <a:ext cx="74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37111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non identifying relationships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20</a:t>
            </a:fld>
            <a:endParaRPr lang="en-IE"/>
          </a:p>
        </p:txBody>
      </p:sp>
      <p:sp>
        <p:nvSpPr>
          <p:cNvPr id="8" name="Lightning Bolt 7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Lightning Bolt 8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21" y="2039144"/>
            <a:ext cx="7538179" cy="436198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096000" y="2595797"/>
            <a:ext cx="1653915" cy="56962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Oval 11"/>
          <p:cNvSpPr/>
          <p:nvPr/>
        </p:nvSpPr>
        <p:spPr>
          <a:xfrm>
            <a:off x="3690079" y="2595797"/>
            <a:ext cx="1199213" cy="56962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Oval 12"/>
          <p:cNvSpPr/>
          <p:nvPr/>
        </p:nvSpPr>
        <p:spPr>
          <a:xfrm rot="16200000">
            <a:off x="7783643" y="4142285"/>
            <a:ext cx="1653915" cy="569626"/>
          </a:xfrm>
          <a:prstGeom prst="ellipse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9559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non identifying relationships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21</a:t>
            </a:fld>
            <a:endParaRPr lang="en-IE"/>
          </a:p>
        </p:txBody>
      </p:sp>
      <p:sp>
        <p:nvSpPr>
          <p:cNvPr id="8" name="Lightning Bolt 7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Lightning Bolt 8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80" y="2077317"/>
            <a:ext cx="7058494" cy="408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82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8745" y="2991593"/>
            <a:ext cx="10515600" cy="1325563"/>
          </a:xfrm>
        </p:spPr>
        <p:txBody>
          <a:bodyPr/>
          <a:lstStyle/>
          <a:p>
            <a:r>
              <a:rPr lang="en-US" dirty="0"/>
              <a:t>Degree of a relationship</a:t>
            </a:r>
            <a:endParaRPr lang="en-I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0790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Degree of a Relationship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The number of participating entities in a relationship is known as the </a:t>
            </a:r>
            <a:r>
              <a:rPr lang="en-GB" sz="2400" b="1" i="1" dirty="0"/>
              <a:t>degree</a:t>
            </a:r>
            <a:r>
              <a:rPr lang="en-GB" sz="2400" dirty="0"/>
              <a:t> of the relationship.</a:t>
            </a:r>
          </a:p>
          <a:p>
            <a:endParaRPr lang="en-GB" sz="105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1050" dirty="0"/>
          </a:p>
          <a:p>
            <a:endParaRPr lang="en-GB" sz="2400" dirty="0"/>
          </a:p>
          <a:p>
            <a:endParaRPr lang="en-GB" sz="1050" dirty="0"/>
          </a:p>
          <a:p>
            <a:endParaRPr lang="en-IE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23</a:t>
            </a:fld>
            <a:endParaRPr lang="en-IE"/>
          </a:p>
        </p:txBody>
      </p:sp>
      <p:pic>
        <p:nvPicPr>
          <p:cNvPr id="4" name="Picture 3" descr="Fig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6903" y="4243580"/>
            <a:ext cx="7420438" cy="9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50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557805" cy="4351338"/>
          </a:xfrm>
        </p:spPr>
        <p:txBody>
          <a:bodyPr>
            <a:normAutofit fontScale="92500"/>
          </a:bodyPr>
          <a:lstStyle/>
          <a:p>
            <a:r>
              <a:rPr lang="en-GB" b="1" i="1" dirty="0"/>
              <a:t>Unary</a:t>
            </a:r>
            <a:r>
              <a:rPr lang="en-GB" dirty="0"/>
              <a:t> relationships are also known as a </a:t>
            </a:r>
            <a:r>
              <a:rPr lang="en-GB" b="1" i="1" dirty="0"/>
              <a:t>recursive</a:t>
            </a:r>
            <a:r>
              <a:rPr lang="en-GB" dirty="0"/>
              <a:t> relationship.</a:t>
            </a:r>
          </a:p>
          <a:p>
            <a:pPr lvl="1"/>
            <a:r>
              <a:rPr lang="en-US" sz="2600" dirty="0"/>
              <a:t>Instances of entities may have relationships with other </a:t>
            </a:r>
            <a:br>
              <a:rPr lang="en-US" sz="2600" dirty="0"/>
            </a:br>
            <a:r>
              <a:rPr lang="en-US" sz="2600" dirty="0"/>
              <a:t>instances of the same entity. </a:t>
            </a:r>
          </a:p>
          <a:p>
            <a:pPr lvl="1"/>
            <a:r>
              <a:rPr lang="en-US" sz="2600" dirty="0"/>
              <a:t>These relationships may be drawn with relationship lines </a:t>
            </a:r>
            <a:br>
              <a:rPr lang="en-US" sz="2600" dirty="0"/>
            </a:br>
            <a:r>
              <a:rPr lang="en-US" sz="2600" dirty="0"/>
              <a:t>that begin and end connected to the same entity.</a:t>
            </a:r>
            <a:endParaRPr lang="en-GB" sz="17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24</a:t>
            </a:fld>
            <a:endParaRPr lang="en-IE"/>
          </a:p>
        </p:txBody>
      </p:sp>
      <p:pic>
        <p:nvPicPr>
          <p:cNvPr id="4" name="Picture 3" descr="Fig0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96005" y="1540281"/>
            <a:ext cx="2172614" cy="1381658"/>
          </a:xfrm>
          <a:prstGeom prst="rect">
            <a:avLst/>
          </a:prstGeom>
        </p:spPr>
      </p:pic>
      <p:pic>
        <p:nvPicPr>
          <p:cNvPr id="6" name="Picture 5" descr="Fig2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33890" y="3683276"/>
            <a:ext cx="2019910" cy="13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49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557805" cy="4351338"/>
          </a:xfrm>
        </p:spPr>
        <p:txBody>
          <a:bodyPr>
            <a:normAutofit fontScale="92500" lnSpcReduction="10000"/>
          </a:bodyPr>
          <a:lstStyle/>
          <a:p>
            <a:r>
              <a:rPr lang="en-GB" b="1" i="1" dirty="0"/>
              <a:t>Unary</a:t>
            </a:r>
            <a:r>
              <a:rPr lang="en-GB" dirty="0"/>
              <a:t> relationships are also known as a </a:t>
            </a:r>
            <a:r>
              <a:rPr lang="en-GB" b="1" i="1" dirty="0"/>
              <a:t>recursive</a:t>
            </a:r>
            <a:r>
              <a:rPr lang="en-GB" dirty="0"/>
              <a:t> relationship.</a:t>
            </a:r>
          </a:p>
          <a:p>
            <a:pPr lvl="1"/>
            <a:r>
              <a:rPr lang="en-GB" sz="2600" dirty="0"/>
              <a:t>It is a relationship where the same entity participates </a:t>
            </a:r>
            <a:br>
              <a:rPr lang="en-GB" sz="2600" dirty="0"/>
            </a:br>
            <a:r>
              <a:rPr lang="en-GB" sz="2600" dirty="0"/>
              <a:t>more than once in different roles.</a:t>
            </a:r>
          </a:p>
          <a:p>
            <a:pPr lvl="1"/>
            <a:r>
              <a:rPr lang="en-GB" sz="2600" dirty="0"/>
              <a:t>In the example, employees are managed by employees.</a:t>
            </a:r>
          </a:p>
          <a:p>
            <a:endParaRPr lang="en-GB" sz="900" dirty="0"/>
          </a:p>
          <a:p>
            <a:r>
              <a:rPr lang="en-GB" sz="2600" dirty="0"/>
              <a:t>If you wanted more information about who manages whom, you could introduce a second entity type called manager.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25</a:t>
            </a:fld>
            <a:endParaRPr lang="en-IE"/>
          </a:p>
        </p:txBody>
      </p:sp>
      <p:pic>
        <p:nvPicPr>
          <p:cNvPr id="4" name="Picture 3" descr="Fig0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96005" y="1540281"/>
            <a:ext cx="2172614" cy="1381658"/>
          </a:xfrm>
          <a:prstGeom prst="rect">
            <a:avLst/>
          </a:prstGeom>
        </p:spPr>
      </p:pic>
      <p:pic>
        <p:nvPicPr>
          <p:cNvPr id="6" name="Picture 5" descr="Fig2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33890" y="3683276"/>
            <a:ext cx="2019910" cy="13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1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dirty="0"/>
              <a:t>For example</a:t>
            </a:r>
            <a:r>
              <a:rPr lang="en-US" sz="2400" dirty="0"/>
              <a:t>, Suppose in a classroom, we have many students who belong to a particular club-like dance club, basketball club etc. and some of them are club leads. So, a particular group of student is managed by their respective club lead. Here, the group is formed from students and also, the club leads are chosen from students. </a:t>
            </a:r>
          </a:p>
          <a:p>
            <a:r>
              <a:rPr lang="en-US" sz="2400" dirty="0"/>
              <a:t>So, the ‘Student’ is the only entity participating here. </a:t>
            </a:r>
          </a:p>
          <a:p>
            <a:endParaRPr lang="en-I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3199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can represent this relationship using the E-R diagram as follows:</a:t>
            </a:r>
            <a:endParaRPr lang="en-I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27</a:t>
            </a:fld>
            <a:endParaRPr lang="en-IE"/>
          </a:p>
        </p:txBody>
      </p:sp>
      <p:pic>
        <p:nvPicPr>
          <p:cNvPr id="1026" name="Picture 2" descr="https://s3.ap-south-1.amazonaws.com/afteracademy-server-uploads/what-is-the-degree-of-relation-in-dbms-unary-relationship-example-ae2955f9272e3c1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762" y="3140184"/>
            <a:ext cx="5707465" cy="286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17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there are two entity types involved it is a </a:t>
            </a:r>
            <a:r>
              <a:rPr lang="en-GB" b="1" i="1" dirty="0"/>
              <a:t>binary</a:t>
            </a:r>
            <a:r>
              <a:rPr lang="en-GB" dirty="0"/>
              <a:t> relationship type.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28</a:t>
            </a:fld>
            <a:endParaRPr lang="en-IE"/>
          </a:p>
        </p:txBody>
      </p:sp>
      <p:pic>
        <p:nvPicPr>
          <p:cNvPr id="5" name="Picture 4" descr="Fig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37078" y="4001294"/>
            <a:ext cx="5773522" cy="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29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Relationship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there are three entity types involved it is a </a:t>
            </a:r>
            <a:r>
              <a:rPr lang="en-GB" b="1" i="1" dirty="0"/>
              <a:t>ternary</a:t>
            </a:r>
            <a:r>
              <a:rPr lang="en-GB" dirty="0"/>
              <a:t> relationship type.</a:t>
            </a:r>
          </a:p>
          <a:p>
            <a:endParaRPr lang="en-GB" dirty="0"/>
          </a:p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29</a:t>
            </a:fld>
            <a:endParaRPr lang="en-IE"/>
          </a:p>
        </p:txBody>
      </p:sp>
      <p:pic>
        <p:nvPicPr>
          <p:cNvPr id="4" name="Picture 3" descr="Fig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98619" y="3551751"/>
            <a:ext cx="5773522" cy="18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29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University might need to record which teachers taught which subjects in which courses.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30</a:t>
            </a:fld>
            <a:endParaRPr lang="en-IE"/>
          </a:p>
        </p:txBody>
      </p:sp>
      <p:pic>
        <p:nvPicPr>
          <p:cNvPr id="5122" name="Picture 2" descr="Ternary Relationsh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097" y="3292959"/>
            <a:ext cx="6501805" cy="288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620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31</a:t>
            </a:fld>
            <a:endParaRPr lang="en-I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96" y="2104947"/>
            <a:ext cx="7771515" cy="3156601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96" y="2104947"/>
            <a:ext cx="7771515" cy="315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7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Replacing Ternary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ternary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relationships occurs in an ER model they should always be removed before finishing the model.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Sometimes the relationships can be replaced by a series of binary relationships that link pairs of the original ternary relationship.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85000"/>
            </a:pPr>
            <a:endParaRPr lang="en-GB" sz="2400" dirty="0">
              <a:latin typeface="Arial" charset="0"/>
            </a:endParaRPr>
          </a:p>
          <a:p>
            <a:endParaRPr lang="en-IE" sz="3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32</a:t>
            </a:fld>
            <a:endParaRPr lang="en-IE"/>
          </a:p>
        </p:txBody>
      </p:sp>
      <p:pic>
        <p:nvPicPr>
          <p:cNvPr id="6" name="Picture 5" descr="Fig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7030" y="4356393"/>
            <a:ext cx="5773522" cy="1820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34065" y="4356393"/>
            <a:ext cx="40142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85000"/>
            </a:pPr>
            <a:r>
              <a:rPr lang="en-GB" sz="2000" dirty="0">
                <a:latin typeface="Arial" charset="0"/>
              </a:rPr>
              <a:t>This can result in the loss of some information</a:t>
            </a:r>
            <a:br>
              <a:rPr lang="en-GB" sz="2000" dirty="0">
                <a:latin typeface="Arial" charset="0"/>
              </a:rPr>
            </a:br>
            <a:r>
              <a:rPr lang="en-GB" sz="2000" dirty="0">
                <a:latin typeface="Arial" charset="0"/>
              </a:rPr>
              <a:t>i.e. It is no longer clear which sales assistant sold a customer a particular product.</a:t>
            </a:r>
          </a:p>
        </p:txBody>
      </p:sp>
    </p:spTree>
    <p:extLst>
      <p:ext uri="{BB962C8B-B14F-4D97-AF65-F5344CB8AC3E}">
        <p14:creationId xmlns:p14="http://schemas.microsoft.com/office/powerpoint/2010/main" val="2891414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Replacing Ternary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20000"/>
              </a:spcBef>
              <a:buClr>
                <a:schemeClr val="tx1"/>
              </a:buClr>
              <a:buSzPct val="85000"/>
              <a:buNone/>
            </a:pPr>
            <a:endParaRPr lang="en-GB" sz="2400" dirty="0">
              <a:latin typeface="Arial" charset="0"/>
            </a:endParaRPr>
          </a:p>
          <a:p>
            <a:endParaRPr lang="en-IE" sz="3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33</a:t>
            </a:fld>
            <a:endParaRPr lang="en-IE"/>
          </a:p>
        </p:txBody>
      </p:sp>
      <p:sp>
        <p:nvSpPr>
          <p:cNvPr id="5" name="Rectangle 4"/>
          <p:cNvSpPr/>
          <p:nvPr/>
        </p:nvSpPr>
        <p:spPr>
          <a:xfrm>
            <a:off x="838200" y="4851446"/>
            <a:ext cx="9872729" cy="95410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85000"/>
            </a:pPr>
            <a:r>
              <a:rPr lang="en-GB" sz="2800" dirty="0">
                <a:latin typeface="Arial" charset="0"/>
              </a:rPr>
              <a:t>Try replacing the ternary relationship with an entity type and a set of binary relationships.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489A3-D0D7-FD02-42D6-0FD4DD6C1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963" y="1734403"/>
            <a:ext cx="6758074" cy="274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98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Replacing Ternary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639672" cy="4603007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GB" dirty="0"/>
              <a:t>Relationships are usually </a:t>
            </a:r>
            <a:r>
              <a:rPr lang="en-GB" b="1" i="1" dirty="0"/>
              <a:t>verbs</a:t>
            </a:r>
            <a:r>
              <a:rPr lang="en-GB" dirty="0"/>
              <a:t>, so name the new entity type by the relationship verb rewritten as a </a:t>
            </a:r>
            <a:r>
              <a:rPr lang="en-GB" b="1" i="1" dirty="0"/>
              <a:t>noun</a:t>
            </a:r>
            <a:r>
              <a:rPr lang="en-GB" dirty="0"/>
              <a:t>.</a:t>
            </a:r>
          </a:p>
          <a:p>
            <a:pPr marL="819150" lvl="1"/>
            <a:r>
              <a:rPr lang="en-GB" sz="2000" dirty="0"/>
              <a:t>The relationship ‘sell’ can become the entity type ‘SALES’.</a:t>
            </a:r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819150" lvl="1"/>
            <a:endParaRPr lang="en-GB" sz="1600" dirty="0"/>
          </a:p>
          <a:p>
            <a:pPr marL="228600" lvl="1">
              <a:buNone/>
            </a:pPr>
            <a:r>
              <a:rPr lang="en-GB" sz="1600" dirty="0"/>
              <a:t>	</a:t>
            </a:r>
            <a:endParaRPr lang="en-GB" sz="2000" dirty="0"/>
          </a:p>
          <a:p>
            <a:endParaRPr lang="en-IE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34</a:t>
            </a:fld>
            <a:endParaRPr lang="en-IE"/>
          </a:p>
        </p:txBody>
      </p:sp>
      <p:pic>
        <p:nvPicPr>
          <p:cNvPr id="5" name="Picture 4" descr="Fig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81517" y="4685911"/>
            <a:ext cx="5040000" cy="1589268"/>
          </a:xfrm>
          <a:prstGeom prst="rect">
            <a:avLst/>
          </a:prstGeom>
        </p:spPr>
      </p:pic>
      <p:sp>
        <p:nvSpPr>
          <p:cNvPr id="6" name="Left-Up Arrow 5"/>
          <p:cNvSpPr/>
          <p:nvPr/>
        </p:nvSpPr>
        <p:spPr bwMode="auto">
          <a:xfrm rot="16200000">
            <a:off x="5435736" y="3869056"/>
            <a:ext cx="691563" cy="753038"/>
          </a:xfrm>
          <a:prstGeom prst="leftUpArrow">
            <a:avLst/>
          </a:prstGeom>
          <a:solidFill>
            <a:srgbClr val="FFFFCC"/>
          </a:solidFill>
          <a:ln w="12700" cap="sq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6DBCD072-F990-C10E-928E-826772A70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99793"/>
            <a:ext cx="4300405" cy="17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35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Example: Ternary Relationships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35</a:t>
            </a:fld>
            <a:endParaRPr lang="en-IE"/>
          </a:p>
        </p:txBody>
      </p:sp>
      <p:pic>
        <p:nvPicPr>
          <p:cNvPr id="4" name="Picture 3" descr="Fig3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23604" y="1770919"/>
            <a:ext cx="7473606" cy="453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4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Example: Ternary Relationship Converted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36</a:t>
            </a:fld>
            <a:endParaRPr lang="en-IE"/>
          </a:p>
        </p:txBody>
      </p:sp>
      <p:pic>
        <p:nvPicPr>
          <p:cNvPr id="4" name="Picture 3" descr="Fig1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83983" y="2027846"/>
            <a:ext cx="7613833" cy="3886570"/>
          </a:xfrm>
          <a:prstGeom prst="rect">
            <a:avLst/>
          </a:prstGeom>
        </p:spPr>
      </p:pic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3863569" y="3823981"/>
            <a:ext cx="1344168" cy="123444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endParaRPr lang="en-IE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82318" y="4877065"/>
            <a:ext cx="198804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Associative entity </a:t>
            </a: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or linking table</a:t>
            </a:r>
          </a:p>
        </p:txBody>
      </p:sp>
    </p:spTree>
    <p:extLst>
      <p:ext uri="{BB962C8B-B14F-4D97-AF65-F5344CB8AC3E}">
        <p14:creationId xmlns:p14="http://schemas.microsoft.com/office/powerpoint/2010/main" val="2058863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Example: Relationship Attributes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b="1" dirty="0"/>
              <a:t>Relationship Attributes:</a:t>
            </a:r>
          </a:p>
          <a:p>
            <a:pPr lvl="1"/>
            <a:r>
              <a:rPr lang="en-US" dirty="0"/>
              <a:t>Some relationships can have attributes just as an entity can have attributes.</a:t>
            </a:r>
          </a:p>
          <a:p>
            <a:pPr lvl="1"/>
            <a:r>
              <a:rPr lang="en-US" dirty="0"/>
              <a:t>Generally, this occurs with a many-to-many relationship.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37</a:t>
            </a:fld>
            <a:endParaRPr lang="en-IE"/>
          </a:p>
        </p:txBody>
      </p:sp>
      <p:pic>
        <p:nvPicPr>
          <p:cNvPr id="4" name="Picture 3" descr="Fig2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2336" y="4661245"/>
            <a:ext cx="4191610" cy="9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25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Example: Relationship Attributes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b="1" dirty="0"/>
              <a:t>Relationship Attributes:</a:t>
            </a:r>
          </a:p>
          <a:p>
            <a:pPr lvl="1"/>
            <a:r>
              <a:rPr lang="en-US" sz="2800" dirty="0"/>
              <a:t>Rule-of-thumb:</a:t>
            </a:r>
          </a:p>
          <a:p>
            <a:pPr lvl="2"/>
            <a:r>
              <a:rPr lang="en-US" sz="2400" dirty="0"/>
              <a:t>If you have an attribute on a 1:N relationship, you probably have something wrong.</a:t>
            </a:r>
          </a:p>
          <a:p>
            <a:pPr lvl="2"/>
            <a:r>
              <a:rPr lang="en-US" sz="2400" dirty="0"/>
              <a:t>Attribute should go on one of the entities.</a:t>
            </a:r>
          </a:p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3886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Example: Multiple Relationships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Multiple Relationships</a:t>
            </a:r>
            <a:r>
              <a:rPr lang="en-US" dirty="0"/>
              <a:t> - more than one relationship between the same entity types.</a:t>
            </a:r>
          </a:p>
          <a:p>
            <a:pPr lvl="1"/>
            <a:r>
              <a:rPr lang="en-US" dirty="0"/>
              <a:t>These are depicted in the ERD with multiple relationship lines connecting the two entities.</a:t>
            </a:r>
            <a:endParaRPr lang="en-GB" dirty="0"/>
          </a:p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39</a:t>
            </a:fld>
            <a:endParaRPr lang="en-IE"/>
          </a:p>
        </p:txBody>
      </p:sp>
      <p:pic>
        <p:nvPicPr>
          <p:cNvPr id="4" name="Picture 3" descr="Fig2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08132" y="4367852"/>
            <a:ext cx="5115154" cy="191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53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Prepare an ER diagram for a real estate company that lists property for sale. The following describes the </a:t>
            </a:r>
            <a:r>
              <a:rPr lang="en-US" dirty="0" err="1"/>
              <a:t>organisation</a:t>
            </a:r>
            <a:r>
              <a:rPr lang="en-US" dirty="0"/>
              <a:t>: 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lvl="1">
              <a:lnSpc>
                <a:spcPct val="110000"/>
              </a:lnSpc>
            </a:pPr>
            <a:r>
              <a:rPr lang="en-US" sz="2000" dirty="0"/>
              <a:t>The company has a number of sales offices in several counties.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Attributes of sales office include </a:t>
            </a:r>
            <a:r>
              <a:rPr lang="en-US" sz="2000" dirty="0" err="1"/>
              <a:t>Office_Number</a:t>
            </a:r>
            <a:r>
              <a:rPr lang="en-US" sz="2000" dirty="0"/>
              <a:t> (identifier/key) and Location.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Each sales office is assigned one or more employees.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Attributes of employee include </a:t>
            </a:r>
            <a:r>
              <a:rPr lang="en-US" sz="2000" dirty="0" err="1"/>
              <a:t>Employee_ID</a:t>
            </a:r>
            <a:r>
              <a:rPr lang="en-US" sz="2000" dirty="0"/>
              <a:t> (identifier/key) and </a:t>
            </a:r>
            <a:r>
              <a:rPr lang="en-US" sz="2000" dirty="0" err="1"/>
              <a:t>Employee_Name</a:t>
            </a:r>
            <a:r>
              <a:rPr lang="en-US" sz="2000" dirty="0"/>
              <a:t>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An employee must be assigned to only one sales office.  </a:t>
            </a:r>
          </a:p>
          <a:p>
            <a:pPr lvl="1"/>
            <a:r>
              <a:rPr lang="en-US" sz="2000" dirty="0"/>
              <a:t>The firm lists property for sale.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0363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Prepare an ER diagram for a real estate company that lists property for sale. The following describes the </a:t>
            </a:r>
            <a:r>
              <a:rPr lang="en-US" dirty="0" err="1"/>
              <a:t>organisation</a:t>
            </a:r>
            <a:r>
              <a:rPr lang="en-US" dirty="0"/>
              <a:t>: 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company</a:t>
            </a:r>
            <a:r>
              <a:rPr lang="en-US" sz="2000" dirty="0"/>
              <a:t> has a number of </a:t>
            </a:r>
            <a:r>
              <a:rPr lang="en-US" sz="2000" b="1" dirty="0">
                <a:solidFill>
                  <a:srgbClr val="FF0000"/>
                </a:solidFill>
              </a:rPr>
              <a:t>sales offices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6"/>
                </a:solidFill>
              </a:rPr>
              <a:t>several counties</a:t>
            </a:r>
            <a:r>
              <a:rPr lang="en-US" sz="20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Attributes of </a:t>
            </a:r>
            <a:r>
              <a:rPr lang="en-US" sz="2000" b="1" dirty="0">
                <a:solidFill>
                  <a:srgbClr val="FF0000"/>
                </a:solidFill>
              </a:rPr>
              <a:t>sales office </a:t>
            </a:r>
            <a:r>
              <a:rPr lang="en-US" sz="2000" dirty="0"/>
              <a:t>include </a:t>
            </a:r>
            <a:r>
              <a:rPr lang="en-US" sz="2000" b="1" dirty="0" err="1">
                <a:solidFill>
                  <a:schemeClr val="accent6"/>
                </a:solidFill>
              </a:rPr>
              <a:t>Office_Number</a:t>
            </a:r>
            <a:r>
              <a:rPr lang="en-US" sz="2000" dirty="0"/>
              <a:t> (identifier/key) and </a:t>
            </a:r>
            <a:r>
              <a:rPr lang="en-US" sz="2000" b="1" dirty="0">
                <a:solidFill>
                  <a:schemeClr val="accent6"/>
                </a:solidFill>
              </a:rPr>
              <a:t>Location</a:t>
            </a:r>
            <a:r>
              <a:rPr lang="en-US" sz="20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Each </a:t>
            </a:r>
            <a:r>
              <a:rPr lang="en-US" sz="2000" b="1" dirty="0">
                <a:solidFill>
                  <a:srgbClr val="FF0000"/>
                </a:solidFill>
              </a:rPr>
              <a:t>sales office </a:t>
            </a:r>
            <a:r>
              <a:rPr lang="en-US" sz="2000" dirty="0"/>
              <a:t>is assigned one or more </a:t>
            </a:r>
            <a:r>
              <a:rPr lang="en-US" sz="2000" b="1" dirty="0">
                <a:solidFill>
                  <a:srgbClr val="FF0000"/>
                </a:solidFill>
              </a:rPr>
              <a:t>employees</a:t>
            </a:r>
            <a:r>
              <a:rPr lang="en-US" sz="2000" dirty="0"/>
              <a:t>.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Attributes of </a:t>
            </a:r>
            <a:r>
              <a:rPr lang="en-US" sz="2000" b="1" dirty="0">
                <a:solidFill>
                  <a:srgbClr val="FF0000"/>
                </a:solidFill>
              </a:rPr>
              <a:t>employee</a:t>
            </a:r>
            <a:r>
              <a:rPr lang="en-US" sz="2000" dirty="0"/>
              <a:t> include </a:t>
            </a:r>
            <a:r>
              <a:rPr lang="en-US" sz="2000" b="1" dirty="0" err="1">
                <a:solidFill>
                  <a:schemeClr val="accent6"/>
                </a:solidFill>
              </a:rPr>
              <a:t>Employee_ID</a:t>
            </a:r>
            <a:r>
              <a:rPr lang="en-US" sz="2000" b="1" dirty="0">
                <a:solidFill>
                  <a:schemeClr val="accent6"/>
                </a:solidFill>
              </a:rPr>
              <a:t> (identifier/key) and </a:t>
            </a:r>
            <a:r>
              <a:rPr lang="en-US" sz="2000" b="1" dirty="0" err="1">
                <a:solidFill>
                  <a:schemeClr val="accent6"/>
                </a:solidFill>
              </a:rPr>
              <a:t>Employee_Name</a:t>
            </a:r>
            <a:r>
              <a:rPr lang="en-US" sz="2000" b="1" dirty="0">
                <a:solidFill>
                  <a:schemeClr val="accent6"/>
                </a:solidFill>
              </a:rPr>
              <a:t>.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An </a:t>
            </a:r>
            <a:r>
              <a:rPr lang="en-US" sz="2000" b="1" dirty="0">
                <a:solidFill>
                  <a:srgbClr val="FF0000"/>
                </a:solidFill>
              </a:rPr>
              <a:t>employee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must be assigned to only one </a:t>
            </a:r>
            <a:r>
              <a:rPr lang="en-US" sz="2000" b="1" dirty="0">
                <a:solidFill>
                  <a:srgbClr val="FF0000"/>
                </a:solidFill>
              </a:rPr>
              <a:t>sales office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firm</a:t>
            </a:r>
            <a:r>
              <a:rPr lang="en-US" sz="2000" dirty="0"/>
              <a:t> lists </a:t>
            </a:r>
            <a:r>
              <a:rPr lang="en-US" sz="2000" b="1" dirty="0">
                <a:solidFill>
                  <a:srgbClr val="FF0000"/>
                </a:solidFill>
              </a:rPr>
              <a:t>property</a:t>
            </a:r>
            <a:r>
              <a:rPr lang="en-US" sz="2000" dirty="0"/>
              <a:t> for sale.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10074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Attributes of property include </a:t>
            </a:r>
            <a:r>
              <a:rPr lang="en-US" sz="2000" dirty="0" err="1"/>
              <a:t>Property_ID</a:t>
            </a:r>
            <a:r>
              <a:rPr lang="en-US" sz="2000" dirty="0"/>
              <a:t> (identifier) and Location. </a:t>
            </a:r>
          </a:p>
          <a:p>
            <a:pPr lvl="1"/>
            <a:r>
              <a:rPr lang="en-US" sz="2000" dirty="0"/>
              <a:t>Components of Location include Address, City, County, and </a:t>
            </a:r>
            <a:r>
              <a:rPr lang="en-US" sz="2000" dirty="0" err="1"/>
              <a:t>Postal_Code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Each unit of property must be listed with one (and only one) of the sales offices. </a:t>
            </a:r>
          </a:p>
          <a:p>
            <a:pPr lvl="1"/>
            <a:r>
              <a:rPr lang="en-US" sz="2000" dirty="0"/>
              <a:t>A sales office may have any number of properties listed. </a:t>
            </a:r>
          </a:p>
          <a:p>
            <a:pPr lvl="1"/>
            <a:r>
              <a:rPr lang="en-US" sz="2000" dirty="0"/>
              <a:t>Each unit of property has one or more owners. </a:t>
            </a:r>
          </a:p>
          <a:p>
            <a:pPr lvl="1"/>
            <a:r>
              <a:rPr lang="en-US" sz="2000" dirty="0"/>
              <a:t>Attributes of owners are </a:t>
            </a:r>
            <a:r>
              <a:rPr lang="en-US" sz="2000" dirty="0" err="1"/>
              <a:t>Owner_ID</a:t>
            </a:r>
            <a:r>
              <a:rPr lang="en-US" sz="2000" dirty="0"/>
              <a:t> (identifier) and </a:t>
            </a:r>
            <a:r>
              <a:rPr lang="en-US" sz="2000" dirty="0" err="1"/>
              <a:t>Owner_Name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An owner may own one or more units of property. </a:t>
            </a:r>
          </a:p>
          <a:p>
            <a:pPr lvl="1"/>
            <a:r>
              <a:rPr lang="en-US" sz="2000" dirty="0"/>
              <a:t>An attribute of the association between property and owner is </a:t>
            </a:r>
            <a:r>
              <a:rPr lang="en-US" sz="2000" dirty="0" err="1"/>
              <a:t>Percent_Owned</a:t>
            </a:r>
            <a:r>
              <a:rPr lang="en-US" sz="2000" dirty="0"/>
              <a:t>.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1697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2000" dirty="0"/>
              <a:t>Attributes of </a:t>
            </a:r>
            <a:r>
              <a:rPr lang="en-US" sz="2000" b="1" dirty="0">
                <a:solidFill>
                  <a:srgbClr val="FF0000"/>
                </a:solidFill>
              </a:rPr>
              <a:t>property</a:t>
            </a:r>
            <a:r>
              <a:rPr lang="en-US" sz="2000" dirty="0"/>
              <a:t> include </a:t>
            </a:r>
            <a:r>
              <a:rPr lang="en-US" sz="2000" b="1" dirty="0" err="1">
                <a:solidFill>
                  <a:srgbClr val="92D050"/>
                </a:solidFill>
              </a:rPr>
              <a:t>Property_ID</a:t>
            </a:r>
            <a:r>
              <a:rPr lang="en-US" sz="2000" b="1" dirty="0">
                <a:solidFill>
                  <a:srgbClr val="92D050"/>
                </a:solidFill>
              </a:rPr>
              <a:t> (identifier) and Location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Components of </a:t>
            </a:r>
            <a:r>
              <a:rPr lang="en-US" sz="2000" b="1" dirty="0">
                <a:solidFill>
                  <a:srgbClr val="FF0000"/>
                </a:solidFill>
              </a:rPr>
              <a:t>Location</a:t>
            </a:r>
            <a:r>
              <a:rPr lang="en-US" sz="2000" dirty="0"/>
              <a:t> include </a:t>
            </a:r>
            <a:r>
              <a:rPr lang="en-US" sz="2000" b="1" dirty="0">
                <a:solidFill>
                  <a:srgbClr val="92D050"/>
                </a:solidFill>
              </a:rPr>
              <a:t>Address, City, County, and </a:t>
            </a:r>
            <a:r>
              <a:rPr lang="en-US" sz="2000" b="1" dirty="0" err="1">
                <a:solidFill>
                  <a:srgbClr val="92D050"/>
                </a:solidFill>
              </a:rPr>
              <a:t>Postal_Code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Each unit of </a:t>
            </a:r>
            <a:r>
              <a:rPr lang="en-US" sz="2000" b="1" dirty="0">
                <a:solidFill>
                  <a:srgbClr val="FF0000"/>
                </a:solidFill>
              </a:rPr>
              <a:t>property</a:t>
            </a:r>
            <a:r>
              <a:rPr lang="en-US" sz="2000" dirty="0"/>
              <a:t> must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be listed with one (and only one) </a:t>
            </a:r>
            <a:r>
              <a:rPr lang="en-US" sz="2000" dirty="0"/>
              <a:t>of the </a:t>
            </a:r>
            <a:r>
              <a:rPr lang="en-US" sz="2000" b="1" dirty="0">
                <a:solidFill>
                  <a:srgbClr val="FF0000"/>
                </a:solidFill>
              </a:rPr>
              <a:t>sales office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>
                <a:solidFill>
                  <a:srgbClr val="FF0000"/>
                </a:solidFill>
              </a:rPr>
              <a:t>sales office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may have any number </a:t>
            </a:r>
            <a:r>
              <a:rPr lang="en-US" sz="2000" dirty="0"/>
              <a:t>of</a:t>
            </a:r>
            <a:r>
              <a:rPr lang="en-US" sz="2000" b="1" dirty="0">
                <a:solidFill>
                  <a:srgbClr val="FF0000"/>
                </a:solidFill>
              </a:rPr>
              <a:t> properties </a:t>
            </a:r>
            <a:r>
              <a:rPr lang="en-US" sz="2000" dirty="0"/>
              <a:t>listed. </a:t>
            </a:r>
          </a:p>
          <a:p>
            <a:pPr lvl="1"/>
            <a:r>
              <a:rPr lang="en-US" sz="2000" dirty="0"/>
              <a:t>Each unit of </a:t>
            </a:r>
            <a:r>
              <a:rPr lang="en-US" sz="2000" b="1" dirty="0">
                <a:solidFill>
                  <a:srgbClr val="FF0000"/>
                </a:solidFill>
              </a:rPr>
              <a:t>property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has one or more </a:t>
            </a:r>
            <a:r>
              <a:rPr lang="en-US" sz="2000" b="1" dirty="0">
                <a:solidFill>
                  <a:srgbClr val="FF0000"/>
                </a:solidFill>
              </a:rPr>
              <a:t>owners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Attributes of </a:t>
            </a:r>
            <a:r>
              <a:rPr lang="en-US" sz="2000" b="1" dirty="0">
                <a:solidFill>
                  <a:srgbClr val="FF0000"/>
                </a:solidFill>
              </a:rPr>
              <a:t>owners</a:t>
            </a:r>
            <a:r>
              <a:rPr lang="en-US" sz="2000" dirty="0"/>
              <a:t> are </a:t>
            </a:r>
            <a:r>
              <a:rPr lang="en-US" sz="2000" b="1" dirty="0" err="1">
                <a:solidFill>
                  <a:srgbClr val="92D050"/>
                </a:solidFill>
              </a:rPr>
              <a:t>Owner_ID</a:t>
            </a:r>
            <a:r>
              <a:rPr lang="en-US" sz="2000" b="1" dirty="0">
                <a:solidFill>
                  <a:srgbClr val="92D050"/>
                </a:solidFill>
              </a:rPr>
              <a:t> (identifier) and </a:t>
            </a:r>
            <a:r>
              <a:rPr lang="en-US" sz="2000" b="1" dirty="0" err="1">
                <a:solidFill>
                  <a:srgbClr val="92D050"/>
                </a:solidFill>
              </a:rPr>
              <a:t>Owner_Name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An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owner may own one or more </a:t>
            </a:r>
            <a:r>
              <a:rPr lang="en-US" sz="2000" dirty="0"/>
              <a:t>units of </a:t>
            </a:r>
            <a:r>
              <a:rPr lang="en-US" sz="2000" b="1" dirty="0">
                <a:solidFill>
                  <a:srgbClr val="FF0000"/>
                </a:solidFill>
              </a:rPr>
              <a:t>property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An attribute of the association between property and owner is </a:t>
            </a:r>
            <a:r>
              <a:rPr lang="en-US" sz="2000" b="1" dirty="0" err="1">
                <a:solidFill>
                  <a:srgbClr val="92D050"/>
                </a:solidFill>
              </a:rPr>
              <a:t>Percent_Owned</a:t>
            </a:r>
            <a:r>
              <a:rPr lang="en-US" sz="2000" dirty="0"/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1169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637"/>
            <a:ext cx="10515600" cy="1325563"/>
          </a:xfrm>
        </p:spPr>
        <p:txBody>
          <a:bodyPr/>
          <a:lstStyle/>
          <a:p>
            <a:r>
              <a:rPr lang="en-US" dirty="0"/>
              <a:t>Entities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78213" y="1809343"/>
          <a:ext cx="2163107" cy="261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07">
                  <a:extLst>
                    <a:ext uri="{9D8B030D-6E8A-4147-A177-3AD203B41FA5}">
                      <a16:colId xmlns:a16="http://schemas.microsoft.com/office/drawing/2014/main" val="1979508156"/>
                    </a:ext>
                  </a:extLst>
                </a:gridCol>
              </a:tblGrid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Possible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entities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52247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Sales offices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23444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82303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569112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Owners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766475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Companies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43312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Locations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635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44</a:t>
            </a:fld>
            <a:endParaRPr lang="en-IE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5014446" y="1809343"/>
          <a:ext cx="2163107" cy="186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07">
                  <a:extLst>
                    <a:ext uri="{9D8B030D-6E8A-4147-A177-3AD203B41FA5}">
                      <a16:colId xmlns:a16="http://schemas.microsoft.com/office/drawing/2014/main" val="1979508156"/>
                    </a:ext>
                  </a:extLst>
                </a:gridCol>
              </a:tblGrid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Entities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52247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Sales offices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23444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82303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569112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Owners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766475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3638145" y="2879387"/>
            <a:ext cx="1186774" cy="5642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0252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45</a:t>
            </a:fld>
            <a:endParaRPr lang="en-IE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1590304" y="2140083"/>
          <a:ext cx="7592606" cy="2132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303">
                  <a:extLst>
                    <a:ext uri="{9D8B030D-6E8A-4147-A177-3AD203B41FA5}">
                      <a16:colId xmlns:a16="http://schemas.microsoft.com/office/drawing/2014/main" val="1979508156"/>
                    </a:ext>
                  </a:extLst>
                </a:gridCol>
                <a:gridCol w="3796303">
                  <a:extLst>
                    <a:ext uri="{9D8B030D-6E8A-4147-A177-3AD203B41FA5}">
                      <a16:colId xmlns:a16="http://schemas.microsoft.com/office/drawing/2014/main" val="1064161998"/>
                    </a:ext>
                  </a:extLst>
                </a:gridCol>
              </a:tblGrid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Entities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52247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Sales offices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Office id, location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23444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id, name, job description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82303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Property id, address, city, county, postal code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569112"/>
                  </a:ext>
                </a:extLst>
              </a:tr>
              <a:tr h="373166">
                <a:tc>
                  <a:txBody>
                    <a:bodyPr/>
                    <a:lstStyle/>
                    <a:p>
                      <a:r>
                        <a:rPr lang="en-US" dirty="0"/>
                        <a:t>Owners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id,  name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766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665378"/>
          <a:ext cx="8763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1430052"/>
                    </a:ext>
                  </a:extLst>
                </a:gridCol>
                <a:gridCol w="2039566">
                  <a:extLst>
                    <a:ext uri="{9D8B030D-6E8A-4147-A177-3AD203B41FA5}">
                      <a16:colId xmlns:a16="http://schemas.microsoft.com/office/drawing/2014/main" val="2573057736"/>
                    </a:ext>
                  </a:extLst>
                </a:gridCol>
                <a:gridCol w="1465634">
                  <a:extLst>
                    <a:ext uri="{9D8B030D-6E8A-4147-A177-3AD203B41FA5}">
                      <a16:colId xmlns:a16="http://schemas.microsoft.com/office/drawing/2014/main" val="397936872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981558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01780919"/>
                    </a:ext>
                  </a:extLst>
                </a:gridCol>
              </a:tblGrid>
              <a:tr h="192567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offices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Owners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15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Sales offices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845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Employees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in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9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Listed in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8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Owners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Owns 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83401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38323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 with PKs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47</a:t>
            </a:fld>
            <a:endParaRPr lang="en-I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25" y="1415039"/>
            <a:ext cx="10152140" cy="486902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28299" y="181515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610600" y="367352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06439" y="5952698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688774" y="4796875"/>
            <a:ext cx="8063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964072" y="2320119"/>
            <a:ext cx="736979" cy="150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36068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 with cardinality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48</a:t>
            </a:fld>
            <a:endParaRPr lang="en-I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7223"/>
            <a:ext cx="9574212" cy="445719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228299" y="181515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8741" y="3591207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29269" y="5747981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353267" y="4674046"/>
            <a:ext cx="8063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357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    *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49</a:t>
            </a:fld>
            <a:endParaRPr lang="en-I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7223"/>
            <a:ext cx="9574212" cy="4457193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6186791" y="4202349"/>
            <a:ext cx="719847" cy="132296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6" name="Straight Connector 5"/>
          <p:cNvCxnSpPr/>
          <p:nvPr/>
        </p:nvCxnSpPr>
        <p:spPr>
          <a:xfrm>
            <a:off x="1228299" y="181515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269406" y="3590283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29269" y="5734334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320285" y="4674043"/>
            <a:ext cx="8063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474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 with weak entities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50</a:t>
            </a:fld>
            <a:endParaRPr lang="en-I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14" y="1690688"/>
            <a:ext cx="10081406" cy="469331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596795" y="208811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979096" y="3946482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74935" y="6225658"/>
            <a:ext cx="1023582" cy="1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057270" y="5069835"/>
            <a:ext cx="8063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5498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51</a:t>
            </a:fld>
            <a:endParaRPr lang="en-I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09" y="1690687"/>
            <a:ext cx="10081406" cy="469331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365771" y="2003898"/>
            <a:ext cx="6634264" cy="11867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5680953" y="1361872"/>
            <a:ext cx="250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Identifying</a:t>
            </a:r>
            <a:endParaRPr lang="en-IE" dirty="0"/>
          </a:p>
        </p:txBody>
      </p:sp>
      <p:sp>
        <p:nvSpPr>
          <p:cNvPr id="8" name="Oval 7"/>
          <p:cNvSpPr/>
          <p:nvPr/>
        </p:nvSpPr>
        <p:spPr>
          <a:xfrm rot="5400000">
            <a:off x="1908884" y="3669591"/>
            <a:ext cx="4995491" cy="1381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1896893" y="3831297"/>
            <a:ext cx="250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Identifying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493740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Rough ER Diagram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52</a:t>
            </a:fld>
            <a:endParaRPr lang="en-I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62" y="1651463"/>
            <a:ext cx="10150102" cy="472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94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version 1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695" y="1455186"/>
            <a:ext cx="8441284" cy="461576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062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version 1 - PKs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397" y="1441424"/>
            <a:ext cx="9046722" cy="49468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54</a:t>
            </a:fld>
            <a:endParaRPr lang="en-IE"/>
          </a:p>
        </p:txBody>
      </p:sp>
      <p:grpSp>
        <p:nvGrpSpPr>
          <p:cNvPr id="5" name="Group 4"/>
          <p:cNvGrpSpPr/>
          <p:nvPr/>
        </p:nvGrpSpPr>
        <p:grpSpPr>
          <a:xfrm>
            <a:off x="2589397" y="1951630"/>
            <a:ext cx="8252489" cy="3684895"/>
            <a:chOff x="1439695" y="1951630"/>
            <a:chExt cx="8252489" cy="3684895"/>
          </a:xfrm>
        </p:grpSpPr>
        <p:sp>
          <p:nvSpPr>
            <p:cNvPr id="4" name="Rectangle 3"/>
            <p:cNvSpPr/>
            <p:nvPr/>
          </p:nvSpPr>
          <p:spPr>
            <a:xfrm>
              <a:off x="1439695" y="1951630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713719" y="1951630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37504" y="5243015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293145" y="5243015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15324" y="5243015"/>
              <a:ext cx="1399039" cy="393510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3848533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version 1 - FKs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397" y="1441424"/>
            <a:ext cx="9046722" cy="49468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55</a:t>
            </a:fld>
            <a:endParaRPr lang="en-IE"/>
          </a:p>
        </p:txBody>
      </p:sp>
      <p:grpSp>
        <p:nvGrpSpPr>
          <p:cNvPr id="5" name="Group 4"/>
          <p:cNvGrpSpPr/>
          <p:nvPr/>
        </p:nvGrpSpPr>
        <p:grpSpPr>
          <a:xfrm>
            <a:off x="2589397" y="1937775"/>
            <a:ext cx="8252489" cy="3684895"/>
            <a:chOff x="1439695" y="1951630"/>
            <a:chExt cx="8252489" cy="3684895"/>
          </a:xfrm>
        </p:grpSpPr>
        <p:sp>
          <p:nvSpPr>
            <p:cNvPr id="4" name="Rectangle 3"/>
            <p:cNvSpPr/>
            <p:nvPr/>
          </p:nvSpPr>
          <p:spPr>
            <a:xfrm>
              <a:off x="1439695" y="1951630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713719" y="1951630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37504" y="5243015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293145" y="5243015"/>
              <a:ext cx="1399039" cy="2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15324" y="5243015"/>
              <a:ext cx="1399039" cy="393510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F98EB2D-3A9A-B777-766D-D5428D2E4395}"/>
              </a:ext>
            </a:extLst>
          </p:cNvPr>
          <p:cNvSpPr/>
          <p:nvPr/>
        </p:nvSpPr>
        <p:spPr>
          <a:xfrm>
            <a:off x="6830561" y="2142491"/>
            <a:ext cx="1357745" cy="211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B0D34B-1551-1FFB-AF2B-346E3E7E3973}"/>
              </a:ext>
            </a:extLst>
          </p:cNvPr>
          <p:cNvSpPr/>
          <p:nvPr/>
        </p:nvSpPr>
        <p:spPr>
          <a:xfrm>
            <a:off x="2630691" y="5409438"/>
            <a:ext cx="1357745" cy="211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51A519-1F12-C60D-8186-1E9C6C3F31D3}"/>
              </a:ext>
            </a:extLst>
          </p:cNvPr>
          <p:cNvSpPr/>
          <p:nvPr/>
        </p:nvSpPr>
        <p:spPr>
          <a:xfrm>
            <a:off x="6046551" y="5160300"/>
            <a:ext cx="1545740" cy="4603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33781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extra information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302" y="1621403"/>
            <a:ext cx="8717578" cy="476684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56</a:t>
            </a:fld>
            <a:endParaRPr lang="en-IE"/>
          </a:p>
        </p:txBody>
      </p:sp>
      <p:sp>
        <p:nvSpPr>
          <p:cNvPr id="5" name="Rectangle 4"/>
          <p:cNvSpPr/>
          <p:nvPr/>
        </p:nvSpPr>
        <p:spPr>
          <a:xfrm>
            <a:off x="2503250" y="3764729"/>
            <a:ext cx="7321685" cy="88267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"/>
              <a:tabLst>
                <a:tab pos="457200" algn="l"/>
              </a:tabLst>
            </a:pPr>
            <a:r>
              <a:rPr lang="en-AU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each sales office, there is always one employee assigned to manage that office.</a:t>
            </a:r>
            <a:endParaRPr lang="en-IE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87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version 2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0" y="1521317"/>
            <a:ext cx="7820167" cy="486693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83351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02" y="365125"/>
            <a:ext cx="10614498" cy="1385854"/>
          </a:xfrm>
        </p:spPr>
        <p:txBody>
          <a:bodyPr/>
          <a:lstStyle/>
          <a:p>
            <a:r>
              <a:rPr lang="en-US" dirty="0"/>
              <a:t>Solution lab 2 exercise 2 version 3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5" y="2001044"/>
            <a:ext cx="6305550" cy="4000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58</a:t>
            </a:fld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4609463" y="1753305"/>
            <a:ext cx="1245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manages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21574439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Based ER Diagram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many to many relationships</a:t>
            </a:r>
          </a:p>
          <a:p>
            <a:r>
              <a:rPr lang="en-US" dirty="0"/>
              <a:t>Bridge entities used if required</a:t>
            </a:r>
          </a:p>
          <a:p>
            <a:r>
              <a:rPr lang="en-US" dirty="0"/>
              <a:t>PKs defined</a:t>
            </a:r>
          </a:p>
          <a:p>
            <a:r>
              <a:rPr lang="en-US" dirty="0"/>
              <a:t>FKs defined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59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24083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 version 1</a:t>
            </a:r>
            <a:br>
              <a:rPr lang="en-US" dirty="0"/>
            </a:br>
            <a:r>
              <a:rPr lang="en-US" dirty="0"/>
              <a:t>Key based ER diagram</a:t>
            </a:r>
            <a:endParaRPr lang="en-IE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1805"/>
            <a:ext cx="8286750" cy="40290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83096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Foreign Key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61</a:t>
            </a:fld>
            <a:endParaRPr lang="en-I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54" y="1827457"/>
            <a:ext cx="8610489" cy="42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649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lab 2 exercise 2 version 3</a:t>
            </a:r>
            <a:br>
              <a:rPr lang="en-US" dirty="0"/>
            </a:br>
            <a:r>
              <a:rPr lang="en-US" dirty="0"/>
              <a:t>Key based ER diagram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62</a:t>
            </a:fld>
            <a:endParaRPr lang="en-IE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228892-0708-6043-1862-BD7E2E477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" t="6908" r="58380" b="61226"/>
          <a:stretch/>
        </p:blipFill>
        <p:spPr>
          <a:xfrm>
            <a:off x="2400299" y="1840229"/>
            <a:ext cx="7754535" cy="4548020"/>
          </a:xfrm>
        </p:spPr>
      </p:pic>
    </p:spTree>
    <p:extLst>
      <p:ext uri="{BB962C8B-B14F-4D97-AF65-F5344CB8AC3E}">
        <p14:creationId xmlns:p14="http://schemas.microsoft.com/office/powerpoint/2010/main" val="35939611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 description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Business Requirements</a:t>
            </a:r>
            <a:endParaRPr lang="en-IE" b="1" i="1" dirty="0"/>
          </a:p>
          <a:p>
            <a:pPr marL="0" indent="0">
              <a:buNone/>
            </a:pPr>
            <a:r>
              <a:rPr lang="en-GB" i="1" dirty="0"/>
              <a:t>A company has several departments. Each department has a supervisor and at least one employee. Employees must be assigned to at least one, but possibly more departments. At least one employee is assigned to a project, but an employee may be on holidays and not assigned to any projects. 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27005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779" y="-4905"/>
            <a:ext cx="10515600" cy="1325563"/>
          </a:xfrm>
        </p:spPr>
        <p:txBody>
          <a:bodyPr/>
          <a:lstStyle/>
          <a:p>
            <a:r>
              <a:rPr lang="en-US" dirty="0"/>
              <a:t>Work flow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779" y="132065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u="sng" dirty="0"/>
              <a:t>Step 1: Identify Entities</a:t>
            </a:r>
            <a:endParaRPr lang="en-IE" b="1" i="1" dirty="0"/>
          </a:p>
          <a:p>
            <a:pPr marL="0" indent="0">
              <a:buNone/>
            </a:pPr>
            <a:r>
              <a:rPr lang="en-GB" b="1" u="sng" dirty="0"/>
              <a:t>Step 2: Find Relationships</a:t>
            </a:r>
            <a:endParaRPr lang="en-GB" b="1" i="1" u="sng" dirty="0"/>
          </a:p>
          <a:p>
            <a:pPr marL="0" indent="0">
              <a:buNone/>
            </a:pPr>
            <a:r>
              <a:rPr lang="en-GB" b="1" u="sng" dirty="0"/>
              <a:t>Step 3: Draw Rough ER Diagram</a:t>
            </a:r>
            <a:endParaRPr lang="en-IE" b="1" i="1" dirty="0"/>
          </a:p>
          <a:p>
            <a:pPr marL="0" indent="0">
              <a:buNone/>
            </a:pPr>
            <a:r>
              <a:rPr lang="en-GB" b="1" u="sng" dirty="0"/>
              <a:t>Step 4: Fill in Cardinality</a:t>
            </a:r>
            <a:endParaRPr lang="en-IE" b="1" i="1" dirty="0"/>
          </a:p>
          <a:p>
            <a:pPr marL="0" indent="0">
              <a:buNone/>
            </a:pPr>
            <a:r>
              <a:rPr lang="en-GB" b="1" u="sng" dirty="0"/>
              <a:t>Step 5: Define Primary Keys</a:t>
            </a:r>
            <a:endParaRPr lang="en-IE" b="1" i="1" dirty="0"/>
          </a:p>
          <a:p>
            <a:pPr marL="0" indent="0">
              <a:buNone/>
            </a:pPr>
            <a:r>
              <a:rPr lang="en-GB" b="1" u="sng" dirty="0"/>
              <a:t>Step 6: Draw Key-Based ERD  </a:t>
            </a:r>
            <a:r>
              <a:rPr lang="en-GB" sz="2400" b="1" u="sng" dirty="0"/>
              <a:t>(eliminating many to many relationships, include FKs)</a:t>
            </a:r>
            <a:endParaRPr lang="en-IE" b="1" i="1" dirty="0"/>
          </a:p>
          <a:p>
            <a:pPr marL="0" indent="0">
              <a:buNone/>
            </a:pPr>
            <a:r>
              <a:rPr lang="en-GB" b="1" u="sng" dirty="0"/>
              <a:t>Step 7: Identify Attributes &amp; Step 8: Map Attributes</a:t>
            </a:r>
          </a:p>
          <a:p>
            <a:pPr marL="0" indent="0">
              <a:buNone/>
            </a:pPr>
            <a:r>
              <a:rPr lang="en-GB" b="1" u="sng" dirty="0"/>
              <a:t>Step 9: Draw Fully Attributed E-R Diagram</a:t>
            </a:r>
          </a:p>
          <a:p>
            <a:pPr marL="0" indent="0">
              <a:buNone/>
            </a:pPr>
            <a:r>
              <a:rPr lang="en-GB" b="1" u="sng" dirty="0"/>
              <a:t>Step 10: Revise and update list of assumptions</a:t>
            </a:r>
          </a:p>
          <a:p>
            <a:pPr marL="0" indent="0">
              <a:buNone/>
            </a:pPr>
            <a:endParaRPr lang="en-IE" b="1" i="1" dirty="0"/>
          </a:p>
          <a:p>
            <a:endParaRPr lang="en-IE" b="1" i="1" dirty="0"/>
          </a:p>
          <a:p>
            <a:endParaRPr lang="en-IE" b="1" i="1" dirty="0"/>
          </a:p>
          <a:p>
            <a:endParaRPr lang="en-IE" b="1" i="1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64</a:t>
            </a:fld>
            <a:endParaRPr lang="en-IE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52628"/>
              </p:ext>
            </p:extLst>
          </p:nvPr>
        </p:nvGraphicFramePr>
        <p:xfrm>
          <a:off x="5576570" y="1614339"/>
          <a:ext cx="5777230" cy="1229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79170">
                  <a:extLst>
                    <a:ext uri="{9D8B030D-6E8A-4147-A177-3AD203B41FA5}">
                      <a16:colId xmlns:a16="http://schemas.microsoft.com/office/drawing/2014/main" val="3084663048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4163298933"/>
                    </a:ext>
                  </a:extLst>
                </a:gridCol>
                <a:gridCol w="947420">
                  <a:extLst>
                    <a:ext uri="{9D8B030D-6E8A-4147-A177-3AD203B41FA5}">
                      <a16:colId xmlns:a16="http://schemas.microsoft.com/office/drawing/2014/main" val="839654562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64792213"/>
                    </a:ext>
                  </a:extLst>
                </a:gridCol>
                <a:gridCol w="966470">
                  <a:extLst>
                    <a:ext uri="{9D8B030D-6E8A-4147-A177-3AD203B41FA5}">
                      <a16:colId xmlns:a16="http://schemas.microsoft.com/office/drawing/2014/main" val="1579433303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697296584"/>
                    </a:ext>
                  </a:extLst>
                </a:gridCol>
              </a:tblGrid>
              <a:tr h="215900"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Relationship matrix</a:t>
                      </a: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E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E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11727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4029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478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2608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E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endParaRPr lang="en-IE" sz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83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3937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Edmund Nevin </a:t>
            </a:r>
            <a:r>
              <a:rPr lang="en-IE" dirty="0"/>
              <a:t>for earlier versions of these lecture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50680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499" cy="685800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66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2006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461d1dde-aee8-4822-ab47-f73ec1fda969"/>
</p:tagLst>
</file>

<file path=ppt/theme/theme1.xml><?xml version="1.0" encoding="utf-8"?>
<a:theme xmlns:a="http://schemas.openxmlformats.org/drawingml/2006/main" name="AccessibleTemplat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otx" id="{19A76EF7-685B-4DD9-AEC2-DD2E690A5E16}" vid="{F9D02FCD-DE17-4A7B-9E71-714D7E1CC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86a8af6-524e-48fb-a2b5-8db5625d74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97A5DDE61EC49B38F08F69D7D1C30" ma:contentTypeVersion="15" ma:contentTypeDescription="Create a new document." ma:contentTypeScope="" ma:versionID="9bb0376d8ed59645cd949b27d95b7409">
  <xsd:schema xmlns:xsd="http://www.w3.org/2001/XMLSchema" xmlns:xs="http://www.w3.org/2001/XMLSchema" xmlns:p="http://schemas.microsoft.com/office/2006/metadata/properties" xmlns:ns3="186a8af6-524e-48fb-a2b5-8db5625d742b" xmlns:ns4="8713c86b-11c3-4892-8b22-8e1103c1c89f" targetNamespace="http://schemas.microsoft.com/office/2006/metadata/properties" ma:root="true" ma:fieldsID="dc57b1baf380e13117ae7081a2a87d27" ns3:_="" ns4:_="">
    <xsd:import namespace="186a8af6-524e-48fb-a2b5-8db5625d742b"/>
    <xsd:import namespace="8713c86b-11c3-4892-8b22-8e1103c1c8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a8af6-524e-48fb-a2b5-8db5625d7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3c86b-11c3-4892-8b22-8e1103c1c89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21FDD8-B1EA-4914-AF01-B0D05527F1D1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8713c86b-11c3-4892-8b22-8e1103c1c89f"/>
    <ds:schemaRef ds:uri="186a8af6-524e-48fb-a2b5-8db5625d742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333DAF0-97CC-4E47-82E5-70BA127510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6a8af6-524e-48fb-a2b5-8db5625d742b"/>
    <ds:schemaRef ds:uri="8713c86b-11c3-4892-8b22-8e1103c1c8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D9A3DF-00B2-4113-87BB-9300D6C519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AccessibleTemplate</Template>
  <TotalTime>24936</TotalTime>
  <Words>1818</Words>
  <Application>Microsoft Office PowerPoint</Application>
  <PresentationFormat>Widescreen</PresentationFormat>
  <Paragraphs>342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Arial Black</vt:lpstr>
      <vt:lpstr>Calibri</vt:lpstr>
      <vt:lpstr>Helvetica</vt:lpstr>
      <vt:lpstr>Times New Roman</vt:lpstr>
      <vt:lpstr>Wingdings</vt:lpstr>
      <vt:lpstr>AccessibleTemplate</vt:lpstr>
      <vt:lpstr>PowerPoint Presentation</vt:lpstr>
      <vt:lpstr>ER Diagrams 2</vt:lpstr>
      <vt:lpstr>Lesson Outline</vt:lpstr>
      <vt:lpstr>Foreign Key</vt:lpstr>
      <vt:lpstr>Example PKs</vt:lpstr>
      <vt:lpstr>Foreign Key One to One v1</vt:lpstr>
      <vt:lpstr>Foreign Key One to One v2</vt:lpstr>
      <vt:lpstr>Modified Example Foreign Key One to Many</vt:lpstr>
      <vt:lpstr>Foreign Key Many to Many</vt:lpstr>
      <vt:lpstr>Many to Many Relationships Associative (Bridge) Entities</vt:lpstr>
      <vt:lpstr>Many to Many Relationships Associative (Bridge or Weak) Entities</vt:lpstr>
      <vt:lpstr>Example Student-Module-Lecturer Week 2</vt:lpstr>
      <vt:lpstr>Associative (Bridge) Entities</vt:lpstr>
      <vt:lpstr>Example</vt:lpstr>
      <vt:lpstr>Practice</vt:lpstr>
      <vt:lpstr>Practice</vt:lpstr>
      <vt:lpstr>Practice</vt:lpstr>
      <vt:lpstr>Identifying Relationships</vt:lpstr>
      <vt:lpstr>Identifying relationships</vt:lpstr>
      <vt:lpstr>Identifying and non identifying relationships</vt:lpstr>
      <vt:lpstr>Identifying and non identifying relationships</vt:lpstr>
      <vt:lpstr>Degree of a relationship</vt:lpstr>
      <vt:lpstr>Degree of a Relationship</vt:lpstr>
      <vt:lpstr>Unary Relationships</vt:lpstr>
      <vt:lpstr>Unary Relationships</vt:lpstr>
      <vt:lpstr>Example</vt:lpstr>
      <vt:lpstr>Example</vt:lpstr>
      <vt:lpstr>Binary Relationships</vt:lpstr>
      <vt:lpstr>Ternary Relationship</vt:lpstr>
      <vt:lpstr>Example 1</vt:lpstr>
      <vt:lpstr>Example 2</vt:lpstr>
      <vt:lpstr>Replacing Ternary Relationships</vt:lpstr>
      <vt:lpstr>Replacing Ternary Relationships</vt:lpstr>
      <vt:lpstr>Replacing Ternary Relationships</vt:lpstr>
      <vt:lpstr>ERD Example: Ternary Relationships</vt:lpstr>
      <vt:lpstr>ERD Example: Ternary Relationship Converted</vt:lpstr>
      <vt:lpstr>ERD Example: Relationship Attributes</vt:lpstr>
      <vt:lpstr>ERD Example: Relationship Attributes</vt:lpstr>
      <vt:lpstr>ERD Example: Multiple Relationships</vt:lpstr>
      <vt:lpstr>Solution lab 2 exercise 2</vt:lpstr>
      <vt:lpstr>Solution lab 2 exercise 2</vt:lpstr>
      <vt:lpstr>Solution lab 2 exercise 2</vt:lpstr>
      <vt:lpstr>Solution lab 2 exercise 2</vt:lpstr>
      <vt:lpstr>Entities</vt:lpstr>
      <vt:lpstr>Attributes</vt:lpstr>
      <vt:lpstr>Relationships</vt:lpstr>
      <vt:lpstr>Rough ER Diagram with PKs</vt:lpstr>
      <vt:lpstr>Rough ER Diagram with cardinality</vt:lpstr>
      <vt:lpstr>Rough ER Diagram    *</vt:lpstr>
      <vt:lpstr>Rough ER Diagram with weak entities</vt:lpstr>
      <vt:lpstr>Rough ER Diagram</vt:lpstr>
      <vt:lpstr>Rough ER Diagram</vt:lpstr>
      <vt:lpstr>Solution lab 2 exercise 2 version 1</vt:lpstr>
      <vt:lpstr>Solution lab 2 exercise 2 version 1 - PKs</vt:lpstr>
      <vt:lpstr>Solution lab 2 exercise 2 version 1 - FKs</vt:lpstr>
      <vt:lpstr>Solution lab 2 exercise 2 extra information</vt:lpstr>
      <vt:lpstr>Solution lab 2 exercise 2 version 2</vt:lpstr>
      <vt:lpstr>Solution lab 2 exercise 2 version 3</vt:lpstr>
      <vt:lpstr>Key Based ER Diagram</vt:lpstr>
      <vt:lpstr>Solution lab 2 exercise 2 version 1 Key based ER diagram</vt:lpstr>
      <vt:lpstr>Foreign Key</vt:lpstr>
      <vt:lpstr>Solution lab 2 exercise 2 version 3 Key based ER diagram</vt:lpstr>
      <vt:lpstr>Lab 3 description</vt:lpstr>
      <vt:lpstr>Work flow</vt:lpstr>
      <vt:lpstr>Thanks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Marisa Llorens Salvador</dc:creator>
  <cp:lastModifiedBy>Eamonn Kelly</cp:lastModifiedBy>
  <cp:revision>108</cp:revision>
  <dcterms:created xsi:type="dcterms:W3CDTF">2020-07-08T11:07:05Z</dcterms:created>
  <dcterms:modified xsi:type="dcterms:W3CDTF">2024-10-26T06:07:53Z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0x010100CE497A5DDE61EC49B38F08F69D7D1C30</vt:lpwstr>
  </property>
</Properties>
</file>