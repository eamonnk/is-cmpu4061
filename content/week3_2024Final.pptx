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1"/>
  </p:notesMasterIdLst>
  <p:sldIdLst>
    <p:sldId id="275" r:id="rId5"/>
    <p:sldId id="256" r:id="rId6"/>
    <p:sldId id="310" r:id="rId7"/>
    <p:sldId id="312" r:id="rId8"/>
    <p:sldId id="378" r:id="rId9"/>
    <p:sldId id="380" r:id="rId10"/>
    <p:sldId id="381" r:id="rId11"/>
    <p:sldId id="379" r:id="rId12"/>
    <p:sldId id="382" r:id="rId13"/>
    <p:sldId id="350" r:id="rId14"/>
    <p:sldId id="352" r:id="rId15"/>
    <p:sldId id="370" r:id="rId16"/>
    <p:sldId id="351" r:id="rId17"/>
    <p:sldId id="372" r:id="rId18"/>
    <p:sldId id="385" r:id="rId19"/>
    <p:sldId id="386" r:id="rId20"/>
    <p:sldId id="387" r:id="rId21"/>
    <p:sldId id="342" r:id="rId22"/>
    <p:sldId id="343" r:id="rId23"/>
    <p:sldId id="383" r:id="rId24"/>
    <p:sldId id="384" r:id="rId25"/>
    <p:sldId id="332" r:id="rId26"/>
    <p:sldId id="278" r:id="rId27"/>
    <p:sldId id="279" r:id="rId28"/>
    <p:sldId id="374" r:id="rId29"/>
    <p:sldId id="298" r:id="rId30"/>
    <p:sldId id="375" r:id="rId31"/>
    <p:sldId id="299" r:id="rId32"/>
    <p:sldId id="300" r:id="rId33"/>
    <p:sldId id="295" r:id="rId34"/>
    <p:sldId id="296" r:id="rId35"/>
    <p:sldId id="280" r:id="rId36"/>
    <p:sldId id="335" r:id="rId37"/>
    <p:sldId id="281" r:id="rId38"/>
    <p:sldId id="285" r:id="rId39"/>
    <p:sldId id="286" r:id="rId40"/>
    <p:sldId id="283" r:id="rId41"/>
    <p:sldId id="376" r:id="rId42"/>
    <p:sldId id="284" r:id="rId43"/>
    <p:sldId id="353" r:id="rId44"/>
    <p:sldId id="354" r:id="rId45"/>
    <p:sldId id="355" r:id="rId46"/>
    <p:sldId id="356" r:id="rId47"/>
    <p:sldId id="357" r:id="rId48"/>
    <p:sldId id="358" r:id="rId49"/>
    <p:sldId id="359" r:id="rId50"/>
    <p:sldId id="361" r:id="rId51"/>
    <p:sldId id="362" r:id="rId52"/>
    <p:sldId id="363" r:id="rId53"/>
    <p:sldId id="364" r:id="rId54"/>
    <p:sldId id="345" r:id="rId55"/>
    <p:sldId id="346" r:id="rId56"/>
    <p:sldId id="365" r:id="rId57"/>
    <p:sldId id="366" r:id="rId58"/>
    <p:sldId id="388" r:id="rId59"/>
    <p:sldId id="367" r:id="rId60"/>
    <p:sldId id="368" r:id="rId61"/>
    <p:sldId id="313" r:id="rId62"/>
    <p:sldId id="377" r:id="rId63"/>
    <p:sldId id="347" r:id="rId64"/>
    <p:sldId id="369" r:id="rId65"/>
    <p:sldId id="348" r:id="rId66"/>
    <p:sldId id="333" r:id="rId67"/>
    <p:sldId id="334" r:id="rId68"/>
    <p:sldId id="288" r:id="rId69"/>
    <p:sldId id="289" r:id="rId70"/>
  </p:sldIdLst>
  <p:sldSz cx="12192000" cy="6858000"/>
  <p:notesSz cx="6858000" cy="9144000"/>
  <p:custDataLst>
    <p:tags r:id="rId7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C957B8-3DA6-4E69-A259-6A4D27AF5797}" v="5" dt="2024-10-02T11:22:17.5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956" autoAdjust="0"/>
    <p:restoredTop sz="72263" autoAdjust="0"/>
  </p:normalViewPr>
  <p:slideViewPr>
    <p:cSldViewPr snapToGrid="0">
      <p:cViewPr varScale="1">
        <p:scale>
          <a:sx n="86" d="100"/>
          <a:sy n="86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gs" Target="tags/tag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85DF0-59FF-4857-9F82-F93A5D9DD461}" type="datetimeFigureOut">
              <a:rPr lang="en-IE" smtClean="0"/>
              <a:t>02/10/2024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1D7177-ECA0-45C5-A5EE-1EDD549F8A6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82688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1317E-4B72-DDFC-3395-0AFCCE2FD9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926A8-BE5E-DB34-24F4-F8937FEFA6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5AE87C-D5AB-C13D-F314-AE2B2F1300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406725-EAD8-425D-899C-9472BA626451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2E1232-B827-66CE-45E4-0AC0EE014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97826-01BA-CB0F-0792-6716C4805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6816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6B007DB-BAC0-B5F7-CD3D-D722F4B0FC67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CCE980-C7F7-E4BB-3D60-AC4227DD6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A45A55-EFF2-43B6-B7BF-52DAEFC6D4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DE508-9D0D-1A12-5055-B8C9BE346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A1FC39-9C75-44F9-AA12-D44FD36F095D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0AB5E-027B-22C7-C21B-F11F469E4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6FA1-5E26-507E-BD6D-3316D06DE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8493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s">
    <p:bg>
      <p:bgPr>
        <a:solidFill>
          <a:srgbClr val="004C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CCE980-C7F7-E4BB-3D60-AC4227DD6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DE508-9D0D-1A12-5055-B8C9BE346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42EB7C3B-AFE7-4770-87DF-2024B6A51E31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0AB5E-027B-22C7-C21B-F11F469E4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186FA1-5E26-507E-BD6D-3316D06DE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  <p:pic>
        <p:nvPicPr>
          <p:cNvPr id="8" name="Graphic 7" descr="The following is a quote: ">
            <a:extLst>
              <a:ext uri="{FF2B5EF4-FFF2-40B4-BE49-F238E27FC236}">
                <a16:creationId xmlns:a16="http://schemas.microsoft.com/office/drawing/2014/main" id="{BBC1D34B-9075-8D03-3A5C-E7D33712D62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4726" y="1825625"/>
            <a:ext cx="2084363" cy="2084363"/>
          </a:xfrm>
          <a:prstGeom prst="rect">
            <a:avLst/>
          </a:prstGeom>
        </p:spPr>
      </p:pic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1D05262-A873-B471-8864-15D00174DE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43200" y="2147888"/>
            <a:ext cx="8610600" cy="379571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622300098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4196-08E0-BC7A-8733-4E756A5FA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D4156-1D08-F755-3CB7-F04B4CB231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864EA-CCA9-EB4F-A84F-BE9D5F986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ADDC8B60-65EC-427B-83AC-13F1EA936364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BAC42-79B8-8591-472D-39FDD982E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DDDC1-A48D-40A0-07DA-F99E091C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47763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 Hea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24196-08E0-BC7A-8733-4E756A5FA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4816548"/>
            <a:ext cx="10515600" cy="1223851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864EA-CCA9-EB4F-A84F-BE9D5F986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B7C3B-AFE7-4770-87DF-2024B6A51E31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BAC42-79B8-8591-472D-39FDD982E8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9DDDC1-A48D-40A0-07DA-F99E091C3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9A2BA5-1AB5-DB59-3C54-16713B4E427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754313" y="712788"/>
            <a:ext cx="6794500" cy="4103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94126700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B0BE543-0448-3A4C-5F33-EAD956CEEC4F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9FF7AA-B49C-D561-FA47-CB24D2FBF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761E7E-A789-0692-DCFA-73EB3A13A5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5CDC2F-840C-693F-493D-EB4B70B829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413D37-E198-0C87-31DE-C825CE017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B5C83-4A74-47A1-B8E2-8355713FDF40}" type="datetime1">
              <a:rPr lang="en-IE" smtClean="0"/>
              <a:t>02/10/2024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355D9D-23CD-C2B7-2CB9-63A7B666A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C84A3F-2DEF-A695-73CD-C8A79EDD7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9294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A557A7C-8356-9C4D-0FD4-A2809BBA22A6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23E5D6-F819-DF80-8C6A-FE0FD236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634751-4015-7A9E-A494-E4825F6D8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D0E5A5-4B18-9989-88ED-D6B31265D2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85D65-C667-2456-E06F-F0E68B2E5C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44F890-33E6-BD4B-978A-E4B20968B8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26AA7C-81D8-7C95-3E01-76956024F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C7017-DDDC-46A3-A3D9-1B3378E953EB}" type="datetime1">
              <a:rPr lang="en-IE" smtClean="0"/>
              <a:t>02/10/2024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830B1-02EA-A7DB-8FCF-32C06C3E0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80A6F-5EBE-2DCC-8CCB-9F05EA664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1860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8C00E1A-F73B-4343-8C36-A161A0EDF3C9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CD2DC0-0D4F-4B0E-7C43-380735648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278B6D-6F61-EF5E-B5CC-F72AA2353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8CD4B5-07EA-43A5-B6C2-8F479BA5E9E3}" type="datetime1">
              <a:rPr lang="en-IE" smtClean="0"/>
              <a:t>02/10/2024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7A9D98-33BD-A8E4-155E-07D8B622B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44C4ED-AE87-B167-6C8F-8D62A01C4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98286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DD81B3-DF2D-90A5-75B5-5F66A4EE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6AA7D-CB80-46AE-81A4-C2E3176CF9B5}" type="datetime1">
              <a:rPr lang="en-IE" smtClean="0"/>
              <a:t>02/10/2024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500BE0-7239-DF9F-8152-6A89D5FD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27DB2-2307-A467-49D2-43198D15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0946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 colou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DD81B3-DF2D-90A5-75B5-5F66A4EEC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B7C3B-AFE7-4770-87DF-2024B6A51E31}" type="datetime1">
              <a:rPr lang="en-IE" smtClean="0"/>
              <a:t>02/10/2024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500BE0-7239-DF9F-8152-6A89D5FD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27DB2-2307-A467-49D2-43198D15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6849083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B3F2E4F-D69A-C303-0281-6BB8BC65FA1A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E483EC-461E-3DF8-7723-85858B620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0BA06-04AB-09B5-645C-2091343E99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D91B3F-7C7C-73B9-77CB-A11B1FCF85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67F290-2545-0C2B-78A6-D50CE3D00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BA90F-610F-4D52-B7C8-2C522E82C176}" type="datetime1">
              <a:rPr lang="en-IE" smtClean="0"/>
              <a:t>02/10/2024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E117D-2169-6E39-149C-5FBECD5E7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83838A-4F66-F529-E239-3AE7FBEDE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948041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54395A0-EB10-01E3-39B4-075A8ACEABC7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2FAE3E-C2EA-DDE4-4229-9EB50F2F1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131BBD-51CD-4DC2-4A60-8A48EA6C6A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B0D01-09EF-1E92-D338-9CD0EBA943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20126-F846-16D0-EBDD-34D48607E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A10263-AF41-4764-B6C7-D6453FFCD6A2}" type="datetime1">
              <a:rPr lang="en-IE" smtClean="0"/>
              <a:t>02/10/2024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34FC57-C801-AEF4-1D0A-E095B6450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951B0C-275C-33D2-9A96-4D0314E6E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91965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5A1A4EC-146B-3381-63D1-52F3C15CB004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BEF132-B0C4-CEBA-D9BB-A90CC2A65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F3702-713A-C951-9CCF-955488BC64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34A4F3-ECB2-56FC-3055-081257812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CB7-05F7-4FD8-AA5E-87064F36C456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1849C6-D413-92F0-6B5F-27BB8AC7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9A6DE-F917-5ECB-80DB-4C5C9924B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98430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9213BEA-D64A-CDAB-CB01-CACA6AEFB654}"/>
              </a:ext>
            </a:extLst>
          </p:cNvPr>
          <p:cNvSpPr/>
          <p:nvPr/>
        </p:nvSpPr>
        <p:spPr>
          <a:xfrm>
            <a:off x="0" y="6311900"/>
            <a:ext cx="12192000" cy="546100"/>
          </a:xfrm>
          <a:prstGeom prst="rect">
            <a:avLst/>
          </a:prstGeom>
          <a:solidFill>
            <a:srgbClr val="00A9B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FFD24A-02C7-3C15-C6A2-2FE1816ED4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7E5EB9-6E42-B9D7-5671-A15D13E201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3BCAA2-15B7-B922-2788-5986E5EEA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D724D-151F-4C98-8BE7-EFF43E847170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AD40C5-A7B5-0CB8-7A77-77280AC6ED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DA6257-1CC9-8C66-1C48-A645172DC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57524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E0A642-ABE6-FE0E-2BD1-AB0BC48CE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047573-978D-7FA9-0D26-40779E976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31032-3BBA-DDD8-39F1-68FB671B8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882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fld id="{42EB7C3B-AFE7-4770-87DF-2024B6A51E31}" type="datetime1">
              <a:rPr lang="en-IE" smtClean="0"/>
              <a:t>02/10/2024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0B08B-CD62-82DF-7BC9-CCDE7E5B63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88249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53A8-267C-532B-1CCE-A59D105FDA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882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bg1"/>
                </a:solidFill>
              </a:defRPr>
            </a:lvl1pPr>
          </a:lstStyle>
          <a:p>
            <a:fld id="{7341093E-ADCE-4CEF-A0BC-E1F79F413BC5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72572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4C6C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gi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500" cy="6858000"/>
          </a:xfrm>
          <a:prstGeom prst="rect">
            <a:avLst/>
          </a:prstGeo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1</a:t>
            </a:fld>
            <a:endParaRPr lang="en-IE"/>
          </a:p>
        </p:txBody>
      </p:sp>
      <p:sp>
        <p:nvSpPr>
          <p:cNvPr id="3" name="Lightning Bolt 2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Lightning Bolt 4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740365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ER Diagrams 2</a:t>
            </a:r>
            <a:endParaRPr lang="en-I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Lesson 3  Information Systems </a:t>
            </a:r>
          </a:p>
          <a:p>
            <a:r>
              <a:rPr lang="en-US" dirty="0"/>
              <a:t>02/10/24</a:t>
            </a:r>
          </a:p>
          <a:p>
            <a:r>
              <a:rPr lang="en-US" dirty="0"/>
              <a:t>TU257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92474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Lesson Outline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Foreign Keys</a:t>
            </a:r>
          </a:p>
          <a:p>
            <a:r>
              <a:rPr lang="en-US" dirty="0"/>
              <a:t>Many to many relationships and Bridge Entities</a:t>
            </a:r>
          </a:p>
          <a:p>
            <a:r>
              <a:rPr lang="en-US" dirty="0"/>
              <a:t>Identifying relationships</a:t>
            </a:r>
          </a:p>
          <a:p>
            <a:r>
              <a:rPr lang="en-US" dirty="0"/>
              <a:t>Degree of a relationship</a:t>
            </a:r>
          </a:p>
          <a:p>
            <a:r>
              <a:rPr lang="en-US" dirty="0"/>
              <a:t>Key Based ER Diagram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626509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Foreign Key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162715"/>
          </a:xfrm>
        </p:spPr>
        <p:txBody>
          <a:bodyPr>
            <a:normAutofit fontScale="85000" lnSpcReduction="10000"/>
          </a:bodyPr>
          <a:lstStyle/>
          <a:p>
            <a:r>
              <a:rPr lang="en-GB" dirty="0"/>
              <a:t>A foreign key is a reference to a key in another table.</a:t>
            </a:r>
          </a:p>
          <a:p>
            <a:r>
              <a:rPr lang="en-US" dirty="0"/>
              <a:t>A foreign key is a set of attributes of one table, say </a:t>
            </a:r>
            <a:r>
              <a:rPr lang="en-US" b="1" dirty="0"/>
              <a:t>R2</a:t>
            </a:r>
            <a:r>
              <a:rPr lang="en-US" dirty="0"/>
              <a:t>, whose values are required to match values of some candidate key of another table, say </a:t>
            </a:r>
            <a:r>
              <a:rPr lang="en-US" b="1" dirty="0"/>
              <a:t>R1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45377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PKs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</a:t>
            </a:fld>
            <a:endParaRPr lang="en-IE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7" y="1941476"/>
            <a:ext cx="10982273" cy="164788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8364" y="2470245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4587923" y="2470245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 9"/>
          <p:cNvSpPr/>
          <p:nvPr/>
        </p:nvSpPr>
        <p:spPr>
          <a:xfrm>
            <a:off x="9569355" y="2492462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70558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7" y="4253284"/>
            <a:ext cx="10827231" cy="16246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Foreign Key One to One v1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</a:t>
            </a:fld>
            <a:endParaRPr lang="en-IE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7" y="1941476"/>
            <a:ext cx="10982273" cy="164788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8364" y="2470245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4587923" y="2470245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Rectangle 9"/>
          <p:cNvSpPr/>
          <p:nvPr/>
        </p:nvSpPr>
        <p:spPr>
          <a:xfrm>
            <a:off x="9569355" y="2492462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 10"/>
          <p:cNvSpPr/>
          <p:nvPr/>
        </p:nvSpPr>
        <p:spPr>
          <a:xfrm>
            <a:off x="218364" y="4792639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/>
          <p:cNvSpPr/>
          <p:nvPr/>
        </p:nvSpPr>
        <p:spPr>
          <a:xfrm>
            <a:off x="4587923" y="4792639"/>
            <a:ext cx="1392072" cy="27295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/>
          <p:cNvSpPr/>
          <p:nvPr/>
        </p:nvSpPr>
        <p:spPr>
          <a:xfrm>
            <a:off x="9514763" y="4814856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4" name="Rectangle 13"/>
          <p:cNvSpPr/>
          <p:nvPr/>
        </p:nvSpPr>
        <p:spPr>
          <a:xfrm>
            <a:off x="9479507" y="5257118"/>
            <a:ext cx="1392072" cy="27295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13510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Foreign Key One to One v2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7</a:t>
            </a:fld>
            <a:endParaRPr lang="en-IE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7" y="1941476"/>
            <a:ext cx="10982273" cy="164788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8364" y="2470245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4587923" y="2470245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29" y="4380931"/>
            <a:ext cx="11353351" cy="17035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569355" y="2492462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 10"/>
          <p:cNvSpPr/>
          <p:nvPr/>
        </p:nvSpPr>
        <p:spPr>
          <a:xfrm>
            <a:off x="122829" y="4956410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/>
          <p:cNvSpPr/>
          <p:nvPr/>
        </p:nvSpPr>
        <p:spPr>
          <a:xfrm>
            <a:off x="9615985" y="4954135"/>
            <a:ext cx="1392072" cy="27295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/>
          <p:cNvSpPr/>
          <p:nvPr/>
        </p:nvSpPr>
        <p:spPr>
          <a:xfrm>
            <a:off x="4481357" y="4981359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4" name="Rectangle 13"/>
          <p:cNvSpPr/>
          <p:nvPr/>
        </p:nvSpPr>
        <p:spPr>
          <a:xfrm>
            <a:off x="4481357" y="5611812"/>
            <a:ext cx="1392072" cy="27295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71587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Modified Example</a:t>
            </a:r>
            <a:br>
              <a:rPr lang="en-IE" b="1" dirty="0"/>
            </a:br>
            <a:r>
              <a:rPr lang="en-IE" b="1" dirty="0"/>
              <a:t>Foreign Key One to Many</a:t>
            </a:r>
            <a:endParaRPr lang="en-IE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1"/>
          </p:nvPr>
        </p:nvSpPr>
        <p:spPr>
          <a:xfrm>
            <a:off x="638227" y="4563510"/>
            <a:ext cx="10611664" cy="1478024"/>
          </a:xfrm>
          <a:ln w="38100"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en-US" sz="2400" u="sng" dirty="0"/>
              <a:t>Case where students can </a:t>
            </a:r>
            <a:r>
              <a:rPr lang="en-US" sz="2400" b="1" u="sng" dirty="0"/>
              <a:t>only register for one module</a:t>
            </a:r>
            <a:r>
              <a:rPr lang="en-US" sz="2400" dirty="0"/>
              <a:t>.</a:t>
            </a:r>
          </a:p>
          <a:p>
            <a:r>
              <a:rPr lang="en-US" sz="2400" dirty="0"/>
              <a:t>PK from the one side becomes FK on the many side.</a:t>
            </a:r>
            <a:endParaRPr lang="en-I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8</a:t>
            </a:fld>
            <a:endParaRPr lang="en-IE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654" y="2554190"/>
            <a:ext cx="10941146" cy="1641712"/>
          </a:xfrm>
          <a:prstGeom prst="rect">
            <a:avLst/>
          </a:prstGeom>
        </p:spPr>
      </p:pic>
      <p:sp>
        <p:nvSpPr>
          <p:cNvPr id="9" name="Lightning Bolt 8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Lightning Bolt 9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 10"/>
          <p:cNvSpPr/>
          <p:nvPr/>
        </p:nvSpPr>
        <p:spPr>
          <a:xfrm>
            <a:off x="412654" y="3089941"/>
            <a:ext cx="1392072" cy="2729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/>
          <p:cNvSpPr/>
          <p:nvPr/>
        </p:nvSpPr>
        <p:spPr>
          <a:xfrm>
            <a:off x="4703928" y="3102091"/>
            <a:ext cx="1392072" cy="27295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/>
          <p:cNvSpPr/>
          <p:nvPr/>
        </p:nvSpPr>
        <p:spPr>
          <a:xfrm>
            <a:off x="9489937" y="3077487"/>
            <a:ext cx="1392072" cy="27295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4" name="Rectangle 13"/>
          <p:cNvSpPr/>
          <p:nvPr/>
        </p:nvSpPr>
        <p:spPr>
          <a:xfrm>
            <a:off x="412654" y="3576232"/>
            <a:ext cx="1392072" cy="272955"/>
          </a:xfrm>
          <a:prstGeom prst="rect">
            <a:avLst/>
          </a:prstGeom>
          <a:noFill/>
          <a:ln w="571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>
              <a:solidFill>
                <a:srgbClr val="00B0F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649336" y="3720314"/>
            <a:ext cx="1392072" cy="272955"/>
          </a:xfrm>
          <a:prstGeom prst="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98647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Foreign Key Many to Many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9</a:t>
            </a:fld>
            <a:endParaRPr lang="en-IE"/>
          </a:p>
        </p:txBody>
      </p:sp>
      <p:sp>
        <p:nvSpPr>
          <p:cNvPr id="9" name="Lightning Bolt 8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0" name="Lightning Bolt 9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682388" y="4740495"/>
            <a:ext cx="10044752" cy="143646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When modelling many to many relationships, no FKs can be used directly in the original entities.</a:t>
            </a:r>
          </a:p>
          <a:p>
            <a:r>
              <a:rPr lang="en-US" dirty="0"/>
              <a:t>A new entity has to be created.</a:t>
            </a:r>
            <a:endParaRPr lang="en-IE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527" y="1941476"/>
            <a:ext cx="10982273" cy="1647883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2E06D061-94AF-C574-49BA-7DE2BFDC7F19}"/>
              </a:ext>
            </a:extLst>
          </p:cNvPr>
          <p:cNvSpPr txBox="1">
            <a:spLocks/>
          </p:cNvSpPr>
          <p:nvPr/>
        </p:nvSpPr>
        <p:spPr>
          <a:xfrm>
            <a:off x="682388" y="3800645"/>
            <a:ext cx="9547746" cy="728565"/>
          </a:xfrm>
          <a:prstGeom prst="rect">
            <a:avLst/>
          </a:prstGeom>
          <a:ln w="38100">
            <a:solidFill>
              <a:schemeClr val="tx1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u="sng" dirty="0"/>
              <a:t>Case where students can </a:t>
            </a:r>
            <a:r>
              <a:rPr lang="en-US" b="1" u="sng" dirty="0"/>
              <a:t>register for more than one module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5053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to Many Relationships</a:t>
            </a:r>
            <a:br>
              <a:rPr lang="en-US" dirty="0"/>
            </a:br>
            <a:r>
              <a:rPr lang="en-IE" dirty="0"/>
              <a:t>Associative (Bridge) Entities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838201" y="1825625"/>
            <a:ext cx="10515600" cy="355686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When an instance of an entity may be related to multiple instances of another entity and vice versa, that is called a ‘</a:t>
            </a:r>
            <a:r>
              <a:rPr lang="en-US" b="1" i="1" dirty="0"/>
              <a:t>many-to-many</a:t>
            </a:r>
            <a:r>
              <a:rPr lang="en-US" dirty="0"/>
              <a:t>’ relationship.</a:t>
            </a:r>
            <a:r>
              <a:rPr lang="en-GB" dirty="0"/>
              <a:t> 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r>
              <a:rPr lang="en-US" dirty="0"/>
              <a:t>While this relationship model is perfectly valid, it cannot be translated directly into a relational database design.</a:t>
            </a:r>
          </a:p>
        </p:txBody>
      </p:sp>
      <p:pic>
        <p:nvPicPr>
          <p:cNvPr id="9" name="Picture 8" descr="Fig14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931528" y="3430424"/>
            <a:ext cx="5773522" cy="73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4023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to Many Relationships</a:t>
            </a:r>
            <a:br>
              <a:rPr lang="en-US" dirty="0"/>
            </a:br>
            <a:r>
              <a:rPr lang="en-IE" dirty="0"/>
              <a:t>Associative (Bridge or Weak) Entities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838201" y="1825625"/>
            <a:ext cx="10515600" cy="35568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While this relationship model is perfectly valid, it cannot be translated directly into a relational database design.</a:t>
            </a:r>
          </a:p>
          <a:p>
            <a:endParaRPr lang="en-US" sz="1200" dirty="0"/>
          </a:p>
          <a:p>
            <a:r>
              <a:rPr lang="en-US" dirty="0"/>
              <a:t>In order to build a relational database that captures this relationship, it is necessary to build a bridge between the two entities that uniquely expresses each relationship instance.  </a:t>
            </a:r>
            <a:endParaRPr lang="en-GB" dirty="0"/>
          </a:p>
        </p:txBody>
      </p:sp>
      <p:pic>
        <p:nvPicPr>
          <p:cNvPr id="8" name="Picture 7" descr="Fig15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913091" y="5517428"/>
            <a:ext cx="5773522" cy="73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251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</a:t>
            </a:r>
            <a:br>
              <a:rPr lang="en-US" dirty="0"/>
            </a:br>
            <a:r>
              <a:rPr lang="en-US" dirty="0"/>
              <a:t>Student-Module-Lecturer</a:t>
            </a:r>
            <a:br>
              <a:rPr lang="en-US" dirty="0"/>
            </a:br>
            <a:r>
              <a:rPr lang="en-US" dirty="0"/>
              <a:t>Week 2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b="1" dirty="0"/>
              <a:t>Revise</a:t>
            </a:r>
          </a:p>
          <a:p>
            <a:pPr marL="0" indent="0">
              <a:buNone/>
            </a:pPr>
            <a:br>
              <a:rPr lang="en-US" dirty="0"/>
            </a:br>
            <a:endParaRPr lang="en-IE" dirty="0"/>
          </a:p>
        </p:txBody>
      </p:sp>
      <p:sp>
        <p:nvSpPr>
          <p:cNvPr id="4" name="Down Arrow 3"/>
          <p:cNvSpPr/>
          <p:nvPr/>
        </p:nvSpPr>
        <p:spPr>
          <a:xfrm>
            <a:off x="4057650" y="2153776"/>
            <a:ext cx="419100" cy="121920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9546" y="3372976"/>
            <a:ext cx="9511522" cy="1321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45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Associative (Bridge) Entities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sz="half" idx="1"/>
          </p:nvPr>
        </p:nvSpPr>
        <p:spPr>
          <a:xfrm>
            <a:off x="7988969" y="1364745"/>
            <a:ext cx="4042610" cy="2758076"/>
          </a:xfrm>
        </p:spPr>
        <p:txBody>
          <a:bodyPr>
            <a:normAutofit fontScale="77500" lnSpcReduction="20000"/>
          </a:bodyPr>
          <a:lstStyle/>
          <a:p>
            <a:endParaRPr lang="en-GB" sz="1000" dirty="0"/>
          </a:p>
          <a:p>
            <a:r>
              <a:rPr lang="en-GB" dirty="0"/>
              <a:t>Many-to-many relationships can cause lots of trouble.</a:t>
            </a:r>
          </a:p>
          <a:p>
            <a:r>
              <a:rPr lang="en-GB" dirty="0"/>
              <a:t>Get rid of them by defining an intermediate third entity.</a:t>
            </a:r>
          </a:p>
        </p:txBody>
      </p:sp>
      <p:sp>
        <p:nvSpPr>
          <p:cNvPr id="8" name="Down Arrow 7"/>
          <p:cNvSpPr/>
          <p:nvPr/>
        </p:nvSpPr>
        <p:spPr>
          <a:xfrm rot="19490569">
            <a:off x="3470910" y="2735568"/>
            <a:ext cx="635163" cy="1575995"/>
          </a:xfrm>
          <a:prstGeom prst="downArrow">
            <a:avLst>
              <a:gd name="adj1" fmla="val 44001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93"/>
          <a:stretch/>
        </p:blipFill>
        <p:spPr>
          <a:xfrm>
            <a:off x="371528" y="1709076"/>
            <a:ext cx="6853732" cy="164788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917"/>
          <a:stretch/>
        </p:blipFill>
        <p:spPr>
          <a:xfrm>
            <a:off x="1593963" y="4449011"/>
            <a:ext cx="8416528" cy="1771907"/>
          </a:xfrm>
          <a:prstGeom prst="rect">
            <a:avLst/>
          </a:prstGeom>
        </p:spPr>
      </p:pic>
      <p:pic>
        <p:nvPicPr>
          <p:cNvPr id="3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93"/>
          <a:stretch/>
        </p:blipFill>
        <p:spPr>
          <a:xfrm>
            <a:off x="371528" y="1709076"/>
            <a:ext cx="6853732" cy="1647883"/>
          </a:xfrm>
          <a:prstGeom prst="rect">
            <a:avLst/>
          </a:prstGeom>
        </p:spPr>
      </p:pic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8917"/>
          <a:stretch/>
        </p:blipFill>
        <p:spPr>
          <a:xfrm>
            <a:off x="1593963" y="4449011"/>
            <a:ext cx="8416528" cy="1771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38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b="1" dirty="0"/>
              <a:t>Revise</a:t>
            </a:r>
          </a:p>
          <a:p>
            <a:endParaRPr lang="en-US" b="1" dirty="0"/>
          </a:p>
          <a:p>
            <a:endParaRPr lang="en-US" b="1" dirty="0"/>
          </a:p>
          <a:p>
            <a:pPr marL="0" indent="0">
              <a:buNone/>
            </a:pPr>
            <a:br>
              <a:rPr lang="en-US" dirty="0"/>
            </a:br>
            <a:endParaRPr lang="en-I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506" y="583073"/>
            <a:ext cx="6775149" cy="889666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100" y="1696438"/>
            <a:ext cx="7743044" cy="4480525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100" y="1696438"/>
            <a:ext cx="7743044" cy="448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807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the </a:t>
            </a:r>
            <a:r>
              <a:rPr lang="en-US" dirty="0" err="1"/>
              <a:t>db</a:t>
            </a:r>
            <a:r>
              <a:rPr lang="en-US" dirty="0"/>
              <a:t> provided </a:t>
            </a:r>
            <a:r>
              <a:rPr lang="en-US" dirty="0" err="1"/>
              <a:t>University.db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15</a:t>
            </a:fld>
            <a:endParaRPr lang="en-I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2950" t="23535" r="60469" b="22636"/>
          <a:stretch/>
        </p:blipFill>
        <p:spPr>
          <a:xfrm>
            <a:off x="4077325" y="2816316"/>
            <a:ext cx="5366480" cy="357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470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Browse the data in the different tables.</a:t>
            </a:r>
          </a:p>
          <a:p>
            <a:r>
              <a:rPr lang="en-US" dirty="0"/>
              <a:t>Identify PKs and FKs.</a:t>
            </a:r>
            <a:endParaRPr lang="en-IE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16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55199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 the following queries in the “Execute SQL” Tab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SELECT * FROM students</a:t>
            </a:r>
          </a:p>
          <a:p>
            <a:pPr marL="0" indent="0">
              <a:buNone/>
            </a:pPr>
            <a:r>
              <a:rPr lang="en-US" dirty="0"/>
              <a:t>SELECT </a:t>
            </a:r>
            <a:r>
              <a:rPr lang="en-US" dirty="0" err="1"/>
              <a:t>LastName</a:t>
            </a:r>
            <a:r>
              <a:rPr lang="en-US" dirty="0"/>
              <a:t> FROM Lecturers</a:t>
            </a:r>
          </a:p>
          <a:p>
            <a:pPr marL="0" indent="0">
              <a:buNone/>
            </a:pPr>
            <a:r>
              <a:rPr lang="en-US" dirty="0"/>
              <a:t>SELECT * FROM Modules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17</a:t>
            </a:fld>
            <a:endParaRPr lang="en-IE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2994" t="23369" r="61143" b="22277"/>
          <a:stretch/>
        </p:blipFill>
        <p:spPr>
          <a:xfrm>
            <a:off x="7080836" y="2646474"/>
            <a:ext cx="5111164" cy="353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8200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Identifying Relationships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97439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92202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 identifying relationship means that the child table cannot be uniquely identified without the parent. </a:t>
            </a:r>
          </a:p>
          <a:p>
            <a:endParaRPr lang="en-US" dirty="0"/>
          </a:p>
          <a:p>
            <a:r>
              <a:rPr lang="en-US" sz="2400" dirty="0"/>
              <a:t>For example, you have this situation in the intersection table used to resolve a many-to-many relationship where the intersecting table's Primary Key is a composite of the left and right (parents) table's Primary Keys.</a:t>
            </a:r>
            <a:endParaRPr lang="en-IE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4803" t="58917" r="81040" b="13034"/>
          <a:stretch/>
        </p:blipFill>
        <p:spPr>
          <a:xfrm>
            <a:off x="10058400" y="1825625"/>
            <a:ext cx="1072324" cy="4068202"/>
          </a:xfrm>
          <a:prstGeom prst="rect">
            <a:avLst/>
          </a:prstGeom>
        </p:spPr>
      </p:pic>
      <p:sp>
        <p:nvSpPr>
          <p:cNvPr id="5" name="Right Brace 4"/>
          <p:cNvSpPr/>
          <p:nvPr/>
        </p:nvSpPr>
        <p:spPr>
          <a:xfrm>
            <a:off x="11154008" y="1690688"/>
            <a:ext cx="199792" cy="1097117"/>
          </a:xfrm>
          <a:prstGeom prst="rightBrac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ight Brace 5"/>
          <p:cNvSpPr/>
          <p:nvPr/>
        </p:nvSpPr>
        <p:spPr>
          <a:xfrm>
            <a:off x="11199516" y="3016251"/>
            <a:ext cx="154284" cy="2603964"/>
          </a:xfrm>
          <a:prstGeom prst="rightBrac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11377084" y="1592915"/>
            <a:ext cx="814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Ident</a:t>
            </a:r>
            <a:endParaRPr lang="en-IE" dirty="0"/>
          </a:p>
        </p:txBody>
      </p:sp>
      <p:sp>
        <p:nvSpPr>
          <p:cNvPr id="8" name="TextBox 7"/>
          <p:cNvSpPr txBox="1"/>
          <p:nvPr/>
        </p:nvSpPr>
        <p:spPr>
          <a:xfrm>
            <a:off x="11353800" y="3948901"/>
            <a:ext cx="745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Ident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237111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and non identifying relationships</a:t>
            </a: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20</a:t>
            </a:fld>
            <a:endParaRPr lang="en-IE"/>
          </a:p>
        </p:txBody>
      </p:sp>
      <p:sp>
        <p:nvSpPr>
          <p:cNvPr id="8" name="Lightning Bolt 7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Lightning Bolt 8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721" y="2039144"/>
            <a:ext cx="7538179" cy="436198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096000" y="2595797"/>
            <a:ext cx="1653915" cy="56962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Oval 11"/>
          <p:cNvSpPr/>
          <p:nvPr/>
        </p:nvSpPr>
        <p:spPr>
          <a:xfrm>
            <a:off x="3690079" y="2595797"/>
            <a:ext cx="1199213" cy="569626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Oval 12"/>
          <p:cNvSpPr/>
          <p:nvPr/>
        </p:nvSpPr>
        <p:spPr>
          <a:xfrm rot="16200000">
            <a:off x="7783643" y="4142285"/>
            <a:ext cx="1653915" cy="569626"/>
          </a:xfrm>
          <a:prstGeom prst="ellipse">
            <a:avLst/>
          </a:prstGeom>
          <a:noFill/>
          <a:ln w="5715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59559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Identifying and non identifying relationships</a:t>
            </a: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21</a:t>
            </a:fld>
            <a:endParaRPr lang="en-IE"/>
          </a:p>
        </p:txBody>
      </p:sp>
      <p:sp>
        <p:nvSpPr>
          <p:cNvPr id="8" name="Lightning Bolt 7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Lightning Bolt 8"/>
          <p:cNvSpPr/>
          <p:nvPr/>
        </p:nvSpPr>
        <p:spPr>
          <a:xfrm>
            <a:off x="0" y="0"/>
            <a:ext cx="0" cy="0"/>
          </a:xfrm>
          <a:prstGeom prst="lightningBol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780" y="2077317"/>
            <a:ext cx="7058494" cy="4084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682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18745" y="2991593"/>
            <a:ext cx="10515600" cy="1325563"/>
          </a:xfrm>
        </p:spPr>
        <p:txBody>
          <a:bodyPr/>
          <a:lstStyle/>
          <a:p>
            <a:r>
              <a:rPr lang="en-US" dirty="0"/>
              <a:t>Degree of a relationship</a:t>
            </a:r>
            <a:endParaRPr lang="en-I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807902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Degree of a Relationship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GB" sz="2400" dirty="0"/>
              <a:t>The number of participating entities in a relationship is known as the </a:t>
            </a:r>
            <a:r>
              <a:rPr lang="en-GB" sz="2400" b="1" i="1" dirty="0"/>
              <a:t>degree</a:t>
            </a:r>
            <a:r>
              <a:rPr lang="en-GB" sz="2400" dirty="0"/>
              <a:t> of the relationship.</a:t>
            </a:r>
          </a:p>
          <a:p>
            <a:endParaRPr lang="en-GB" sz="1050" dirty="0"/>
          </a:p>
          <a:p>
            <a:pPr marL="0" indent="0">
              <a:buNone/>
            </a:pPr>
            <a:endParaRPr lang="en-GB" sz="2400" dirty="0"/>
          </a:p>
          <a:p>
            <a:endParaRPr lang="en-GB" sz="2400" dirty="0"/>
          </a:p>
          <a:p>
            <a:pPr marL="0" indent="0">
              <a:buNone/>
            </a:pPr>
            <a:endParaRPr lang="en-GB" sz="1050" dirty="0"/>
          </a:p>
          <a:p>
            <a:endParaRPr lang="en-GB" sz="2400" dirty="0"/>
          </a:p>
          <a:p>
            <a:endParaRPr lang="en-GB" sz="1050" dirty="0"/>
          </a:p>
          <a:p>
            <a:endParaRPr lang="en-IE" sz="24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23</a:t>
            </a:fld>
            <a:endParaRPr lang="en-IE"/>
          </a:p>
        </p:txBody>
      </p:sp>
      <p:pic>
        <p:nvPicPr>
          <p:cNvPr id="4" name="Picture 3" descr="Fig06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16903" y="4243580"/>
            <a:ext cx="7420438" cy="943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2505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Unary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8557805" cy="4351338"/>
          </a:xfrm>
        </p:spPr>
        <p:txBody>
          <a:bodyPr>
            <a:normAutofit fontScale="92500"/>
          </a:bodyPr>
          <a:lstStyle/>
          <a:p>
            <a:r>
              <a:rPr lang="en-GB" b="1" i="1" dirty="0"/>
              <a:t>Unary</a:t>
            </a:r>
            <a:r>
              <a:rPr lang="en-GB" dirty="0"/>
              <a:t> relationships are also known as a </a:t>
            </a:r>
            <a:r>
              <a:rPr lang="en-GB" b="1" i="1" dirty="0"/>
              <a:t>recursive</a:t>
            </a:r>
            <a:r>
              <a:rPr lang="en-GB" dirty="0"/>
              <a:t> relationship.</a:t>
            </a:r>
          </a:p>
          <a:p>
            <a:pPr lvl="1"/>
            <a:r>
              <a:rPr lang="en-US" sz="2600" dirty="0"/>
              <a:t>Instances of entities may have relationships with other </a:t>
            </a:r>
            <a:br>
              <a:rPr lang="en-US" sz="2600" dirty="0"/>
            </a:br>
            <a:r>
              <a:rPr lang="en-US" sz="2600" dirty="0"/>
              <a:t>instances of the same entity. </a:t>
            </a:r>
          </a:p>
          <a:p>
            <a:pPr lvl="1"/>
            <a:r>
              <a:rPr lang="en-US" sz="2600" dirty="0"/>
              <a:t>These relationships may be drawn with relationship lines </a:t>
            </a:r>
            <a:br>
              <a:rPr lang="en-US" sz="2600" dirty="0"/>
            </a:br>
            <a:r>
              <a:rPr lang="en-US" sz="2600" dirty="0"/>
              <a:t>that begin and end connected to the same entity.</a:t>
            </a:r>
            <a:endParaRPr lang="en-GB" sz="17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24</a:t>
            </a:fld>
            <a:endParaRPr lang="en-IE"/>
          </a:p>
        </p:txBody>
      </p:sp>
      <p:pic>
        <p:nvPicPr>
          <p:cNvPr id="4" name="Picture 3" descr="Fig08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9396005" y="1540281"/>
            <a:ext cx="2172614" cy="1381658"/>
          </a:xfrm>
          <a:prstGeom prst="rect">
            <a:avLst/>
          </a:prstGeom>
        </p:spPr>
      </p:pic>
      <p:pic>
        <p:nvPicPr>
          <p:cNvPr id="6" name="Picture 5" descr="Fig21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333890" y="3683276"/>
            <a:ext cx="2019910" cy="139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349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Unary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8557805" cy="4351338"/>
          </a:xfrm>
        </p:spPr>
        <p:txBody>
          <a:bodyPr>
            <a:normAutofit fontScale="92500" lnSpcReduction="10000"/>
          </a:bodyPr>
          <a:lstStyle/>
          <a:p>
            <a:r>
              <a:rPr lang="en-GB" b="1" i="1" dirty="0"/>
              <a:t>Unary</a:t>
            </a:r>
            <a:r>
              <a:rPr lang="en-GB" dirty="0"/>
              <a:t> relationships are also known as a </a:t>
            </a:r>
            <a:r>
              <a:rPr lang="en-GB" b="1" i="1" dirty="0"/>
              <a:t>recursive</a:t>
            </a:r>
            <a:r>
              <a:rPr lang="en-GB" dirty="0"/>
              <a:t> relationship.</a:t>
            </a:r>
          </a:p>
          <a:p>
            <a:pPr lvl="1"/>
            <a:r>
              <a:rPr lang="en-GB" sz="2600" dirty="0"/>
              <a:t>It is a relationship where the same entity participates </a:t>
            </a:r>
            <a:br>
              <a:rPr lang="en-GB" sz="2600" dirty="0"/>
            </a:br>
            <a:r>
              <a:rPr lang="en-GB" sz="2600" dirty="0"/>
              <a:t>more than once in different roles.</a:t>
            </a:r>
          </a:p>
          <a:p>
            <a:pPr lvl="1"/>
            <a:r>
              <a:rPr lang="en-GB" sz="2600" dirty="0"/>
              <a:t>In the example, employees are managed by employees.</a:t>
            </a:r>
          </a:p>
          <a:p>
            <a:endParaRPr lang="en-GB" sz="900" dirty="0"/>
          </a:p>
          <a:p>
            <a:r>
              <a:rPr lang="en-GB" sz="2600" dirty="0"/>
              <a:t>If you wanted more information about who manages whom, you could introduce a second entity type called manager.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25</a:t>
            </a:fld>
            <a:endParaRPr lang="en-IE"/>
          </a:p>
        </p:txBody>
      </p:sp>
      <p:pic>
        <p:nvPicPr>
          <p:cNvPr id="4" name="Picture 3" descr="Fig08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9396005" y="1540281"/>
            <a:ext cx="2172614" cy="1381658"/>
          </a:xfrm>
          <a:prstGeom prst="rect">
            <a:avLst/>
          </a:prstGeom>
        </p:spPr>
      </p:pic>
      <p:pic>
        <p:nvPicPr>
          <p:cNvPr id="6" name="Picture 5" descr="Fig21.jp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333890" y="3683276"/>
            <a:ext cx="2019910" cy="1391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0941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b="1" i="1" dirty="0"/>
              <a:t>For example</a:t>
            </a:r>
            <a:r>
              <a:rPr lang="en-US" sz="2400" dirty="0"/>
              <a:t>, Suppose in a classroom, we have many students who belong to a particular club-like dance club, basketball club etc. and some of them are club leads. So, a particular group of student is managed by their respective club lead. Here, the group is formed from students and also, the club leads are chosen from students. </a:t>
            </a:r>
          </a:p>
          <a:p>
            <a:r>
              <a:rPr lang="en-US" sz="2400" dirty="0"/>
              <a:t>So, the ‘Student’ is the only entity participating here. </a:t>
            </a:r>
          </a:p>
          <a:p>
            <a:endParaRPr lang="en-I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231996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 can represent this relationship using the E-R diagram as follows:</a:t>
            </a:r>
            <a:endParaRPr lang="en-IE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27</a:t>
            </a:fld>
            <a:endParaRPr lang="en-IE"/>
          </a:p>
        </p:txBody>
      </p:sp>
      <p:pic>
        <p:nvPicPr>
          <p:cNvPr id="1026" name="Picture 2" descr="https://s3.ap-south-1.amazonaws.com/afteracademy-server-uploads/what-is-the-degree-of-relation-in-dbms-unary-relationship-example-ae2955f9272e3c1b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2762" y="3140184"/>
            <a:ext cx="5707465" cy="286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9171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If there are two entity types involved it is a </a:t>
            </a:r>
            <a:r>
              <a:rPr lang="en-GB" b="1" i="1" dirty="0"/>
              <a:t>binary</a:t>
            </a:r>
            <a:r>
              <a:rPr lang="en-GB" dirty="0"/>
              <a:t> relationship type.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I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28</a:t>
            </a:fld>
            <a:endParaRPr lang="en-IE"/>
          </a:p>
        </p:txBody>
      </p:sp>
      <p:pic>
        <p:nvPicPr>
          <p:cNvPr id="5" name="Picture 4" descr="Fig06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837078" y="4001294"/>
            <a:ext cx="5773522" cy="73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1293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Ternary Relationship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there are three entity types involved it is a </a:t>
            </a:r>
            <a:r>
              <a:rPr lang="en-GB" b="1" i="1" dirty="0"/>
              <a:t>ternary</a:t>
            </a:r>
            <a:r>
              <a:rPr lang="en-GB" dirty="0"/>
              <a:t> relationship type.</a:t>
            </a:r>
          </a:p>
          <a:p>
            <a:endParaRPr lang="en-GB" dirty="0"/>
          </a:p>
          <a:p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29</a:t>
            </a:fld>
            <a:endParaRPr lang="en-IE"/>
          </a:p>
        </p:txBody>
      </p:sp>
      <p:pic>
        <p:nvPicPr>
          <p:cNvPr id="4" name="Picture 3" descr="Fig07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998619" y="3551751"/>
            <a:ext cx="5773522" cy="182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029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University might need to record which teachers taught which subjects in which courses.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30</a:t>
            </a:fld>
            <a:endParaRPr lang="en-IE"/>
          </a:p>
        </p:txBody>
      </p:sp>
      <p:pic>
        <p:nvPicPr>
          <p:cNvPr id="5122" name="Picture 2" descr="Ternary Relationship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5097" y="3292959"/>
            <a:ext cx="6501805" cy="2884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26209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31</a:t>
            </a:fld>
            <a:endParaRPr lang="en-I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296" y="2104947"/>
            <a:ext cx="7771515" cy="3156601"/>
          </a:xfrm>
          <a:prstGeom prst="rect">
            <a:avLst/>
          </a:prstGeom>
        </p:spPr>
      </p:pic>
      <p:pic>
        <p:nvPicPr>
          <p:cNvPr id="5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8296" y="2104947"/>
            <a:ext cx="7771515" cy="3156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073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Replacing Ternary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When </a:t>
            </a:r>
            <a:r>
              <a:rPr lang="en-GB" sz="2400" b="1" i="1" dirty="0">
                <a:latin typeface="Arial" panose="020B0604020202020204" pitchFamily="34" charset="0"/>
                <a:cs typeface="Arial" panose="020B0604020202020204" pitchFamily="34" charset="0"/>
              </a:rPr>
              <a:t>ternary</a:t>
            </a:r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 relationships occurs in an ER model they should always be removed before finishing the model.</a:t>
            </a:r>
          </a:p>
          <a:p>
            <a:r>
              <a:rPr lang="en-GB" sz="2400" dirty="0">
                <a:latin typeface="Arial" panose="020B0604020202020204" pitchFamily="34" charset="0"/>
                <a:cs typeface="Arial" panose="020B0604020202020204" pitchFamily="34" charset="0"/>
              </a:rPr>
              <a:t>Sometimes the relationships can be replaced by a series of binary relationships that link pairs of the original ternary relationship.</a:t>
            </a:r>
          </a:p>
          <a:p>
            <a:pPr>
              <a:spcBef>
                <a:spcPct val="20000"/>
              </a:spcBef>
              <a:buClr>
                <a:schemeClr val="tx1"/>
              </a:buClr>
              <a:buSzPct val="85000"/>
            </a:pPr>
            <a:endParaRPr lang="en-GB" sz="2400" dirty="0">
              <a:latin typeface="Arial" charset="0"/>
            </a:endParaRPr>
          </a:p>
          <a:p>
            <a:endParaRPr lang="en-IE" sz="3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32</a:t>
            </a:fld>
            <a:endParaRPr lang="en-IE"/>
          </a:p>
        </p:txBody>
      </p:sp>
      <p:pic>
        <p:nvPicPr>
          <p:cNvPr id="6" name="Picture 5" descr="Fig10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977030" y="4356393"/>
            <a:ext cx="5773522" cy="182057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34065" y="4356393"/>
            <a:ext cx="401423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  <a:buClr>
                <a:schemeClr val="tx1"/>
              </a:buClr>
              <a:buSzPct val="85000"/>
            </a:pPr>
            <a:r>
              <a:rPr lang="en-GB" sz="2000" dirty="0">
                <a:latin typeface="Arial" charset="0"/>
              </a:rPr>
              <a:t>This can result in the loss of some information</a:t>
            </a:r>
            <a:br>
              <a:rPr lang="en-GB" sz="2000" dirty="0">
                <a:latin typeface="Arial" charset="0"/>
              </a:rPr>
            </a:br>
            <a:r>
              <a:rPr lang="en-GB" sz="2000" dirty="0">
                <a:latin typeface="Arial" charset="0"/>
              </a:rPr>
              <a:t>i.e. It is no longer clear which sales assistant sold a customer a particular product.</a:t>
            </a:r>
          </a:p>
        </p:txBody>
      </p:sp>
    </p:spTree>
    <p:extLst>
      <p:ext uri="{BB962C8B-B14F-4D97-AF65-F5344CB8AC3E}">
        <p14:creationId xmlns:p14="http://schemas.microsoft.com/office/powerpoint/2010/main" val="289141489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Replacing Ternary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ct val="20000"/>
              </a:spcBef>
              <a:buClr>
                <a:schemeClr val="tx1"/>
              </a:buClr>
              <a:buSzPct val="85000"/>
              <a:buNone/>
            </a:pPr>
            <a:endParaRPr lang="en-GB" sz="2400" dirty="0">
              <a:latin typeface="Arial" charset="0"/>
            </a:endParaRPr>
          </a:p>
          <a:p>
            <a:endParaRPr lang="en-IE" sz="32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33</a:t>
            </a:fld>
            <a:endParaRPr lang="en-IE"/>
          </a:p>
        </p:txBody>
      </p:sp>
      <p:sp>
        <p:nvSpPr>
          <p:cNvPr id="5" name="Rectangle 4"/>
          <p:cNvSpPr/>
          <p:nvPr/>
        </p:nvSpPr>
        <p:spPr>
          <a:xfrm>
            <a:off x="838200" y="4851446"/>
            <a:ext cx="9872729" cy="954107"/>
          </a:xfrm>
          <a:prstGeom prst="rect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pPr>
              <a:spcBef>
                <a:spcPct val="20000"/>
              </a:spcBef>
              <a:buClr>
                <a:schemeClr val="tx1"/>
              </a:buClr>
              <a:buSzPct val="85000"/>
            </a:pPr>
            <a:r>
              <a:rPr lang="en-GB" sz="2800" dirty="0">
                <a:latin typeface="Arial" charset="0"/>
              </a:rPr>
              <a:t>Try replacing the ternary relationship with an entity type and a set of binary relationships.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9489A3-D0D7-FD02-42D6-0FD4DD6C1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963" y="1734403"/>
            <a:ext cx="6758074" cy="2745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8989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Replacing Ternary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639672" cy="4603007"/>
          </a:xfrm>
        </p:spPr>
        <p:txBody>
          <a:bodyPr>
            <a:noAutofit/>
          </a:bodyPr>
          <a:lstStyle/>
          <a:p>
            <a:pPr marL="0" indent="0">
              <a:buFont typeface="Wingdings" pitchFamily="2" charset="2"/>
              <a:buNone/>
            </a:pPr>
            <a:r>
              <a:rPr lang="en-GB" dirty="0"/>
              <a:t>Relationships are usually </a:t>
            </a:r>
            <a:r>
              <a:rPr lang="en-GB" b="1" i="1" dirty="0"/>
              <a:t>verbs</a:t>
            </a:r>
            <a:r>
              <a:rPr lang="en-GB" dirty="0"/>
              <a:t>, so name the new entity type by the relationship verb rewritten as a </a:t>
            </a:r>
            <a:r>
              <a:rPr lang="en-GB" b="1" i="1" dirty="0"/>
              <a:t>noun</a:t>
            </a:r>
            <a:r>
              <a:rPr lang="en-GB" dirty="0"/>
              <a:t>.</a:t>
            </a:r>
          </a:p>
          <a:p>
            <a:pPr marL="819150" lvl="1"/>
            <a:r>
              <a:rPr lang="en-GB" sz="2000" dirty="0"/>
              <a:t>The relationship ‘sell’ can become the entity type ‘SALES’.</a:t>
            </a:r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819150" lvl="1"/>
            <a:endParaRPr lang="en-GB" sz="1600" dirty="0"/>
          </a:p>
          <a:p>
            <a:pPr marL="228600" lvl="1">
              <a:buNone/>
            </a:pPr>
            <a:r>
              <a:rPr lang="en-GB" sz="1600" dirty="0"/>
              <a:t>	</a:t>
            </a:r>
            <a:endParaRPr lang="en-GB" sz="2000" dirty="0"/>
          </a:p>
          <a:p>
            <a:endParaRPr lang="en-IE" sz="20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34</a:t>
            </a:fld>
            <a:endParaRPr lang="en-IE"/>
          </a:p>
        </p:txBody>
      </p:sp>
      <p:pic>
        <p:nvPicPr>
          <p:cNvPr id="5" name="Picture 4" descr="Fig11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781517" y="4685911"/>
            <a:ext cx="5040000" cy="1589268"/>
          </a:xfrm>
          <a:prstGeom prst="rect">
            <a:avLst/>
          </a:prstGeom>
        </p:spPr>
      </p:pic>
      <p:sp>
        <p:nvSpPr>
          <p:cNvPr id="6" name="Left-Up Arrow 5"/>
          <p:cNvSpPr/>
          <p:nvPr/>
        </p:nvSpPr>
        <p:spPr bwMode="auto">
          <a:xfrm rot="16200000">
            <a:off x="5435736" y="3869056"/>
            <a:ext cx="691563" cy="753038"/>
          </a:xfrm>
          <a:prstGeom prst="leftUpArrow">
            <a:avLst/>
          </a:prstGeom>
          <a:solidFill>
            <a:srgbClr val="FFFFCC"/>
          </a:solidFill>
          <a:ln w="12700" cap="sq" cmpd="sng" algn="ctr">
            <a:solidFill>
              <a:schemeClr val="tx1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I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 Black" pitchFamily="34" charset="0"/>
            </a:endParaRPr>
          </a:p>
        </p:txBody>
      </p:sp>
      <p:pic>
        <p:nvPicPr>
          <p:cNvPr id="8" name="Picture 3">
            <a:extLst>
              <a:ext uri="{FF2B5EF4-FFF2-40B4-BE49-F238E27FC236}">
                <a16:creationId xmlns:a16="http://schemas.microsoft.com/office/drawing/2014/main" id="{6DBCD072-F990-C10E-928E-826772A70B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99793"/>
            <a:ext cx="4300405" cy="174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0353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Example: Ternary Relationships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35</a:t>
            </a:fld>
            <a:endParaRPr lang="en-IE"/>
          </a:p>
        </p:txBody>
      </p:sp>
      <p:pic>
        <p:nvPicPr>
          <p:cNvPr id="4" name="Picture 3" descr="Fig30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23604" y="1770919"/>
            <a:ext cx="7473606" cy="453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5842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Example: Ternary Relationship Converted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36</a:t>
            </a:fld>
            <a:endParaRPr lang="en-IE"/>
          </a:p>
        </p:txBody>
      </p:sp>
      <p:pic>
        <p:nvPicPr>
          <p:cNvPr id="4" name="Picture 3" descr="Fig18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583983" y="2027846"/>
            <a:ext cx="7613833" cy="3886570"/>
          </a:xfrm>
          <a:prstGeom prst="rect">
            <a:avLst/>
          </a:prstGeom>
        </p:spPr>
      </p:pic>
      <p:sp>
        <p:nvSpPr>
          <p:cNvPr id="5" name="Line 5"/>
          <p:cNvSpPr>
            <a:spLocks noChangeShapeType="1"/>
          </p:cNvSpPr>
          <p:nvPr/>
        </p:nvSpPr>
        <p:spPr bwMode="auto">
          <a:xfrm flipV="1">
            <a:off x="3863569" y="3823981"/>
            <a:ext cx="1344168" cy="1234440"/>
          </a:xfrm>
          <a:prstGeom prst="line">
            <a:avLst/>
          </a:prstGeom>
          <a:noFill/>
          <a:ln w="19050">
            <a:solidFill>
              <a:srgbClr val="008000"/>
            </a:solidFill>
            <a:round/>
            <a:headEnd/>
            <a:tailEnd type="stealth" w="lg" len="lg"/>
          </a:ln>
          <a:effectLst/>
        </p:spPr>
        <p:txBody>
          <a:bodyPr wrap="none"/>
          <a:lstStyle/>
          <a:p>
            <a:endParaRPr lang="en-IE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982318" y="4877065"/>
            <a:ext cx="1988045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Associative entity </a:t>
            </a:r>
          </a:p>
          <a:p>
            <a:r>
              <a:rPr lang="en-US" sz="1600" b="1" dirty="0">
                <a:solidFill>
                  <a:srgbClr val="000000"/>
                </a:solidFill>
                <a:latin typeface="+mn-lt"/>
              </a:rPr>
              <a:t>or linking table</a:t>
            </a:r>
          </a:p>
        </p:txBody>
      </p:sp>
    </p:spTree>
    <p:extLst>
      <p:ext uri="{BB962C8B-B14F-4D97-AF65-F5344CB8AC3E}">
        <p14:creationId xmlns:p14="http://schemas.microsoft.com/office/powerpoint/2010/main" val="20588630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Example: Relationship Attributes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None/>
            </a:pPr>
            <a:r>
              <a:rPr lang="en-US" b="1" dirty="0"/>
              <a:t>Relationship Attributes:</a:t>
            </a:r>
          </a:p>
          <a:p>
            <a:pPr lvl="1"/>
            <a:r>
              <a:rPr lang="en-US" dirty="0"/>
              <a:t>Some relationships can have attributes just as an entity can have attributes.</a:t>
            </a:r>
          </a:p>
          <a:p>
            <a:pPr lvl="1"/>
            <a:r>
              <a:rPr lang="en-US" dirty="0"/>
              <a:t>Generally, this occurs with a many-to-many relationship.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37</a:t>
            </a:fld>
            <a:endParaRPr lang="en-IE"/>
          </a:p>
        </p:txBody>
      </p:sp>
      <p:pic>
        <p:nvPicPr>
          <p:cNvPr id="4" name="Picture 3" descr="Fig28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552336" y="4661245"/>
            <a:ext cx="4191610" cy="972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3251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Example: Relationship Attributes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None/>
            </a:pPr>
            <a:r>
              <a:rPr lang="en-US" b="1" dirty="0"/>
              <a:t>Relationship Attributes:</a:t>
            </a:r>
          </a:p>
          <a:p>
            <a:pPr lvl="1"/>
            <a:r>
              <a:rPr lang="en-US" sz="2800" dirty="0"/>
              <a:t>Rule-of-thumb:</a:t>
            </a:r>
          </a:p>
          <a:p>
            <a:pPr lvl="2"/>
            <a:r>
              <a:rPr lang="en-US" sz="2400" dirty="0"/>
              <a:t>If you have an attribute on a 1:N relationship, you probably have something wrong.</a:t>
            </a:r>
          </a:p>
          <a:p>
            <a:pPr lvl="2"/>
            <a:r>
              <a:rPr lang="en-US" sz="2400" dirty="0"/>
              <a:t>Attribute should go on one of the entities.</a:t>
            </a:r>
          </a:p>
          <a:p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138867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ERD Example: Multiple Relationships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Multiple Relationships</a:t>
            </a:r>
            <a:r>
              <a:rPr lang="en-US" dirty="0"/>
              <a:t> - more than one relationship between the same entity types.</a:t>
            </a:r>
          </a:p>
          <a:p>
            <a:pPr lvl="1"/>
            <a:r>
              <a:rPr lang="en-US" dirty="0"/>
              <a:t>These are depicted in the ERD with multiple relationship lines connecting the two entities.</a:t>
            </a:r>
            <a:endParaRPr lang="en-GB" dirty="0"/>
          </a:p>
          <a:p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39</a:t>
            </a:fld>
            <a:endParaRPr lang="en-IE"/>
          </a:p>
        </p:txBody>
      </p:sp>
      <p:pic>
        <p:nvPicPr>
          <p:cNvPr id="4" name="Picture 3" descr="Fig29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908132" y="4367852"/>
            <a:ext cx="5115154" cy="1914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9531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lab 2 exercise 2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dirty="0"/>
              <a:t>Prepare an ER diagram for a real estate company that lists property for sale. The following describes the </a:t>
            </a:r>
            <a:r>
              <a:rPr lang="en-US" dirty="0" err="1"/>
              <a:t>organisation</a:t>
            </a:r>
            <a:r>
              <a:rPr lang="en-US" dirty="0"/>
              <a:t>: </a:t>
            </a:r>
          </a:p>
          <a:p>
            <a:pPr marL="0" indent="0">
              <a:lnSpc>
                <a:spcPct val="110000"/>
              </a:lnSpc>
              <a:buNone/>
            </a:pPr>
            <a:endParaRPr lang="en-US" dirty="0"/>
          </a:p>
          <a:p>
            <a:pPr lvl="1">
              <a:lnSpc>
                <a:spcPct val="110000"/>
              </a:lnSpc>
            </a:pPr>
            <a:r>
              <a:rPr lang="en-US" sz="2000" dirty="0"/>
              <a:t>The company has a number of sales offices in several counties.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Attributes of sales office include </a:t>
            </a:r>
            <a:r>
              <a:rPr lang="en-US" sz="2000" dirty="0" err="1"/>
              <a:t>Office_Number</a:t>
            </a:r>
            <a:r>
              <a:rPr lang="en-US" sz="2000" dirty="0"/>
              <a:t> (identifier/key) and Location.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Each sales office is assigned one or more employees.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Attributes of employee include </a:t>
            </a:r>
            <a:r>
              <a:rPr lang="en-US" sz="2000" dirty="0" err="1"/>
              <a:t>Employee_ID</a:t>
            </a:r>
            <a:r>
              <a:rPr lang="en-US" sz="2000" dirty="0"/>
              <a:t> (identifier/key) and </a:t>
            </a:r>
            <a:r>
              <a:rPr lang="en-US" sz="2000" dirty="0" err="1"/>
              <a:t>Employee_Name</a:t>
            </a:r>
            <a:r>
              <a:rPr lang="en-US" sz="2000" dirty="0"/>
              <a:t>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An employee must be assigned to only one sales office.  </a:t>
            </a:r>
          </a:p>
          <a:p>
            <a:pPr lvl="1"/>
            <a:r>
              <a:rPr lang="en-US" sz="2000" dirty="0"/>
              <a:t>The firm lists property for sale. 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403635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lab 2 exercise 2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dirty="0"/>
              <a:t>Prepare an ER diagram for a real estate company that lists property for sale. The following describes the </a:t>
            </a:r>
            <a:r>
              <a:rPr lang="en-US" dirty="0" err="1"/>
              <a:t>organisation</a:t>
            </a:r>
            <a:r>
              <a:rPr lang="en-US" dirty="0"/>
              <a:t>: </a:t>
            </a:r>
          </a:p>
          <a:p>
            <a:pPr marL="0" indent="0">
              <a:lnSpc>
                <a:spcPct val="100000"/>
              </a:lnSpc>
              <a:buNone/>
            </a:pPr>
            <a:endParaRPr lang="en-US" dirty="0"/>
          </a:p>
          <a:p>
            <a:pPr lvl="1">
              <a:lnSpc>
                <a:spcPct val="100000"/>
              </a:lnSpc>
            </a:pPr>
            <a:r>
              <a:rPr lang="en-US" sz="2000" dirty="0"/>
              <a:t>The </a:t>
            </a:r>
            <a:r>
              <a:rPr lang="en-US" sz="2000" b="1" dirty="0">
                <a:solidFill>
                  <a:srgbClr val="FF0000"/>
                </a:solidFill>
              </a:rPr>
              <a:t>company</a:t>
            </a:r>
            <a:r>
              <a:rPr lang="en-US" sz="2000" dirty="0"/>
              <a:t> has a number of </a:t>
            </a:r>
            <a:r>
              <a:rPr lang="en-US" sz="2000" b="1" dirty="0">
                <a:solidFill>
                  <a:srgbClr val="FF0000"/>
                </a:solidFill>
              </a:rPr>
              <a:t>sales offices</a:t>
            </a:r>
            <a:r>
              <a:rPr lang="en-US" sz="2000" dirty="0"/>
              <a:t> in </a:t>
            </a:r>
            <a:r>
              <a:rPr lang="en-US" sz="2000" b="1" dirty="0">
                <a:solidFill>
                  <a:schemeClr val="accent6"/>
                </a:solidFill>
              </a:rPr>
              <a:t>several counties</a:t>
            </a:r>
            <a:r>
              <a:rPr lang="en-US" sz="2000" dirty="0"/>
              <a:t>. 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Attributes of </a:t>
            </a:r>
            <a:r>
              <a:rPr lang="en-US" sz="2000" b="1" dirty="0">
                <a:solidFill>
                  <a:srgbClr val="FF0000"/>
                </a:solidFill>
              </a:rPr>
              <a:t>sales office </a:t>
            </a:r>
            <a:r>
              <a:rPr lang="en-US" sz="2000" dirty="0"/>
              <a:t>include </a:t>
            </a:r>
            <a:r>
              <a:rPr lang="en-US" sz="2000" b="1" dirty="0" err="1">
                <a:solidFill>
                  <a:schemeClr val="accent6"/>
                </a:solidFill>
              </a:rPr>
              <a:t>Office_Number</a:t>
            </a:r>
            <a:r>
              <a:rPr lang="en-US" sz="2000" dirty="0"/>
              <a:t> (identifier/key) and </a:t>
            </a:r>
            <a:r>
              <a:rPr lang="en-US" sz="2000" b="1" dirty="0">
                <a:solidFill>
                  <a:schemeClr val="accent6"/>
                </a:solidFill>
              </a:rPr>
              <a:t>Location</a:t>
            </a:r>
            <a:r>
              <a:rPr lang="en-US" sz="2000" dirty="0"/>
              <a:t>. 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Each </a:t>
            </a:r>
            <a:r>
              <a:rPr lang="en-US" sz="2000" b="1" dirty="0">
                <a:solidFill>
                  <a:srgbClr val="FF0000"/>
                </a:solidFill>
              </a:rPr>
              <a:t>sales office </a:t>
            </a:r>
            <a:r>
              <a:rPr lang="en-US" sz="2000" dirty="0"/>
              <a:t>is assigned one or more </a:t>
            </a:r>
            <a:r>
              <a:rPr lang="en-US" sz="2000" b="1" dirty="0">
                <a:solidFill>
                  <a:srgbClr val="FF0000"/>
                </a:solidFill>
              </a:rPr>
              <a:t>employees</a:t>
            </a:r>
            <a:r>
              <a:rPr lang="en-US" sz="2000" dirty="0"/>
              <a:t>. 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Attributes of </a:t>
            </a:r>
            <a:r>
              <a:rPr lang="en-US" sz="2000" b="1" dirty="0">
                <a:solidFill>
                  <a:srgbClr val="FF0000"/>
                </a:solidFill>
              </a:rPr>
              <a:t>employee</a:t>
            </a:r>
            <a:r>
              <a:rPr lang="en-US" sz="2000" dirty="0"/>
              <a:t> include </a:t>
            </a:r>
            <a:r>
              <a:rPr lang="en-US" sz="2000" b="1" dirty="0" err="1">
                <a:solidFill>
                  <a:schemeClr val="accent6"/>
                </a:solidFill>
              </a:rPr>
              <a:t>Employee_ID</a:t>
            </a:r>
            <a:r>
              <a:rPr lang="en-US" sz="2000" b="1" dirty="0">
                <a:solidFill>
                  <a:schemeClr val="accent6"/>
                </a:solidFill>
              </a:rPr>
              <a:t> (identifier/key) and </a:t>
            </a:r>
            <a:r>
              <a:rPr lang="en-US" sz="2000" b="1" dirty="0" err="1">
                <a:solidFill>
                  <a:schemeClr val="accent6"/>
                </a:solidFill>
              </a:rPr>
              <a:t>Employee_Name</a:t>
            </a:r>
            <a:r>
              <a:rPr lang="en-US" sz="2000" b="1" dirty="0">
                <a:solidFill>
                  <a:schemeClr val="accent6"/>
                </a:solidFill>
              </a:rPr>
              <a:t>. 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An </a:t>
            </a:r>
            <a:r>
              <a:rPr lang="en-US" sz="2000" b="1" dirty="0">
                <a:solidFill>
                  <a:srgbClr val="FF0000"/>
                </a:solidFill>
              </a:rPr>
              <a:t>employee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1">
                    <a:lumMod val="50000"/>
                  </a:schemeClr>
                </a:solidFill>
              </a:rPr>
              <a:t>must be assigned to only one </a:t>
            </a:r>
            <a:r>
              <a:rPr lang="en-US" sz="2000" b="1" dirty="0">
                <a:solidFill>
                  <a:srgbClr val="FF0000"/>
                </a:solidFill>
              </a:rPr>
              <a:t>sales office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The </a:t>
            </a:r>
            <a:r>
              <a:rPr lang="en-US" sz="2000" b="1" dirty="0">
                <a:solidFill>
                  <a:srgbClr val="FF0000"/>
                </a:solidFill>
              </a:rPr>
              <a:t>firm</a:t>
            </a:r>
            <a:r>
              <a:rPr lang="en-US" sz="2000" dirty="0"/>
              <a:t> lists </a:t>
            </a:r>
            <a:r>
              <a:rPr lang="en-US" sz="2000" b="1" dirty="0">
                <a:solidFill>
                  <a:srgbClr val="FF0000"/>
                </a:solidFill>
              </a:rPr>
              <a:t>property</a:t>
            </a:r>
            <a:r>
              <a:rPr lang="en-US" sz="2000" dirty="0"/>
              <a:t> for sale. 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410074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lab 2 exercise 2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US" sz="2000" dirty="0"/>
              <a:t>Attributes of property include </a:t>
            </a:r>
            <a:r>
              <a:rPr lang="en-US" sz="2000" dirty="0" err="1"/>
              <a:t>Property_ID</a:t>
            </a:r>
            <a:r>
              <a:rPr lang="en-US" sz="2000" dirty="0"/>
              <a:t> (identifier) and Location. </a:t>
            </a:r>
          </a:p>
          <a:p>
            <a:pPr lvl="1"/>
            <a:r>
              <a:rPr lang="en-US" sz="2000" dirty="0"/>
              <a:t>Components of Location include Address, City, County, and </a:t>
            </a:r>
            <a:r>
              <a:rPr lang="en-US" sz="2000" dirty="0" err="1"/>
              <a:t>Postal_Code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Each unit of property must be listed with one (and only one) of the sales offices. </a:t>
            </a:r>
          </a:p>
          <a:p>
            <a:pPr lvl="1"/>
            <a:r>
              <a:rPr lang="en-US" sz="2000" dirty="0"/>
              <a:t>A sales office may have any number of properties listed. </a:t>
            </a:r>
          </a:p>
          <a:p>
            <a:pPr lvl="1"/>
            <a:r>
              <a:rPr lang="en-US" sz="2000" dirty="0"/>
              <a:t>Each unit of property has one or more owners. </a:t>
            </a:r>
          </a:p>
          <a:p>
            <a:pPr lvl="1"/>
            <a:r>
              <a:rPr lang="en-US" sz="2000" dirty="0"/>
              <a:t>Attributes of owners are </a:t>
            </a:r>
            <a:r>
              <a:rPr lang="en-US" sz="2000" dirty="0" err="1"/>
              <a:t>Owner_ID</a:t>
            </a:r>
            <a:r>
              <a:rPr lang="en-US" sz="2000" dirty="0"/>
              <a:t> (identifier) and </a:t>
            </a:r>
            <a:r>
              <a:rPr lang="en-US" sz="2000" dirty="0" err="1"/>
              <a:t>Owner_Name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An owner may own one or more units of property. </a:t>
            </a:r>
          </a:p>
          <a:p>
            <a:pPr lvl="1"/>
            <a:r>
              <a:rPr lang="en-US" sz="2000" dirty="0"/>
              <a:t>An attribute of the association between property and owner is </a:t>
            </a:r>
            <a:r>
              <a:rPr lang="en-US" sz="2000" dirty="0" err="1"/>
              <a:t>Percent_Owned</a:t>
            </a:r>
            <a:r>
              <a:rPr lang="en-US" sz="2000" dirty="0"/>
              <a:t>. </a:t>
            </a: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216975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lab 2 exercise 2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1"/>
            <a:r>
              <a:rPr lang="en-US" sz="2000" dirty="0"/>
              <a:t>Attributes of </a:t>
            </a:r>
            <a:r>
              <a:rPr lang="en-US" sz="2000" b="1" dirty="0">
                <a:solidFill>
                  <a:srgbClr val="FF0000"/>
                </a:solidFill>
              </a:rPr>
              <a:t>property</a:t>
            </a:r>
            <a:r>
              <a:rPr lang="en-US" sz="2000" dirty="0"/>
              <a:t> include </a:t>
            </a:r>
            <a:r>
              <a:rPr lang="en-US" sz="2000" b="1" dirty="0" err="1">
                <a:solidFill>
                  <a:srgbClr val="92D050"/>
                </a:solidFill>
              </a:rPr>
              <a:t>Property_ID</a:t>
            </a:r>
            <a:r>
              <a:rPr lang="en-US" sz="2000" b="1" dirty="0">
                <a:solidFill>
                  <a:srgbClr val="92D050"/>
                </a:solidFill>
              </a:rPr>
              <a:t> (identifier) and Location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Components of </a:t>
            </a:r>
            <a:r>
              <a:rPr lang="en-US" sz="2000" b="1" dirty="0">
                <a:solidFill>
                  <a:srgbClr val="FF0000"/>
                </a:solidFill>
              </a:rPr>
              <a:t>Location</a:t>
            </a:r>
            <a:r>
              <a:rPr lang="en-US" sz="2000" dirty="0"/>
              <a:t> include </a:t>
            </a:r>
            <a:r>
              <a:rPr lang="en-US" sz="2000" b="1" dirty="0">
                <a:solidFill>
                  <a:srgbClr val="92D050"/>
                </a:solidFill>
              </a:rPr>
              <a:t>Address, City, County, and </a:t>
            </a:r>
            <a:r>
              <a:rPr lang="en-US" sz="2000" b="1" dirty="0" err="1">
                <a:solidFill>
                  <a:srgbClr val="92D050"/>
                </a:solidFill>
              </a:rPr>
              <a:t>Postal_Code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Each unit of </a:t>
            </a:r>
            <a:r>
              <a:rPr lang="en-US" sz="2000" b="1" dirty="0">
                <a:solidFill>
                  <a:srgbClr val="FF0000"/>
                </a:solidFill>
              </a:rPr>
              <a:t>property</a:t>
            </a:r>
            <a:r>
              <a:rPr lang="en-US" sz="2000" dirty="0"/>
              <a:t> must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be listed with one (and only one) </a:t>
            </a:r>
            <a:r>
              <a:rPr lang="en-US" sz="2000" dirty="0"/>
              <a:t>of the </a:t>
            </a:r>
            <a:r>
              <a:rPr lang="en-US" sz="2000" b="1" dirty="0">
                <a:solidFill>
                  <a:srgbClr val="FF0000"/>
                </a:solidFill>
              </a:rPr>
              <a:t>sales office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A </a:t>
            </a:r>
            <a:r>
              <a:rPr lang="en-US" sz="2000" b="1" dirty="0">
                <a:solidFill>
                  <a:srgbClr val="FF0000"/>
                </a:solidFill>
              </a:rPr>
              <a:t>sales office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may have any number </a:t>
            </a:r>
            <a:r>
              <a:rPr lang="en-US" sz="2000" dirty="0"/>
              <a:t>of</a:t>
            </a:r>
            <a:r>
              <a:rPr lang="en-US" sz="2000" b="1" dirty="0">
                <a:solidFill>
                  <a:srgbClr val="FF0000"/>
                </a:solidFill>
              </a:rPr>
              <a:t> properties </a:t>
            </a:r>
            <a:r>
              <a:rPr lang="en-US" sz="2000" dirty="0"/>
              <a:t>listed. </a:t>
            </a:r>
          </a:p>
          <a:p>
            <a:pPr lvl="1"/>
            <a:r>
              <a:rPr lang="en-US" sz="2000" dirty="0"/>
              <a:t>Each unit of </a:t>
            </a:r>
            <a:r>
              <a:rPr lang="en-US" sz="2000" b="1" dirty="0">
                <a:solidFill>
                  <a:srgbClr val="FF0000"/>
                </a:solidFill>
              </a:rPr>
              <a:t>property</a:t>
            </a:r>
            <a:r>
              <a:rPr lang="en-US" sz="2000" dirty="0"/>
              <a:t> </a:t>
            </a: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</a:rPr>
              <a:t>has one or more </a:t>
            </a:r>
            <a:r>
              <a:rPr lang="en-US" sz="2000" b="1" dirty="0">
                <a:solidFill>
                  <a:srgbClr val="FF0000"/>
                </a:solidFill>
              </a:rPr>
              <a:t>owners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Attributes of </a:t>
            </a:r>
            <a:r>
              <a:rPr lang="en-US" sz="2000" b="1" dirty="0">
                <a:solidFill>
                  <a:srgbClr val="FF0000"/>
                </a:solidFill>
              </a:rPr>
              <a:t>owners</a:t>
            </a:r>
            <a:r>
              <a:rPr lang="en-US" sz="2000" dirty="0"/>
              <a:t> are </a:t>
            </a:r>
            <a:r>
              <a:rPr lang="en-US" sz="2000" b="1" dirty="0" err="1">
                <a:solidFill>
                  <a:srgbClr val="92D050"/>
                </a:solidFill>
              </a:rPr>
              <a:t>Owner_ID</a:t>
            </a:r>
            <a:r>
              <a:rPr lang="en-US" sz="2000" b="1" dirty="0">
                <a:solidFill>
                  <a:srgbClr val="92D050"/>
                </a:solidFill>
              </a:rPr>
              <a:t> (identifier) and </a:t>
            </a:r>
            <a:r>
              <a:rPr lang="en-US" sz="2000" b="1" dirty="0" err="1">
                <a:solidFill>
                  <a:srgbClr val="92D050"/>
                </a:solidFill>
              </a:rPr>
              <a:t>Owner_Name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An </a:t>
            </a: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owner may own one or more </a:t>
            </a:r>
            <a:r>
              <a:rPr lang="en-US" sz="2000" dirty="0"/>
              <a:t>units of </a:t>
            </a:r>
            <a:r>
              <a:rPr lang="en-US" sz="2000" b="1" dirty="0">
                <a:solidFill>
                  <a:srgbClr val="FF0000"/>
                </a:solidFill>
              </a:rPr>
              <a:t>property</a:t>
            </a:r>
            <a:r>
              <a:rPr lang="en-US" sz="2000" dirty="0"/>
              <a:t>. </a:t>
            </a:r>
          </a:p>
          <a:p>
            <a:pPr lvl="1"/>
            <a:r>
              <a:rPr lang="en-US" sz="2000" dirty="0"/>
              <a:t>An attribute of the association between property and owner is </a:t>
            </a:r>
            <a:r>
              <a:rPr lang="en-US" sz="2000" b="1" dirty="0" err="1">
                <a:solidFill>
                  <a:srgbClr val="92D050"/>
                </a:solidFill>
              </a:rPr>
              <a:t>Percent_Owned</a:t>
            </a:r>
            <a:r>
              <a:rPr lang="en-US" sz="2000" dirty="0"/>
              <a:t>. 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611690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6637"/>
            <a:ext cx="10515600" cy="1325563"/>
          </a:xfrm>
        </p:spPr>
        <p:txBody>
          <a:bodyPr/>
          <a:lstStyle/>
          <a:p>
            <a:r>
              <a:rPr lang="en-US" dirty="0"/>
              <a:t>Entities</a:t>
            </a:r>
            <a:endParaRPr lang="en-I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778213" y="1809343"/>
          <a:ext cx="2163107" cy="26121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107">
                  <a:extLst>
                    <a:ext uri="{9D8B030D-6E8A-4147-A177-3AD203B41FA5}">
                      <a16:colId xmlns:a16="http://schemas.microsoft.com/office/drawing/2014/main" val="1979508156"/>
                    </a:ext>
                  </a:extLst>
                </a:gridCol>
              </a:tblGrid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Possible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entities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052247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Sales offices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623444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Employees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82303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569112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Owners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766475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Companies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743312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Locations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1635013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44</a:t>
            </a:fld>
            <a:endParaRPr lang="en-IE"/>
          </a:p>
        </p:txBody>
      </p:sp>
      <p:graphicFrame>
        <p:nvGraphicFramePr>
          <p:cNvPr id="6" name="Content Placeholder 3"/>
          <p:cNvGraphicFramePr>
            <a:graphicFrameLocks/>
          </p:cNvGraphicFramePr>
          <p:nvPr/>
        </p:nvGraphicFramePr>
        <p:xfrm>
          <a:off x="5014446" y="1809343"/>
          <a:ext cx="2163107" cy="18658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107">
                  <a:extLst>
                    <a:ext uri="{9D8B030D-6E8A-4147-A177-3AD203B41FA5}">
                      <a16:colId xmlns:a16="http://schemas.microsoft.com/office/drawing/2014/main" val="1979508156"/>
                    </a:ext>
                  </a:extLst>
                </a:gridCol>
              </a:tblGrid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Entities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052247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Sales offices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623444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Employees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82303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569112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Owners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766475"/>
                  </a:ext>
                </a:extLst>
              </a:tr>
            </a:tbl>
          </a:graphicData>
        </a:graphic>
      </p:graphicFrame>
      <p:sp>
        <p:nvSpPr>
          <p:cNvPr id="7" name="Right Arrow 6"/>
          <p:cNvSpPr/>
          <p:nvPr/>
        </p:nvSpPr>
        <p:spPr>
          <a:xfrm>
            <a:off x="3638145" y="2879387"/>
            <a:ext cx="1186774" cy="56420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02525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Attributes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45</a:t>
            </a:fld>
            <a:endParaRPr lang="en-IE"/>
          </a:p>
        </p:txBody>
      </p:sp>
      <p:graphicFrame>
        <p:nvGraphicFramePr>
          <p:cNvPr id="6" name="Content Placeholder 3"/>
          <p:cNvGraphicFramePr>
            <a:graphicFrameLocks/>
          </p:cNvGraphicFramePr>
          <p:nvPr/>
        </p:nvGraphicFramePr>
        <p:xfrm>
          <a:off x="1590304" y="2140083"/>
          <a:ext cx="7592606" cy="2132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6303">
                  <a:extLst>
                    <a:ext uri="{9D8B030D-6E8A-4147-A177-3AD203B41FA5}">
                      <a16:colId xmlns:a16="http://schemas.microsoft.com/office/drawing/2014/main" val="1979508156"/>
                    </a:ext>
                  </a:extLst>
                </a:gridCol>
                <a:gridCol w="3796303">
                  <a:extLst>
                    <a:ext uri="{9D8B030D-6E8A-4147-A177-3AD203B41FA5}">
                      <a16:colId xmlns:a16="http://schemas.microsoft.com/office/drawing/2014/main" val="1064161998"/>
                    </a:ext>
                  </a:extLst>
                </a:gridCol>
              </a:tblGrid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Entities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Attributes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052247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Sales offices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Office id, location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623444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Employees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Employee id, name, job description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382303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Property id, address, city, county, postal code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6569112"/>
                  </a:ext>
                </a:extLst>
              </a:tr>
              <a:tr h="373166">
                <a:tc>
                  <a:txBody>
                    <a:bodyPr/>
                    <a:lstStyle/>
                    <a:p>
                      <a:r>
                        <a:rPr lang="en-US" dirty="0"/>
                        <a:t>Owners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Owner id,  name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27664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736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Relationships</a:t>
            </a:r>
            <a:endParaRPr lang="en-I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0" y="2665378"/>
          <a:ext cx="876300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111430052"/>
                    </a:ext>
                  </a:extLst>
                </a:gridCol>
                <a:gridCol w="2039566">
                  <a:extLst>
                    <a:ext uri="{9D8B030D-6E8A-4147-A177-3AD203B41FA5}">
                      <a16:colId xmlns:a16="http://schemas.microsoft.com/office/drawing/2014/main" val="2573057736"/>
                    </a:ext>
                  </a:extLst>
                </a:gridCol>
                <a:gridCol w="1465634">
                  <a:extLst>
                    <a:ext uri="{9D8B030D-6E8A-4147-A177-3AD203B41FA5}">
                      <a16:colId xmlns:a16="http://schemas.microsoft.com/office/drawing/2014/main" val="397936872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59815585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201780919"/>
                    </a:ext>
                  </a:extLst>
                </a:gridCol>
              </a:tblGrid>
              <a:tr h="192567"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Sales offices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Employees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Owners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152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Sales offices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845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Employees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Works in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1093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Listed in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8879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Owners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Owns </a:t>
                      </a:r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  <a:endParaRPr lang="en-I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4834017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1383236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ER Diagram with PKs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47</a:t>
            </a:fld>
            <a:endParaRPr lang="en-I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125" y="1415039"/>
            <a:ext cx="10152140" cy="4869029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1228299" y="1815152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8610600" y="3673522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906439" y="5952698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9688774" y="4796875"/>
            <a:ext cx="8063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964072" y="2320119"/>
            <a:ext cx="736979" cy="150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536068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ER Diagram with cardinality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48</a:t>
            </a:fld>
            <a:endParaRPr lang="en-I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57223"/>
            <a:ext cx="9574212" cy="4457193"/>
          </a:xfrm>
          <a:prstGeom prst="rect">
            <a:avLst/>
          </a:prstGeom>
        </p:spPr>
      </p:pic>
      <p:cxnSp>
        <p:nvCxnSpPr>
          <p:cNvPr id="5" name="Straight Connector 4"/>
          <p:cNvCxnSpPr/>
          <p:nvPr/>
        </p:nvCxnSpPr>
        <p:spPr>
          <a:xfrm>
            <a:off x="1228299" y="1815152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/>
          <p:cNvCxnSpPr/>
          <p:nvPr/>
        </p:nvCxnSpPr>
        <p:spPr>
          <a:xfrm>
            <a:off x="8288741" y="3591207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029269" y="5747981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9353267" y="4674046"/>
            <a:ext cx="8063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35761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ER Diagram    *</a:t>
            </a: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49</a:t>
            </a:fld>
            <a:endParaRPr lang="en-I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57223"/>
            <a:ext cx="9574212" cy="4457193"/>
          </a:xfrm>
          <a:prstGeom prst="rect">
            <a:avLst/>
          </a:prstGeom>
        </p:spPr>
      </p:pic>
      <p:sp>
        <p:nvSpPr>
          <p:cNvPr id="3" name="Down Arrow 2"/>
          <p:cNvSpPr/>
          <p:nvPr/>
        </p:nvSpPr>
        <p:spPr>
          <a:xfrm>
            <a:off x="6186791" y="4202349"/>
            <a:ext cx="719847" cy="1322962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6" name="Straight Connector 5"/>
          <p:cNvCxnSpPr/>
          <p:nvPr/>
        </p:nvCxnSpPr>
        <p:spPr>
          <a:xfrm>
            <a:off x="1228299" y="1815152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8269406" y="3590283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1029269" y="5734334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9320285" y="4674043"/>
            <a:ext cx="8063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94741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ER Diagram with weak entities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50</a:t>
            </a:fld>
            <a:endParaRPr lang="en-I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025" y="1690684"/>
            <a:ext cx="10081406" cy="4693313"/>
          </a:xfrm>
          <a:prstGeom prst="rect">
            <a:avLst/>
          </a:prstGeom>
        </p:spPr>
      </p:pic>
      <p:cxnSp>
        <p:nvCxnSpPr>
          <p:cNvPr id="6" name="Straight Connector 5"/>
          <p:cNvCxnSpPr/>
          <p:nvPr/>
        </p:nvCxnSpPr>
        <p:spPr>
          <a:xfrm>
            <a:off x="1596795" y="2088112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8979096" y="3946482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>
            <a:off x="1274935" y="6225658"/>
            <a:ext cx="1023582" cy="1364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10057270" y="5069835"/>
            <a:ext cx="80635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954986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ER Diagram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51</a:t>
            </a:fld>
            <a:endParaRPr lang="en-IE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409" y="1690687"/>
            <a:ext cx="10081406" cy="4693313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3365771" y="2003898"/>
            <a:ext cx="6634264" cy="118677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5680953" y="1361872"/>
            <a:ext cx="2509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Identifying</a:t>
            </a:r>
            <a:endParaRPr lang="en-IE" dirty="0"/>
          </a:p>
        </p:txBody>
      </p:sp>
      <p:sp>
        <p:nvSpPr>
          <p:cNvPr id="8" name="Oval 7"/>
          <p:cNvSpPr/>
          <p:nvPr/>
        </p:nvSpPr>
        <p:spPr>
          <a:xfrm rot="5400000">
            <a:off x="1908884" y="3669591"/>
            <a:ext cx="4995491" cy="138132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9" name="TextBox 8"/>
          <p:cNvSpPr txBox="1"/>
          <p:nvPr/>
        </p:nvSpPr>
        <p:spPr>
          <a:xfrm>
            <a:off x="1896893" y="3831297"/>
            <a:ext cx="2509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Identifying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9493740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Rough ER Diagram</a:t>
            </a:r>
            <a:endParaRPr lang="en-I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52</a:t>
            </a:fld>
            <a:endParaRPr lang="en-I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6162" y="1651463"/>
            <a:ext cx="10150102" cy="472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946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9302" y="365125"/>
            <a:ext cx="10614498" cy="1385854"/>
          </a:xfrm>
        </p:spPr>
        <p:txBody>
          <a:bodyPr/>
          <a:lstStyle/>
          <a:p>
            <a:r>
              <a:rPr lang="en-US" dirty="0"/>
              <a:t>Solution lab 2 exercise 2 version 1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9695" y="1455186"/>
            <a:ext cx="8441284" cy="4615766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690620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9302" y="365125"/>
            <a:ext cx="10614498" cy="1385854"/>
          </a:xfrm>
        </p:spPr>
        <p:txBody>
          <a:bodyPr/>
          <a:lstStyle/>
          <a:p>
            <a:r>
              <a:rPr lang="en-US" dirty="0"/>
              <a:t>Solution lab 2 exercise 2 version 1 - PKs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9397" y="1441424"/>
            <a:ext cx="9046722" cy="494682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54</a:t>
            </a:fld>
            <a:endParaRPr lang="en-IE"/>
          </a:p>
        </p:txBody>
      </p:sp>
      <p:grpSp>
        <p:nvGrpSpPr>
          <p:cNvPr id="5" name="Group 4"/>
          <p:cNvGrpSpPr/>
          <p:nvPr/>
        </p:nvGrpSpPr>
        <p:grpSpPr>
          <a:xfrm>
            <a:off x="2589397" y="1951630"/>
            <a:ext cx="8252489" cy="3684895"/>
            <a:chOff x="1439695" y="1951630"/>
            <a:chExt cx="8252489" cy="3684895"/>
          </a:xfrm>
        </p:grpSpPr>
        <p:sp>
          <p:nvSpPr>
            <p:cNvPr id="4" name="Rectangle 3"/>
            <p:cNvSpPr/>
            <p:nvPr/>
          </p:nvSpPr>
          <p:spPr>
            <a:xfrm>
              <a:off x="1439695" y="1951630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713719" y="1951630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37504" y="5243015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Rectangle 8"/>
            <p:cNvSpPr/>
            <p:nvPr/>
          </p:nvSpPr>
          <p:spPr>
            <a:xfrm>
              <a:off x="8293145" y="5243015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915324" y="5243015"/>
              <a:ext cx="1399039" cy="393510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</p:spTree>
    <p:extLst>
      <p:ext uri="{BB962C8B-B14F-4D97-AF65-F5344CB8AC3E}">
        <p14:creationId xmlns:p14="http://schemas.microsoft.com/office/powerpoint/2010/main" val="384853341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9302" y="365125"/>
            <a:ext cx="10614498" cy="1385854"/>
          </a:xfrm>
        </p:spPr>
        <p:txBody>
          <a:bodyPr/>
          <a:lstStyle/>
          <a:p>
            <a:r>
              <a:rPr lang="en-US" dirty="0"/>
              <a:t>Solution lab 2 exercise 2 version 1 - FKs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9397" y="1441424"/>
            <a:ext cx="9046722" cy="4946825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55</a:t>
            </a:fld>
            <a:endParaRPr lang="en-IE"/>
          </a:p>
        </p:txBody>
      </p:sp>
      <p:grpSp>
        <p:nvGrpSpPr>
          <p:cNvPr id="5" name="Group 4"/>
          <p:cNvGrpSpPr/>
          <p:nvPr/>
        </p:nvGrpSpPr>
        <p:grpSpPr>
          <a:xfrm>
            <a:off x="2589397" y="1937775"/>
            <a:ext cx="8252489" cy="3684895"/>
            <a:chOff x="1439695" y="1951630"/>
            <a:chExt cx="8252489" cy="3684895"/>
          </a:xfrm>
        </p:grpSpPr>
        <p:sp>
          <p:nvSpPr>
            <p:cNvPr id="4" name="Rectangle 3"/>
            <p:cNvSpPr/>
            <p:nvPr/>
          </p:nvSpPr>
          <p:spPr>
            <a:xfrm>
              <a:off x="1439695" y="1951630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713719" y="1951630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37504" y="5243015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9" name="Rectangle 8"/>
            <p:cNvSpPr/>
            <p:nvPr/>
          </p:nvSpPr>
          <p:spPr>
            <a:xfrm>
              <a:off x="8293145" y="5243015"/>
              <a:ext cx="1399039" cy="204716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915324" y="5243015"/>
              <a:ext cx="1399039" cy="393510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FF98EB2D-3A9A-B777-766D-D5428D2E4395}"/>
              </a:ext>
            </a:extLst>
          </p:cNvPr>
          <p:cNvSpPr/>
          <p:nvPr/>
        </p:nvSpPr>
        <p:spPr>
          <a:xfrm>
            <a:off x="6830561" y="2142491"/>
            <a:ext cx="1357745" cy="2112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B0D34B-1551-1FFB-AF2B-346E3E7E3973}"/>
              </a:ext>
            </a:extLst>
          </p:cNvPr>
          <p:cNvSpPr/>
          <p:nvPr/>
        </p:nvSpPr>
        <p:spPr>
          <a:xfrm>
            <a:off x="2630691" y="5409438"/>
            <a:ext cx="1357745" cy="21123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51A519-1F12-C60D-8186-1E9C6C3F31D3}"/>
              </a:ext>
            </a:extLst>
          </p:cNvPr>
          <p:cNvSpPr/>
          <p:nvPr/>
        </p:nvSpPr>
        <p:spPr>
          <a:xfrm>
            <a:off x="6046551" y="5160300"/>
            <a:ext cx="1545740" cy="460372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33781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9302" y="365125"/>
            <a:ext cx="10614498" cy="1385854"/>
          </a:xfrm>
        </p:spPr>
        <p:txBody>
          <a:bodyPr/>
          <a:lstStyle/>
          <a:p>
            <a:r>
              <a:rPr lang="en-US" dirty="0"/>
              <a:t>Solution lab 2 exercise 2 extra information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9302" y="1621403"/>
            <a:ext cx="8717578" cy="4766846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56</a:t>
            </a:fld>
            <a:endParaRPr lang="en-IE"/>
          </a:p>
        </p:txBody>
      </p:sp>
      <p:sp>
        <p:nvSpPr>
          <p:cNvPr id="5" name="Rectangle 4"/>
          <p:cNvSpPr/>
          <p:nvPr/>
        </p:nvSpPr>
        <p:spPr>
          <a:xfrm>
            <a:off x="2503250" y="3764729"/>
            <a:ext cx="7321685" cy="882678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07000"/>
              </a:lnSpc>
              <a:spcAft>
                <a:spcPts val="800"/>
              </a:spcAft>
              <a:buFont typeface="Wingdings" panose="05000000000000000000" pitchFamily="2" charset="2"/>
              <a:buChar char=""/>
              <a:tabLst>
                <a:tab pos="457200" algn="l"/>
              </a:tabLst>
            </a:pPr>
            <a:r>
              <a:rPr lang="en-AU" sz="2400" b="1" dirty="0">
                <a:solidFill>
                  <a:srgbClr val="FF0000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For each sales office, there is always one employee assigned to manage that office.</a:t>
            </a:r>
            <a:endParaRPr lang="en-IE" sz="200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5287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9302" y="365125"/>
            <a:ext cx="10614498" cy="1385854"/>
          </a:xfrm>
        </p:spPr>
        <p:txBody>
          <a:bodyPr/>
          <a:lstStyle/>
          <a:p>
            <a:r>
              <a:rPr lang="en-US" dirty="0"/>
              <a:t>Solution lab 2 exercise 2 version 2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120" y="1521317"/>
            <a:ext cx="7820167" cy="4866932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57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383351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9302" y="365125"/>
            <a:ext cx="10614498" cy="1385854"/>
          </a:xfrm>
        </p:spPr>
        <p:txBody>
          <a:bodyPr/>
          <a:lstStyle/>
          <a:p>
            <a:r>
              <a:rPr lang="en-US" dirty="0"/>
              <a:t>Solution lab 2 exercise 2 version 3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3225" y="2001044"/>
            <a:ext cx="6305550" cy="4000500"/>
          </a:xfr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58</a:t>
            </a:fld>
            <a:endParaRPr lang="en-IE"/>
          </a:p>
        </p:txBody>
      </p:sp>
      <p:sp>
        <p:nvSpPr>
          <p:cNvPr id="5" name="TextBox 4"/>
          <p:cNvSpPr txBox="1"/>
          <p:nvPr/>
        </p:nvSpPr>
        <p:spPr>
          <a:xfrm>
            <a:off x="4609463" y="1753305"/>
            <a:ext cx="12451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manages</a:t>
            </a:r>
            <a:endParaRPr lang="en-IE" sz="1400" dirty="0"/>
          </a:p>
        </p:txBody>
      </p:sp>
    </p:spTree>
    <p:extLst>
      <p:ext uri="{BB962C8B-B14F-4D97-AF65-F5344CB8AC3E}">
        <p14:creationId xmlns:p14="http://schemas.microsoft.com/office/powerpoint/2010/main" val="215744390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Based ER Diagram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many to many relationships</a:t>
            </a:r>
          </a:p>
          <a:p>
            <a:r>
              <a:rPr lang="en-US" dirty="0"/>
              <a:t>Bridge entities used if required</a:t>
            </a:r>
          </a:p>
          <a:p>
            <a:r>
              <a:rPr lang="en-US" dirty="0"/>
              <a:t>PKs defined</a:t>
            </a:r>
          </a:p>
          <a:p>
            <a:r>
              <a:rPr lang="en-US" dirty="0"/>
              <a:t>FKs defined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59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2408307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lab 2 exercise 2 version 1</a:t>
            </a:r>
            <a:br>
              <a:rPr lang="en-US" dirty="0"/>
            </a:br>
            <a:r>
              <a:rPr lang="en-US" dirty="0"/>
              <a:t>Key based ER diagram</a:t>
            </a:r>
            <a:endParaRPr lang="en-I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11805"/>
            <a:ext cx="8286750" cy="4029075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683096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Foreign Key</a:t>
            </a: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61</a:t>
            </a:fld>
            <a:endParaRPr lang="en-I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9754" y="1827457"/>
            <a:ext cx="8610489" cy="4259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2649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lab 2 exercise 2 version 3</a:t>
            </a:r>
            <a:br>
              <a:rPr lang="en-US" dirty="0"/>
            </a:br>
            <a:r>
              <a:rPr lang="en-US" dirty="0"/>
              <a:t>Key based ER diagram</a:t>
            </a:r>
            <a:endParaRPr lang="en-I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641" y="1967706"/>
            <a:ext cx="8941734" cy="4388644"/>
          </a:xfr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939611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3 description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Business Requirements</a:t>
            </a:r>
            <a:endParaRPr lang="en-IE" b="1" i="1" dirty="0"/>
          </a:p>
          <a:p>
            <a:pPr marL="0" indent="0">
              <a:buNone/>
            </a:pPr>
            <a:r>
              <a:rPr lang="en-GB" i="1" dirty="0"/>
              <a:t>A company has several departments. Each department has a supervisor and at least one employee. Employees must be assigned to at least one, but possibly more departments. At least one employee is assigned to a project, but an employee may be on holidays and not assigned to any projects. </a:t>
            </a:r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527005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0779" y="-4905"/>
            <a:ext cx="10515600" cy="1325563"/>
          </a:xfrm>
        </p:spPr>
        <p:txBody>
          <a:bodyPr/>
          <a:lstStyle/>
          <a:p>
            <a:r>
              <a:rPr lang="en-US" dirty="0"/>
              <a:t>Work flow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0779" y="1320658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GB" b="1" u="sng" dirty="0"/>
              <a:t>Step 1: Identify Entities</a:t>
            </a:r>
            <a:endParaRPr lang="en-IE" b="1" i="1" dirty="0"/>
          </a:p>
          <a:p>
            <a:pPr marL="0" indent="0">
              <a:buNone/>
            </a:pPr>
            <a:r>
              <a:rPr lang="en-GB" b="1" u="sng" dirty="0"/>
              <a:t>Step 2: Find Relationships</a:t>
            </a:r>
            <a:endParaRPr lang="en-GB" b="1" i="1" u="sng" dirty="0"/>
          </a:p>
          <a:p>
            <a:pPr marL="0" indent="0">
              <a:buNone/>
            </a:pPr>
            <a:r>
              <a:rPr lang="en-GB" b="1" u="sng" dirty="0"/>
              <a:t>Step 3: Draw Rough ER Diagram</a:t>
            </a:r>
            <a:endParaRPr lang="en-IE" b="1" i="1" dirty="0"/>
          </a:p>
          <a:p>
            <a:pPr marL="0" indent="0">
              <a:buNone/>
            </a:pPr>
            <a:r>
              <a:rPr lang="en-GB" b="1" u="sng" dirty="0"/>
              <a:t>Step 4: Fill in Cardinality</a:t>
            </a:r>
            <a:endParaRPr lang="en-IE" b="1" i="1" dirty="0"/>
          </a:p>
          <a:p>
            <a:pPr marL="0" indent="0">
              <a:buNone/>
            </a:pPr>
            <a:r>
              <a:rPr lang="en-GB" b="1" u="sng" dirty="0"/>
              <a:t>Step 5: Define Primary Keys</a:t>
            </a:r>
            <a:endParaRPr lang="en-IE" b="1" i="1" dirty="0"/>
          </a:p>
          <a:p>
            <a:pPr marL="0" indent="0">
              <a:buNone/>
            </a:pPr>
            <a:r>
              <a:rPr lang="en-GB" b="1" u="sng" dirty="0"/>
              <a:t>Step 6: Draw Key-Based ERD  </a:t>
            </a:r>
            <a:r>
              <a:rPr lang="en-GB" sz="2400" b="1" u="sng" dirty="0"/>
              <a:t>(eliminating many to many relationships, include FKs)</a:t>
            </a:r>
            <a:endParaRPr lang="en-IE" b="1" i="1" dirty="0"/>
          </a:p>
          <a:p>
            <a:pPr marL="0" indent="0">
              <a:buNone/>
            </a:pPr>
            <a:r>
              <a:rPr lang="en-GB" b="1" u="sng" dirty="0"/>
              <a:t>Step 7: Identify Attributes &amp; Step 8: Map Attributes</a:t>
            </a:r>
          </a:p>
          <a:p>
            <a:pPr marL="0" indent="0">
              <a:buNone/>
            </a:pPr>
            <a:r>
              <a:rPr lang="en-GB" b="1" u="sng" dirty="0"/>
              <a:t>Step 9: Draw Fully Attributed E-R Diagram</a:t>
            </a:r>
          </a:p>
          <a:p>
            <a:pPr marL="0" indent="0">
              <a:buNone/>
            </a:pPr>
            <a:r>
              <a:rPr lang="en-GB" b="1" u="sng" dirty="0"/>
              <a:t>Step 10: Revise and update list of assumptions</a:t>
            </a:r>
          </a:p>
          <a:p>
            <a:pPr marL="0" indent="0">
              <a:buNone/>
            </a:pPr>
            <a:endParaRPr lang="en-IE" b="1" i="1" dirty="0"/>
          </a:p>
          <a:p>
            <a:endParaRPr lang="en-IE" b="1" i="1" dirty="0"/>
          </a:p>
          <a:p>
            <a:endParaRPr lang="en-IE" b="1" i="1" dirty="0"/>
          </a:p>
          <a:p>
            <a:endParaRPr lang="en-IE" b="1" i="1" dirty="0"/>
          </a:p>
          <a:p>
            <a:pPr marL="0" indent="0">
              <a:buNone/>
            </a:pPr>
            <a:endParaRPr lang="en-I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64</a:t>
            </a:fld>
            <a:endParaRPr lang="en-IE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652628"/>
              </p:ext>
            </p:extLst>
          </p:nvPr>
        </p:nvGraphicFramePr>
        <p:xfrm>
          <a:off x="5576570" y="1614339"/>
          <a:ext cx="5777230" cy="1229360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{5C22544A-7EE6-4342-B048-85BDC9FD1C3A}</a:tableStyleId>
              </a:tblPr>
              <a:tblGrid>
                <a:gridCol w="979170">
                  <a:extLst>
                    <a:ext uri="{9D8B030D-6E8A-4147-A177-3AD203B41FA5}">
                      <a16:colId xmlns:a16="http://schemas.microsoft.com/office/drawing/2014/main" val="3084663048"/>
                    </a:ext>
                  </a:extLst>
                </a:gridCol>
                <a:gridCol w="979805">
                  <a:extLst>
                    <a:ext uri="{9D8B030D-6E8A-4147-A177-3AD203B41FA5}">
                      <a16:colId xmlns:a16="http://schemas.microsoft.com/office/drawing/2014/main" val="4163298933"/>
                    </a:ext>
                  </a:extLst>
                </a:gridCol>
                <a:gridCol w="947420">
                  <a:extLst>
                    <a:ext uri="{9D8B030D-6E8A-4147-A177-3AD203B41FA5}">
                      <a16:colId xmlns:a16="http://schemas.microsoft.com/office/drawing/2014/main" val="839654562"/>
                    </a:ext>
                  </a:extLst>
                </a:gridCol>
                <a:gridCol w="1008380">
                  <a:extLst>
                    <a:ext uri="{9D8B030D-6E8A-4147-A177-3AD203B41FA5}">
                      <a16:colId xmlns:a16="http://schemas.microsoft.com/office/drawing/2014/main" val="2064792213"/>
                    </a:ext>
                  </a:extLst>
                </a:gridCol>
                <a:gridCol w="966470">
                  <a:extLst>
                    <a:ext uri="{9D8B030D-6E8A-4147-A177-3AD203B41FA5}">
                      <a16:colId xmlns:a16="http://schemas.microsoft.com/office/drawing/2014/main" val="1579433303"/>
                    </a:ext>
                  </a:extLst>
                </a:gridCol>
                <a:gridCol w="895985">
                  <a:extLst>
                    <a:ext uri="{9D8B030D-6E8A-4147-A177-3AD203B41FA5}">
                      <a16:colId xmlns:a16="http://schemas.microsoft.com/office/drawing/2014/main" val="2697296584"/>
                    </a:ext>
                  </a:extLst>
                </a:gridCol>
              </a:tblGrid>
              <a:tr h="215900">
                <a:tc gridSpan="3"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Relationship matrix</a:t>
                      </a:r>
                      <a:endParaRPr lang="en-IE" sz="120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IE" sz="12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en-IE" sz="120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endParaRPr lang="en-IE" sz="120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IE" sz="12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0117278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7640299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484788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526081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IE" sz="1200" dirty="0"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 </a:t>
                      </a:r>
                      <a:endParaRPr lang="en-IE" sz="1200" dirty="0"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08304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03937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Thanks</a:t>
            </a:r>
            <a:endParaRPr lang="en-I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Edmund Nevin </a:t>
            </a:r>
            <a:r>
              <a:rPr lang="en-IE"/>
              <a:t>for </a:t>
            </a:r>
            <a:r>
              <a:rPr lang="en-IE" dirty="0"/>
              <a:t>earlier versions of these lecture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65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6506805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143499" cy="6858000"/>
          </a:xfrm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1093E-ADCE-4CEF-A0BC-E1F79F413BC5}" type="slidenum">
              <a:rPr lang="en-IE" smtClean="0"/>
              <a:t>66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320067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461d1dde-aee8-4822-ab47-f73ec1fda969"/>
</p:tagLst>
</file>

<file path=ppt/theme/theme1.xml><?xml version="1.0" encoding="utf-8"?>
<a:theme xmlns:a="http://schemas.openxmlformats.org/drawingml/2006/main" name="AccessibleTemplate">
  <a:themeElements>
    <a:clrScheme name="TU D SoC">
      <a:dk1>
        <a:sysClr val="windowText" lastClr="000000"/>
      </a:dk1>
      <a:lt1>
        <a:srgbClr val="FAFBFD"/>
      </a:lt1>
      <a:dk2>
        <a:srgbClr val="004C6C"/>
      </a:dk2>
      <a:lt2>
        <a:srgbClr val="FAFBFD"/>
      </a:lt2>
      <a:accent1>
        <a:srgbClr val="00A9B7"/>
      </a:accent1>
      <a:accent2>
        <a:srgbClr val="EB5793"/>
      </a:accent2>
      <a:accent3>
        <a:srgbClr val="B60057"/>
      </a:accent3>
      <a:accent4>
        <a:srgbClr val="CFC600"/>
      </a:accent4>
      <a:accent5>
        <a:srgbClr val="F49D6C"/>
      </a:accent5>
      <a:accent6>
        <a:srgbClr val="E94A41"/>
      </a:accent6>
      <a:hlink>
        <a:srgbClr val="6359A6"/>
      </a:hlink>
      <a:folHlink>
        <a:srgbClr val="837EBA"/>
      </a:folHlink>
    </a:clrScheme>
    <a:fontScheme name="Custom 3">
      <a:majorFont>
        <a:latin typeface="Helvetica"/>
        <a:ea typeface=""/>
        <a:cs typeface=""/>
      </a:majorFont>
      <a:minorFont>
        <a:latin typeface="Helvetic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ssibleTemplate.potx" id="{19A76EF7-685B-4DD9-AEC2-DD2E690A5E16}" vid="{F9D02FCD-DE17-4A7B-9E71-714D7E1CC4B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497A5DDE61EC49B38F08F69D7D1C30" ma:contentTypeVersion="15" ma:contentTypeDescription="Create a new document." ma:contentTypeScope="" ma:versionID="9bb0376d8ed59645cd949b27d95b7409">
  <xsd:schema xmlns:xsd="http://www.w3.org/2001/XMLSchema" xmlns:xs="http://www.w3.org/2001/XMLSchema" xmlns:p="http://schemas.microsoft.com/office/2006/metadata/properties" xmlns:ns3="186a8af6-524e-48fb-a2b5-8db5625d742b" xmlns:ns4="8713c86b-11c3-4892-8b22-8e1103c1c89f" targetNamespace="http://schemas.microsoft.com/office/2006/metadata/properties" ma:root="true" ma:fieldsID="dc57b1baf380e13117ae7081a2a87d27" ns3:_="" ns4:_="">
    <xsd:import namespace="186a8af6-524e-48fb-a2b5-8db5625d742b"/>
    <xsd:import namespace="8713c86b-11c3-4892-8b22-8e1103c1c89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_activity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6a8af6-524e-48fb-a2b5-8db5625d742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713c86b-11c3-4892-8b22-8e1103c1c89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86a8af6-524e-48fb-a2b5-8db5625d742b" xsi:nil="true"/>
  </documentManagement>
</p:properties>
</file>

<file path=customXml/itemProps1.xml><?xml version="1.0" encoding="utf-8"?>
<ds:datastoreItem xmlns:ds="http://schemas.openxmlformats.org/officeDocument/2006/customXml" ds:itemID="{3333DAF0-97CC-4E47-82E5-70BA127510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6a8af6-524e-48fb-a2b5-8db5625d742b"/>
    <ds:schemaRef ds:uri="8713c86b-11c3-4892-8b22-8e1103c1c89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2D9A3DF-00B2-4113-87BB-9300D6C519C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221FDD8-B1EA-4914-AF01-B0D05527F1D1}">
  <ds:schemaRefs>
    <ds:schemaRef ds:uri="http://schemas.microsoft.com/office/2006/documentManagement/types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8713c86b-11c3-4892-8b22-8e1103c1c89f"/>
    <ds:schemaRef ds:uri="186a8af6-524e-48fb-a2b5-8db5625d742b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AccessibleTemplate</Template>
  <TotalTime>24903</TotalTime>
  <Words>1818</Words>
  <Application>Microsoft Office PowerPoint</Application>
  <PresentationFormat>Widescreen</PresentationFormat>
  <Paragraphs>342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3" baseType="lpstr">
      <vt:lpstr>Arial</vt:lpstr>
      <vt:lpstr>Arial Black</vt:lpstr>
      <vt:lpstr>Calibri</vt:lpstr>
      <vt:lpstr>Helvetica</vt:lpstr>
      <vt:lpstr>Times New Roman</vt:lpstr>
      <vt:lpstr>Wingdings</vt:lpstr>
      <vt:lpstr>AccessibleTemplate</vt:lpstr>
      <vt:lpstr>PowerPoint Presentation</vt:lpstr>
      <vt:lpstr>ER Diagrams 2</vt:lpstr>
      <vt:lpstr>Lesson Outline</vt:lpstr>
      <vt:lpstr>Foreign Key</vt:lpstr>
      <vt:lpstr>Example PKs</vt:lpstr>
      <vt:lpstr>Foreign Key One to One v1</vt:lpstr>
      <vt:lpstr>Foreign Key One to One v2</vt:lpstr>
      <vt:lpstr>Modified Example Foreign Key One to Many</vt:lpstr>
      <vt:lpstr>Foreign Key Many to Many</vt:lpstr>
      <vt:lpstr>Many to Many Relationships Associative (Bridge) Entities</vt:lpstr>
      <vt:lpstr>Many to Many Relationships Associative (Bridge or Weak) Entities</vt:lpstr>
      <vt:lpstr>Example Student-Module-Lecturer Week 2</vt:lpstr>
      <vt:lpstr>Associative (Bridge) Entities</vt:lpstr>
      <vt:lpstr>Example</vt:lpstr>
      <vt:lpstr>Practice</vt:lpstr>
      <vt:lpstr>Practice</vt:lpstr>
      <vt:lpstr>Practice</vt:lpstr>
      <vt:lpstr>Identifying Relationships</vt:lpstr>
      <vt:lpstr>Identifying relationships</vt:lpstr>
      <vt:lpstr>Identifying and non identifying relationships</vt:lpstr>
      <vt:lpstr>Identifying and non identifying relationships</vt:lpstr>
      <vt:lpstr>Degree of a relationship</vt:lpstr>
      <vt:lpstr>Degree of a Relationship</vt:lpstr>
      <vt:lpstr>Unary Relationships</vt:lpstr>
      <vt:lpstr>Unary Relationships</vt:lpstr>
      <vt:lpstr>Example</vt:lpstr>
      <vt:lpstr>Example</vt:lpstr>
      <vt:lpstr>Binary Relationships</vt:lpstr>
      <vt:lpstr>Ternary Relationship</vt:lpstr>
      <vt:lpstr>Example 1</vt:lpstr>
      <vt:lpstr>Example 2</vt:lpstr>
      <vt:lpstr>Replacing Ternary Relationships</vt:lpstr>
      <vt:lpstr>Replacing Ternary Relationships</vt:lpstr>
      <vt:lpstr>Replacing Ternary Relationships</vt:lpstr>
      <vt:lpstr>ERD Example: Ternary Relationships</vt:lpstr>
      <vt:lpstr>ERD Example: Ternary Relationship Converted</vt:lpstr>
      <vt:lpstr>ERD Example: Relationship Attributes</vt:lpstr>
      <vt:lpstr>ERD Example: Relationship Attributes</vt:lpstr>
      <vt:lpstr>ERD Example: Multiple Relationships</vt:lpstr>
      <vt:lpstr>Solution lab 2 exercise 2</vt:lpstr>
      <vt:lpstr>Solution lab 2 exercise 2</vt:lpstr>
      <vt:lpstr>Solution lab 2 exercise 2</vt:lpstr>
      <vt:lpstr>Solution lab 2 exercise 2</vt:lpstr>
      <vt:lpstr>Entities</vt:lpstr>
      <vt:lpstr>Attributes</vt:lpstr>
      <vt:lpstr>Relationships</vt:lpstr>
      <vt:lpstr>Rough ER Diagram with PKs</vt:lpstr>
      <vt:lpstr>Rough ER Diagram with cardinality</vt:lpstr>
      <vt:lpstr>Rough ER Diagram    *</vt:lpstr>
      <vt:lpstr>Rough ER Diagram with weak entities</vt:lpstr>
      <vt:lpstr>Rough ER Diagram</vt:lpstr>
      <vt:lpstr>Rough ER Diagram</vt:lpstr>
      <vt:lpstr>Solution lab 2 exercise 2 version 1</vt:lpstr>
      <vt:lpstr>Solution lab 2 exercise 2 version 1 - PKs</vt:lpstr>
      <vt:lpstr>Solution lab 2 exercise 2 version 1 - FKs</vt:lpstr>
      <vt:lpstr>Solution lab 2 exercise 2 extra information</vt:lpstr>
      <vt:lpstr>Solution lab 2 exercise 2 version 2</vt:lpstr>
      <vt:lpstr>Solution lab 2 exercise 2 version 3</vt:lpstr>
      <vt:lpstr>Key Based ER Diagram</vt:lpstr>
      <vt:lpstr>Solution lab 2 exercise 2 version 1 Key based ER diagram</vt:lpstr>
      <vt:lpstr>Foreign Key</vt:lpstr>
      <vt:lpstr>Solution lab 2 exercise 2 version 3 Key based ER diagram</vt:lpstr>
      <vt:lpstr>Lab 3 description</vt:lpstr>
      <vt:lpstr>Work flow</vt:lpstr>
      <vt:lpstr>Thanks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Marisa Llorens Salvador</dc:creator>
  <cp:lastModifiedBy>Eamonn Kelly</cp:lastModifiedBy>
  <cp:revision>108</cp:revision>
  <dcterms:created xsi:type="dcterms:W3CDTF">2020-07-08T11:07:05Z</dcterms:created>
  <dcterms:modified xsi:type="dcterms:W3CDTF">2024-10-02T19:10:43Z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0x010100CE497A5DDE61EC49B38F08F69D7D1C30</vt:lpwstr>
  </property>
</Properties>
</file>