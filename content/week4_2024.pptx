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0"/>
  </p:notesMasterIdLst>
  <p:sldIdLst>
    <p:sldId id="275" r:id="rId5"/>
    <p:sldId id="256" r:id="rId6"/>
    <p:sldId id="310" r:id="rId7"/>
    <p:sldId id="315" r:id="rId8"/>
    <p:sldId id="337" r:id="rId9"/>
    <p:sldId id="335" r:id="rId10"/>
    <p:sldId id="388" r:id="rId11"/>
    <p:sldId id="360" r:id="rId12"/>
    <p:sldId id="385" r:id="rId13"/>
    <p:sldId id="340" r:id="rId14"/>
    <p:sldId id="390" r:id="rId15"/>
    <p:sldId id="361" r:id="rId16"/>
    <p:sldId id="379" r:id="rId17"/>
    <p:sldId id="380" r:id="rId18"/>
    <p:sldId id="397" r:id="rId19"/>
    <p:sldId id="391" r:id="rId20"/>
    <p:sldId id="398" r:id="rId21"/>
    <p:sldId id="392" r:id="rId22"/>
    <p:sldId id="341" r:id="rId23"/>
    <p:sldId id="384" r:id="rId24"/>
    <p:sldId id="375" r:id="rId25"/>
    <p:sldId id="387" r:id="rId26"/>
    <p:sldId id="338" r:id="rId27"/>
    <p:sldId id="389" r:id="rId28"/>
    <p:sldId id="339" r:id="rId29"/>
    <p:sldId id="399" r:id="rId30"/>
    <p:sldId id="400" r:id="rId31"/>
    <p:sldId id="386" r:id="rId32"/>
    <p:sldId id="342" r:id="rId33"/>
    <p:sldId id="393" r:id="rId34"/>
    <p:sldId id="362" r:id="rId35"/>
    <p:sldId id="343" r:id="rId36"/>
    <p:sldId id="363" r:id="rId37"/>
    <p:sldId id="365" r:id="rId38"/>
    <p:sldId id="364" r:id="rId39"/>
    <p:sldId id="366" r:id="rId40"/>
    <p:sldId id="382" r:id="rId41"/>
    <p:sldId id="401" r:id="rId42"/>
    <p:sldId id="402" r:id="rId43"/>
    <p:sldId id="367" r:id="rId44"/>
    <p:sldId id="344" r:id="rId45"/>
    <p:sldId id="394" r:id="rId46"/>
    <p:sldId id="368" r:id="rId47"/>
    <p:sldId id="395" r:id="rId48"/>
    <p:sldId id="370" r:id="rId49"/>
    <p:sldId id="348" r:id="rId50"/>
    <p:sldId id="353" r:id="rId51"/>
    <p:sldId id="346" r:id="rId52"/>
    <p:sldId id="351" r:id="rId53"/>
    <p:sldId id="403" r:id="rId54"/>
    <p:sldId id="352" r:id="rId55"/>
    <p:sldId id="288" r:id="rId56"/>
    <p:sldId id="396" r:id="rId57"/>
    <p:sldId id="383" r:id="rId58"/>
    <p:sldId id="289" r:id="rId59"/>
  </p:sldIdLst>
  <p:sldSz cx="12192000" cy="6858000"/>
  <p:notesSz cx="6858000" cy="9144000"/>
  <p:custDataLst>
    <p:tags r:id="rId6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68" autoAdjust="0"/>
    <p:restoredTop sz="90693" autoAdjust="0"/>
  </p:normalViewPr>
  <p:slideViewPr>
    <p:cSldViewPr snapToGrid="0">
      <p:cViewPr varScale="1">
        <p:scale>
          <a:sx n="62" d="100"/>
          <a:sy n="62" d="100"/>
        </p:scale>
        <p:origin x="942" y="72"/>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tags" Target="tags/tag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sa Llorens Salvador" userId="c80fc008-d1da-4311-939b-b78dfe62e0c7" providerId="ADAL" clId="{B1B4F170-3009-4F98-B5D0-9706F3FB22DF}"/>
    <pc:docChg chg="custSel modSld">
      <pc:chgData name="Marisa Llorens Salvador" userId="c80fc008-d1da-4311-939b-b78dfe62e0c7" providerId="ADAL" clId="{B1B4F170-3009-4F98-B5D0-9706F3FB22DF}" dt="2024-10-07T14:29:36.160" v="227" actId="20577"/>
      <pc:docMkLst>
        <pc:docMk/>
      </pc:docMkLst>
      <pc:sldChg chg="modSp mod">
        <pc:chgData name="Marisa Llorens Salvador" userId="c80fc008-d1da-4311-939b-b78dfe62e0c7" providerId="ADAL" clId="{B1B4F170-3009-4F98-B5D0-9706F3FB22DF}" dt="2024-10-07T14:09:11.817" v="216" actId="20577"/>
        <pc:sldMkLst>
          <pc:docMk/>
          <pc:sldMk cId="1572565751" sldId="383"/>
        </pc:sldMkLst>
        <pc:spChg chg="mod">
          <ac:chgData name="Marisa Llorens Salvador" userId="c80fc008-d1da-4311-939b-b78dfe62e0c7" providerId="ADAL" clId="{B1B4F170-3009-4F98-B5D0-9706F3FB22DF}" dt="2024-10-07T14:09:11.817" v="216" actId="20577"/>
          <ac:spMkLst>
            <pc:docMk/>
            <pc:sldMk cId="1572565751" sldId="383"/>
            <ac:spMk id="3" creationId="{00000000-0000-0000-0000-000000000000}"/>
          </ac:spMkLst>
        </pc:spChg>
      </pc:sldChg>
      <pc:sldChg chg="modNotesTx">
        <pc:chgData name="Marisa Llorens Salvador" userId="c80fc008-d1da-4311-939b-b78dfe62e0c7" providerId="ADAL" clId="{B1B4F170-3009-4F98-B5D0-9706F3FB22DF}" dt="2024-10-07T14:29:36.160" v="227" actId="20577"/>
        <pc:sldMkLst>
          <pc:docMk/>
          <pc:sldMk cId="4080377520" sldId="397"/>
        </pc:sldMkLst>
      </pc:sldChg>
      <pc:sldChg chg="modNotesTx">
        <pc:chgData name="Marisa Llorens Salvador" userId="c80fc008-d1da-4311-939b-b78dfe62e0c7" providerId="ADAL" clId="{B1B4F170-3009-4F98-B5D0-9706F3FB22DF}" dt="2024-10-07T14:29:29.173" v="226" actId="20577"/>
        <pc:sldMkLst>
          <pc:docMk/>
          <pc:sldMk cId="976110104" sldId="398"/>
        </pc:sldMkLst>
      </pc:sldChg>
      <pc:sldChg chg="modSp mod">
        <pc:chgData name="Marisa Llorens Salvador" userId="c80fc008-d1da-4311-939b-b78dfe62e0c7" providerId="ADAL" clId="{B1B4F170-3009-4F98-B5D0-9706F3FB22DF}" dt="2024-10-07T14:23:10.463" v="217" actId="21"/>
        <pc:sldMkLst>
          <pc:docMk/>
          <pc:sldMk cId="158197168" sldId="400"/>
        </pc:sldMkLst>
        <pc:graphicFrameChg chg="modGraphic">
          <ac:chgData name="Marisa Llorens Salvador" userId="c80fc008-d1da-4311-939b-b78dfe62e0c7" providerId="ADAL" clId="{B1B4F170-3009-4F98-B5D0-9706F3FB22DF}" dt="2024-10-07T14:23:10.463" v="217" actId="21"/>
          <ac:graphicFrameMkLst>
            <pc:docMk/>
            <pc:sldMk cId="158197168" sldId="400"/>
            <ac:graphicFrameMk id="5" creationId="{00000000-0000-0000-0000-000000000000}"/>
          </ac:graphicFrameMkLst>
        </pc:graphicFrameChg>
      </pc:sldChg>
      <pc:sldChg chg="addSp modSp mod modClrScheme chgLayout">
        <pc:chgData name="Marisa Llorens Salvador" userId="c80fc008-d1da-4311-939b-b78dfe62e0c7" providerId="ADAL" clId="{B1B4F170-3009-4F98-B5D0-9706F3FB22DF}" dt="2024-10-07T14:25:58.866" v="225" actId="14100"/>
        <pc:sldMkLst>
          <pc:docMk/>
          <pc:sldMk cId="3742087171" sldId="401"/>
        </pc:sldMkLst>
        <pc:spChg chg="mod">
          <ac:chgData name="Marisa Llorens Salvador" userId="c80fc008-d1da-4311-939b-b78dfe62e0c7" providerId="ADAL" clId="{B1B4F170-3009-4F98-B5D0-9706F3FB22DF}" dt="2024-10-07T14:25:38.332" v="221" actId="26606"/>
          <ac:spMkLst>
            <pc:docMk/>
            <pc:sldMk cId="3742087171" sldId="401"/>
            <ac:spMk id="2" creationId="{00000000-0000-0000-0000-000000000000}"/>
          </ac:spMkLst>
        </pc:spChg>
        <pc:spChg chg="mod">
          <ac:chgData name="Marisa Llorens Salvador" userId="c80fc008-d1da-4311-939b-b78dfe62e0c7" providerId="ADAL" clId="{B1B4F170-3009-4F98-B5D0-9706F3FB22DF}" dt="2024-10-07T14:25:58.866" v="225" actId="14100"/>
          <ac:spMkLst>
            <pc:docMk/>
            <pc:sldMk cId="3742087171" sldId="401"/>
            <ac:spMk id="3" creationId="{00000000-0000-0000-0000-000000000000}"/>
          </ac:spMkLst>
        </pc:spChg>
        <pc:spChg chg="mod">
          <ac:chgData name="Marisa Llorens Salvador" userId="c80fc008-d1da-4311-939b-b78dfe62e0c7" providerId="ADAL" clId="{B1B4F170-3009-4F98-B5D0-9706F3FB22DF}" dt="2024-10-07T14:25:38.332" v="221" actId="26606"/>
          <ac:spMkLst>
            <pc:docMk/>
            <pc:sldMk cId="3742087171" sldId="401"/>
            <ac:spMk id="4" creationId="{00000000-0000-0000-0000-000000000000}"/>
          </ac:spMkLst>
        </pc:spChg>
        <pc:picChg chg="add mod ord">
          <ac:chgData name="Marisa Llorens Salvador" userId="c80fc008-d1da-4311-939b-b78dfe62e0c7" providerId="ADAL" clId="{B1B4F170-3009-4F98-B5D0-9706F3FB22DF}" dt="2024-10-07T14:25:48.011" v="222" actId="14100"/>
          <ac:picMkLst>
            <pc:docMk/>
            <pc:sldMk cId="3742087171" sldId="401"/>
            <ac:picMk id="6" creationId="{7E8DAC20-B984-E77F-9C87-9E863CAFB88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585DF0-59FF-4857-9F82-F93A5D9DD461}" type="datetimeFigureOut">
              <a:rPr lang="en-IE" smtClean="0"/>
              <a:t>07/10/2024</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1D7177-ECA0-45C5-A5EE-1EDD549F8A65}" type="slidenum">
              <a:rPr lang="en-IE" smtClean="0"/>
              <a:t>‹#›</a:t>
            </a:fld>
            <a:endParaRPr lang="en-IE"/>
          </a:p>
        </p:txBody>
      </p:sp>
    </p:spTree>
    <p:extLst>
      <p:ext uri="{BB962C8B-B14F-4D97-AF65-F5344CB8AC3E}">
        <p14:creationId xmlns:p14="http://schemas.microsoft.com/office/powerpoint/2010/main" val="3782688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66A6323B-D7B3-4708-BD8A-42AFC3ACB4B4}" type="slidenum">
              <a:rPr lang="en-GB"/>
              <a:pPr/>
              <a:t>5</a:t>
            </a:fld>
            <a:endParaRPr lang="en-GB"/>
          </a:p>
        </p:txBody>
      </p:sp>
      <p:sp>
        <p:nvSpPr>
          <p:cNvPr id="3936258" name="Rectangle 2"/>
          <p:cNvSpPr>
            <a:spLocks noGrp="1" noRot="1" noChangeAspect="1" noChangeArrowheads="1" noTextEdit="1"/>
          </p:cNvSpPr>
          <p:nvPr>
            <p:ph type="sldImg"/>
          </p:nvPr>
        </p:nvSpPr>
        <p:spPr>
          <a:ln/>
        </p:spPr>
      </p:sp>
      <p:sp>
        <p:nvSpPr>
          <p:cNvPr id="39362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86405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DCDF3B66-F660-4C50-ABFC-7234CA639DEC}" type="slidenum">
              <a:rPr lang="en-GB"/>
              <a:pPr/>
              <a:t>6</a:t>
            </a:fld>
            <a:endParaRPr lang="en-GB"/>
          </a:p>
        </p:txBody>
      </p:sp>
      <p:sp>
        <p:nvSpPr>
          <p:cNvPr id="3934210" name="Rectangle 2"/>
          <p:cNvSpPr>
            <a:spLocks noGrp="1" noRot="1" noChangeAspect="1" noChangeArrowheads="1" noTextEdit="1"/>
          </p:cNvSpPr>
          <p:nvPr>
            <p:ph type="sldImg"/>
          </p:nvPr>
        </p:nvSpPr>
        <p:spPr>
          <a:ln/>
        </p:spPr>
      </p:sp>
      <p:sp>
        <p:nvSpPr>
          <p:cNvPr id="39342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1064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66A6323B-D7B3-4708-BD8A-42AFC3ACB4B4}" type="slidenum">
              <a:rPr lang="en-GB"/>
              <a:pPr/>
              <a:t>7</a:t>
            </a:fld>
            <a:endParaRPr lang="en-GB"/>
          </a:p>
        </p:txBody>
      </p:sp>
      <p:sp>
        <p:nvSpPr>
          <p:cNvPr id="3936258" name="Rectangle 2"/>
          <p:cNvSpPr>
            <a:spLocks noGrp="1" noRot="1" noChangeAspect="1" noChangeArrowheads="1" noTextEdit="1"/>
          </p:cNvSpPr>
          <p:nvPr>
            <p:ph type="sldImg"/>
          </p:nvPr>
        </p:nvSpPr>
        <p:spPr>
          <a:ln/>
        </p:spPr>
      </p:sp>
      <p:sp>
        <p:nvSpPr>
          <p:cNvPr id="39362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75836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66A6323B-D7B3-4708-BD8A-42AFC3ACB4B4}" type="slidenum">
              <a:rPr lang="en-GB"/>
              <a:pPr/>
              <a:t>8</a:t>
            </a:fld>
            <a:endParaRPr lang="en-GB"/>
          </a:p>
        </p:txBody>
      </p:sp>
      <p:sp>
        <p:nvSpPr>
          <p:cNvPr id="3936258" name="Rectangle 2"/>
          <p:cNvSpPr>
            <a:spLocks noGrp="1" noRot="1" noChangeAspect="1" noChangeArrowheads="1" noTextEdit="1"/>
          </p:cNvSpPr>
          <p:nvPr>
            <p:ph type="sldImg"/>
          </p:nvPr>
        </p:nvSpPr>
        <p:spPr>
          <a:ln/>
        </p:spPr>
      </p:sp>
      <p:sp>
        <p:nvSpPr>
          <p:cNvPr id="39362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974158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2F44B9F9-42BD-404A-9F45-212FDD121F24}" type="slidenum">
              <a:rPr lang="en-GB"/>
              <a:pPr/>
              <a:t>10</a:t>
            </a:fld>
            <a:endParaRPr lang="en-GB"/>
          </a:p>
        </p:txBody>
      </p:sp>
      <p:sp>
        <p:nvSpPr>
          <p:cNvPr id="3944450" name="Rectangle 2"/>
          <p:cNvSpPr>
            <a:spLocks noGrp="1" noRot="1" noChangeAspect="1" noChangeArrowheads="1" noTextEdit="1"/>
          </p:cNvSpPr>
          <p:nvPr>
            <p:ph type="sldImg"/>
          </p:nvPr>
        </p:nvSpPr>
        <p:spPr>
          <a:ln/>
        </p:spPr>
      </p:sp>
      <p:sp>
        <p:nvSpPr>
          <p:cNvPr id="39444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65616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2F44B9F9-42BD-404A-9F45-212FDD121F24}" type="slidenum">
              <a:rPr lang="en-GB"/>
              <a:pPr/>
              <a:t>11</a:t>
            </a:fld>
            <a:endParaRPr lang="en-GB"/>
          </a:p>
        </p:txBody>
      </p:sp>
      <p:sp>
        <p:nvSpPr>
          <p:cNvPr id="3944450" name="Rectangle 2"/>
          <p:cNvSpPr>
            <a:spLocks noGrp="1" noRot="1" noChangeAspect="1" noChangeArrowheads="1" noTextEdit="1"/>
          </p:cNvSpPr>
          <p:nvPr>
            <p:ph type="sldImg"/>
          </p:nvPr>
        </p:nvSpPr>
        <p:spPr>
          <a:ln/>
        </p:spPr>
      </p:sp>
      <p:sp>
        <p:nvSpPr>
          <p:cNvPr id="39444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62627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2F44B9F9-42BD-404A-9F45-212FDD121F24}" type="slidenum">
              <a:rPr lang="en-GB"/>
              <a:pPr/>
              <a:t>12</a:t>
            </a:fld>
            <a:endParaRPr lang="en-GB"/>
          </a:p>
        </p:txBody>
      </p:sp>
      <p:sp>
        <p:nvSpPr>
          <p:cNvPr id="3944450" name="Rectangle 2"/>
          <p:cNvSpPr>
            <a:spLocks noGrp="1" noRot="1" noChangeAspect="1" noChangeArrowheads="1" noTextEdit="1"/>
          </p:cNvSpPr>
          <p:nvPr>
            <p:ph type="sldImg"/>
          </p:nvPr>
        </p:nvSpPr>
        <p:spPr>
          <a:ln/>
        </p:spPr>
      </p:sp>
      <p:sp>
        <p:nvSpPr>
          <p:cNvPr id="39444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66686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FA0576AB-C0C2-4392-96AF-0ADC21F81479}" type="slidenum">
              <a:rPr lang="en-GB"/>
              <a:pPr/>
              <a:t>13</a:t>
            </a:fld>
            <a:endParaRPr lang="en-GB"/>
          </a:p>
        </p:txBody>
      </p:sp>
      <p:sp>
        <p:nvSpPr>
          <p:cNvPr id="4007938" name="Rectangle 2"/>
          <p:cNvSpPr>
            <a:spLocks noGrp="1" noRot="1" noChangeAspect="1" noChangeArrowheads="1" noTextEdit="1"/>
          </p:cNvSpPr>
          <p:nvPr>
            <p:ph type="sldImg"/>
          </p:nvPr>
        </p:nvSpPr>
        <p:spPr>
          <a:ln/>
        </p:spPr>
      </p:sp>
      <p:sp>
        <p:nvSpPr>
          <p:cNvPr id="40079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274320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FA0576AB-C0C2-4392-96AF-0ADC21F81479}" type="slidenum">
              <a:rPr lang="en-GB"/>
              <a:pPr/>
              <a:t>14</a:t>
            </a:fld>
            <a:endParaRPr lang="en-GB"/>
          </a:p>
        </p:txBody>
      </p:sp>
      <p:sp>
        <p:nvSpPr>
          <p:cNvPr id="4007938" name="Rectangle 2"/>
          <p:cNvSpPr>
            <a:spLocks noGrp="1" noRot="1" noChangeAspect="1" noChangeArrowheads="1" noTextEdit="1"/>
          </p:cNvSpPr>
          <p:nvPr>
            <p:ph type="sldImg"/>
          </p:nvPr>
        </p:nvSpPr>
        <p:spPr>
          <a:ln/>
        </p:spPr>
      </p:sp>
      <p:sp>
        <p:nvSpPr>
          <p:cNvPr id="40079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918440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E71D7177-ECA0-45C5-A5EE-1EDD549F8A65}" type="slidenum">
              <a:rPr lang="en-IE" smtClean="0"/>
              <a:t>15</a:t>
            </a:fld>
            <a:endParaRPr lang="en-IE"/>
          </a:p>
        </p:txBody>
      </p:sp>
    </p:spTree>
    <p:extLst>
      <p:ext uri="{BB962C8B-B14F-4D97-AF65-F5344CB8AC3E}">
        <p14:creationId xmlns:p14="http://schemas.microsoft.com/office/powerpoint/2010/main" val="4185070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FA0576AB-C0C2-4392-96AF-0ADC21F81479}" type="slidenum">
              <a:rPr lang="en-GB"/>
              <a:pPr/>
              <a:t>16</a:t>
            </a:fld>
            <a:endParaRPr lang="en-GB"/>
          </a:p>
        </p:txBody>
      </p:sp>
      <p:sp>
        <p:nvSpPr>
          <p:cNvPr id="4007938" name="Rectangle 2"/>
          <p:cNvSpPr>
            <a:spLocks noGrp="1" noRot="1" noChangeAspect="1" noChangeArrowheads="1" noTextEdit="1"/>
          </p:cNvSpPr>
          <p:nvPr>
            <p:ph type="sldImg"/>
          </p:nvPr>
        </p:nvSpPr>
        <p:spPr>
          <a:ln/>
        </p:spPr>
      </p:sp>
      <p:sp>
        <p:nvSpPr>
          <p:cNvPr id="40079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55544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E71D7177-ECA0-45C5-A5EE-1EDD549F8A65}" type="slidenum">
              <a:rPr lang="en-IE" smtClean="0"/>
              <a:t>17</a:t>
            </a:fld>
            <a:endParaRPr lang="en-IE"/>
          </a:p>
        </p:txBody>
      </p:sp>
    </p:spTree>
    <p:extLst>
      <p:ext uri="{BB962C8B-B14F-4D97-AF65-F5344CB8AC3E}">
        <p14:creationId xmlns:p14="http://schemas.microsoft.com/office/powerpoint/2010/main" val="4264732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FA0576AB-C0C2-4392-96AF-0ADC21F81479}" type="slidenum">
              <a:rPr lang="en-GB"/>
              <a:pPr/>
              <a:t>18</a:t>
            </a:fld>
            <a:endParaRPr lang="en-GB"/>
          </a:p>
        </p:txBody>
      </p:sp>
      <p:sp>
        <p:nvSpPr>
          <p:cNvPr id="4007938" name="Rectangle 2"/>
          <p:cNvSpPr>
            <a:spLocks noGrp="1" noRot="1" noChangeAspect="1" noChangeArrowheads="1" noTextEdit="1"/>
          </p:cNvSpPr>
          <p:nvPr>
            <p:ph type="sldImg"/>
          </p:nvPr>
        </p:nvSpPr>
        <p:spPr>
          <a:ln/>
        </p:spPr>
      </p:sp>
      <p:sp>
        <p:nvSpPr>
          <p:cNvPr id="40079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252128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FA0576AB-C0C2-4392-96AF-0ADC21F81479}" type="slidenum">
              <a:rPr lang="en-GB"/>
              <a:pPr/>
              <a:t>19</a:t>
            </a:fld>
            <a:endParaRPr lang="en-GB"/>
          </a:p>
        </p:txBody>
      </p:sp>
      <p:sp>
        <p:nvSpPr>
          <p:cNvPr id="4007938" name="Rectangle 2"/>
          <p:cNvSpPr>
            <a:spLocks noGrp="1" noRot="1" noChangeAspect="1" noChangeArrowheads="1" noTextEdit="1"/>
          </p:cNvSpPr>
          <p:nvPr>
            <p:ph type="sldImg"/>
          </p:nvPr>
        </p:nvSpPr>
        <p:spPr>
          <a:ln/>
        </p:spPr>
      </p:sp>
      <p:sp>
        <p:nvSpPr>
          <p:cNvPr id="40079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68659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FA0576AB-C0C2-4392-96AF-0ADC21F81479}" type="slidenum">
              <a:rPr lang="en-GB"/>
              <a:pPr/>
              <a:t>20</a:t>
            </a:fld>
            <a:endParaRPr lang="en-GB"/>
          </a:p>
        </p:txBody>
      </p:sp>
      <p:sp>
        <p:nvSpPr>
          <p:cNvPr id="4007938" name="Rectangle 2"/>
          <p:cNvSpPr>
            <a:spLocks noGrp="1" noRot="1" noChangeAspect="1" noChangeArrowheads="1" noTextEdit="1"/>
          </p:cNvSpPr>
          <p:nvPr>
            <p:ph type="sldImg"/>
          </p:nvPr>
        </p:nvSpPr>
        <p:spPr>
          <a:ln/>
        </p:spPr>
      </p:sp>
      <p:sp>
        <p:nvSpPr>
          <p:cNvPr id="40079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690028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FA0576AB-C0C2-4392-96AF-0ADC21F81479}" type="slidenum">
              <a:rPr lang="en-GB"/>
              <a:pPr/>
              <a:t>21</a:t>
            </a:fld>
            <a:endParaRPr lang="en-GB"/>
          </a:p>
        </p:txBody>
      </p:sp>
      <p:sp>
        <p:nvSpPr>
          <p:cNvPr id="4007938" name="Rectangle 2"/>
          <p:cNvSpPr>
            <a:spLocks noGrp="1" noRot="1" noChangeAspect="1" noChangeArrowheads="1" noTextEdit="1"/>
          </p:cNvSpPr>
          <p:nvPr>
            <p:ph type="sldImg"/>
          </p:nvPr>
        </p:nvSpPr>
        <p:spPr>
          <a:ln/>
        </p:spPr>
      </p:sp>
      <p:sp>
        <p:nvSpPr>
          <p:cNvPr id="40079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261535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C8DD88E0-A106-4315-9529-594A9F6E8632}" type="slidenum">
              <a:rPr lang="en-GB"/>
              <a:pPr/>
              <a:t>23</a:t>
            </a:fld>
            <a:endParaRPr lang="en-GB"/>
          </a:p>
        </p:txBody>
      </p:sp>
      <p:sp>
        <p:nvSpPr>
          <p:cNvPr id="3940354" name="Rectangle 2"/>
          <p:cNvSpPr>
            <a:spLocks noGrp="1" noRot="1" noChangeAspect="1" noChangeArrowheads="1" noTextEdit="1"/>
          </p:cNvSpPr>
          <p:nvPr>
            <p:ph type="sldImg"/>
          </p:nvPr>
        </p:nvSpPr>
        <p:spPr>
          <a:ln/>
        </p:spPr>
      </p:sp>
      <p:sp>
        <p:nvSpPr>
          <p:cNvPr id="39403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11404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C8DD88E0-A106-4315-9529-594A9F6E8632}" type="slidenum">
              <a:rPr lang="en-GB"/>
              <a:pPr/>
              <a:t>24</a:t>
            </a:fld>
            <a:endParaRPr lang="en-GB"/>
          </a:p>
        </p:txBody>
      </p:sp>
      <p:sp>
        <p:nvSpPr>
          <p:cNvPr id="3940354" name="Rectangle 2"/>
          <p:cNvSpPr>
            <a:spLocks noGrp="1" noRot="1" noChangeAspect="1" noChangeArrowheads="1" noTextEdit="1"/>
          </p:cNvSpPr>
          <p:nvPr>
            <p:ph type="sldImg"/>
          </p:nvPr>
        </p:nvSpPr>
        <p:spPr>
          <a:ln/>
        </p:spPr>
      </p:sp>
      <p:sp>
        <p:nvSpPr>
          <p:cNvPr id="39403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9294898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4B27F978-FA1F-41D0-852A-52A9F4F1AA0C}" type="slidenum">
              <a:rPr lang="en-GB"/>
              <a:pPr/>
              <a:t>25</a:t>
            </a:fld>
            <a:endParaRPr lang="en-GB"/>
          </a:p>
        </p:txBody>
      </p:sp>
      <p:sp>
        <p:nvSpPr>
          <p:cNvPr id="4005890" name="Rectangle 2"/>
          <p:cNvSpPr>
            <a:spLocks noGrp="1" noRot="1" noChangeAspect="1" noChangeArrowheads="1" noTextEdit="1"/>
          </p:cNvSpPr>
          <p:nvPr>
            <p:ph type="sldImg"/>
          </p:nvPr>
        </p:nvSpPr>
        <p:spPr>
          <a:ln/>
        </p:spPr>
      </p:sp>
      <p:sp>
        <p:nvSpPr>
          <p:cNvPr id="40058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169228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3C37ED3B-A737-4FE0-AE53-751522858FD9}" type="slidenum">
              <a:rPr lang="en-GB"/>
              <a:pPr/>
              <a:t>29</a:t>
            </a:fld>
            <a:endParaRPr lang="en-GB"/>
          </a:p>
        </p:txBody>
      </p:sp>
      <p:sp>
        <p:nvSpPr>
          <p:cNvPr id="3947522" name="Rectangle 2"/>
          <p:cNvSpPr>
            <a:spLocks noGrp="1" noRot="1" noChangeAspect="1" noChangeArrowheads="1" noTextEdit="1"/>
          </p:cNvSpPr>
          <p:nvPr>
            <p:ph type="sldImg"/>
          </p:nvPr>
        </p:nvSpPr>
        <p:spPr>
          <a:ln/>
        </p:spPr>
      </p:sp>
      <p:sp>
        <p:nvSpPr>
          <p:cNvPr id="39475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11854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3C37ED3B-A737-4FE0-AE53-751522858FD9}" type="slidenum">
              <a:rPr lang="en-GB"/>
              <a:pPr/>
              <a:t>30</a:t>
            </a:fld>
            <a:endParaRPr lang="en-GB"/>
          </a:p>
        </p:txBody>
      </p:sp>
      <p:sp>
        <p:nvSpPr>
          <p:cNvPr id="3947522" name="Rectangle 2"/>
          <p:cNvSpPr>
            <a:spLocks noGrp="1" noRot="1" noChangeAspect="1" noChangeArrowheads="1" noTextEdit="1"/>
          </p:cNvSpPr>
          <p:nvPr>
            <p:ph type="sldImg"/>
          </p:nvPr>
        </p:nvSpPr>
        <p:spPr>
          <a:ln/>
        </p:spPr>
      </p:sp>
      <p:sp>
        <p:nvSpPr>
          <p:cNvPr id="39475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2256627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3C37ED3B-A737-4FE0-AE53-751522858FD9}" type="slidenum">
              <a:rPr lang="en-GB"/>
              <a:pPr/>
              <a:t>31</a:t>
            </a:fld>
            <a:endParaRPr lang="en-GB"/>
          </a:p>
        </p:txBody>
      </p:sp>
      <p:sp>
        <p:nvSpPr>
          <p:cNvPr id="3947522" name="Rectangle 2"/>
          <p:cNvSpPr>
            <a:spLocks noGrp="1" noRot="1" noChangeAspect="1" noChangeArrowheads="1" noTextEdit="1"/>
          </p:cNvSpPr>
          <p:nvPr>
            <p:ph type="sldImg"/>
          </p:nvPr>
        </p:nvSpPr>
        <p:spPr>
          <a:ln/>
        </p:spPr>
      </p:sp>
      <p:sp>
        <p:nvSpPr>
          <p:cNvPr id="39475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686070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A3648D39-2D5D-4913-8076-A34CB43E9015}" type="slidenum">
              <a:rPr lang="en-GB"/>
              <a:pPr/>
              <a:t>41</a:t>
            </a:fld>
            <a:endParaRPr lang="en-GB"/>
          </a:p>
        </p:txBody>
      </p:sp>
      <p:sp>
        <p:nvSpPr>
          <p:cNvPr id="3986434" name="Rectangle 2"/>
          <p:cNvSpPr>
            <a:spLocks noGrp="1" noRot="1" noChangeAspect="1" noChangeArrowheads="1" noTextEdit="1"/>
          </p:cNvSpPr>
          <p:nvPr>
            <p:ph type="sldImg"/>
          </p:nvPr>
        </p:nvSpPr>
        <p:spPr>
          <a:ln/>
        </p:spPr>
      </p:sp>
      <p:sp>
        <p:nvSpPr>
          <p:cNvPr id="39864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2143013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A3648D39-2D5D-4913-8076-A34CB43E9015}" type="slidenum">
              <a:rPr lang="en-GB"/>
              <a:pPr/>
              <a:t>42</a:t>
            </a:fld>
            <a:endParaRPr lang="en-GB"/>
          </a:p>
        </p:txBody>
      </p:sp>
      <p:sp>
        <p:nvSpPr>
          <p:cNvPr id="3986434" name="Rectangle 2"/>
          <p:cNvSpPr>
            <a:spLocks noGrp="1" noRot="1" noChangeAspect="1" noChangeArrowheads="1" noTextEdit="1"/>
          </p:cNvSpPr>
          <p:nvPr>
            <p:ph type="sldImg"/>
          </p:nvPr>
        </p:nvSpPr>
        <p:spPr>
          <a:ln/>
        </p:spPr>
      </p:sp>
      <p:sp>
        <p:nvSpPr>
          <p:cNvPr id="39864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407447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A3648D39-2D5D-4913-8076-A34CB43E9015}" type="slidenum">
              <a:rPr lang="en-GB"/>
              <a:pPr/>
              <a:t>43</a:t>
            </a:fld>
            <a:endParaRPr lang="en-GB"/>
          </a:p>
        </p:txBody>
      </p:sp>
      <p:sp>
        <p:nvSpPr>
          <p:cNvPr id="3986434" name="Rectangle 2"/>
          <p:cNvSpPr>
            <a:spLocks noGrp="1" noRot="1" noChangeAspect="1" noChangeArrowheads="1" noTextEdit="1"/>
          </p:cNvSpPr>
          <p:nvPr>
            <p:ph type="sldImg"/>
          </p:nvPr>
        </p:nvSpPr>
        <p:spPr>
          <a:ln/>
        </p:spPr>
      </p:sp>
      <p:sp>
        <p:nvSpPr>
          <p:cNvPr id="39864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604910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A3648D39-2D5D-4913-8076-A34CB43E9015}" type="slidenum">
              <a:rPr lang="en-GB"/>
              <a:pPr/>
              <a:t>44</a:t>
            </a:fld>
            <a:endParaRPr lang="en-GB"/>
          </a:p>
        </p:txBody>
      </p:sp>
      <p:sp>
        <p:nvSpPr>
          <p:cNvPr id="3986434" name="Rectangle 2"/>
          <p:cNvSpPr>
            <a:spLocks noGrp="1" noRot="1" noChangeAspect="1" noChangeArrowheads="1" noTextEdit="1"/>
          </p:cNvSpPr>
          <p:nvPr>
            <p:ph type="sldImg"/>
          </p:nvPr>
        </p:nvSpPr>
        <p:spPr>
          <a:ln/>
        </p:spPr>
      </p:sp>
      <p:sp>
        <p:nvSpPr>
          <p:cNvPr id="39864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2748782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E2B76373-D65A-41A9-990D-D2C51C36E29F}" type="slidenum">
              <a:rPr lang="en-GB"/>
              <a:pPr/>
              <a:t>46</a:t>
            </a:fld>
            <a:endParaRPr lang="en-GB"/>
          </a:p>
        </p:txBody>
      </p:sp>
      <p:sp>
        <p:nvSpPr>
          <p:cNvPr id="3996674" name="Rectangle 2"/>
          <p:cNvSpPr>
            <a:spLocks noGrp="1" noRot="1" noChangeAspect="1" noChangeArrowheads="1" noTextEdit="1"/>
          </p:cNvSpPr>
          <p:nvPr>
            <p:ph type="sldImg"/>
          </p:nvPr>
        </p:nvSpPr>
        <p:spPr>
          <a:ln/>
        </p:spPr>
      </p:sp>
      <p:sp>
        <p:nvSpPr>
          <p:cNvPr id="39966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477911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dirty="0"/>
              <a:t>CBEC 1404</a:t>
            </a:r>
          </a:p>
        </p:txBody>
      </p:sp>
      <p:sp>
        <p:nvSpPr>
          <p:cNvPr id="5" name="Rectangle 11"/>
          <p:cNvSpPr>
            <a:spLocks noGrp="1" noChangeArrowheads="1"/>
          </p:cNvSpPr>
          <p:nvPr>
            <p:ph type="dt" idx="1"/>
          </p:nvPr>
        </p:nvSpPr>
        <p:spPr>
          <a:ln/>
        </p:spPr>
        <p:txBody>
          <a:bodyPr/>
          <a:lstStyle/>
          <a:p>
            <a:r>
              <a:rPr lang="en-US"/>
              <a:t>10th Oct. '11</a:t>
            </a:r>
            <a:endParaRPr lang="en-GB" dirty="0"/>
          </a:p>
        </p:txBody>
      </p:sp>
      <p:sp>
        <p:nvSpPr>
          <p:cNvPr id="6" name="Rectangle 12"/>
          <p:cNvSpPr>
            <a:spLocks noGrp="1" noChangeArrowheads="1"/>
          </p:cNvSpPr>
          <p:nvPr>
            <p:ph type="ftr" sz="quarter" idx="4"/>
          </p:nvPr>
        </p:nvSpPr>
        <p:spPr>
          <a:ln/>
        </p:spPr>
        <p:txBody>
          <a:bodyPr/>
          <a:lstStyle/>
          <a:p>
            <a:r>
              <a:rPr lang="en-GB" dirty="0"/>
              <a:t>Databases I</a:t>
            </a:r>
          </a:p>
        </p:txBody>
      </p:sp>
      <p:sp>
        <p:nvSpPr>
          <p:cNvPr id="7" name="Rectangle 13"/>
          <p:cNvSpPr>
            <a:spLocks noGrp="1" noChangeArrowheads="1"/>
          </p:cNvSpPr>
          <p:nvPr>
            <p:ph type="sldNum" sz="quarter" idx="5"/>
          </p:nvPr>
        </p:nvSpPr>
        <p:spPr>
          <a:ln/>
        </p:spPr>
        <p:txBody>
          <a:bodyPr/>
          <a:lstStyle/>
          <a:p>
            <a:fld id="{4B6342A7-B081-446D-BE39-0F588DCF5861}" type="slidenum">
              <a:rPr lang="en-GB"/>
              <a:pPr/>
              <a:t>47</a:t>
            </a:fld>
            <a:endParaRPr lang="en-GB" dirty="0"/>
          </a:p>
        </p:txBody>
      </p:sp>
      <p:sp>
        <p:nvSpPr>
          <p:cNvPr id="3953666" name="Rectangle 2"/>
          <p:cNvSpPr>
            <a:spLocks noGrp="1" noRot="1" noChangeAspect="1" noChangeArrowheads="1" noTextEdit="1"/>
          </p:cNvSpPr>
          <p:nvPr>
            <p:ph type="sldImg"/>
          </p:nvPr>
        </p:nvSpPr>
        <p:spPr>
          <a:ln/>
        </p:spPr>
      </p:sp>
      <p:sp>
        <p:nvSpPr>
          <p:cNvPr id="3953667"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41860178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CB1A1505-8A25-4C59-AFEA-F124DAB2696E}" type="slidenum">
              <a:rPr lang="en-GB"/>
              <a:pPr/>
              <a:t>49</a:t>
            </a:fld>
            <a:endParaRPr lang="en-GB"/>
          </a:p>
        </p:txBody>
      </p:sp>
      <p:sp>
        <p:nvSpPr>
          <p:cNvPr id="3950594" name="Rectangle 2"/>
          <p:cNvSpPr>
            <a:spLocks noGrp="1" noRot="1" noChangeAspect="1" noChangeArrowheads="1" noTextEdit="1"/>
          </p:cNvSpPr>
          <p:nvPr>
            <p:ph type="sldImg"/>
          </p:nvPr>
        </p:nvSpPr>
        <p:spPr>
          <a:ln/>
        </p:spPr>
      </p:sp>
      <p:sp>
        <p:nvSpPr>
          <p:cNvPr id="39505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291666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CB1A1505-8A25-4C59-AFEA-F124DAB2696E}" type="slidenum">
              <a:rPr lang="en-GB"/>
              <a:pPr/>
              <a:t>50</a:t>
            </a:fld>
            <a:endParaRPr lang="en-GB"/>
          </a:p>
        </p:txBody>
      </p:sp>
      <p:sp>
        <p:nvSpPr>
          <p:cNvPr id="3950594" name="Rectangle 2"/>
          <p:cNvSpPr>
            <a:spLocks noGrp="1" noRot="1" noChangeAspect="1" noChangeArrowheads="1" noTextEdit="1"/>
          </p:cNvSpPr>
          <p:nvPr>
            <p:ph type="sldImg"/>
          </p:nvPr>
        </p:nvSpPr>
        <p:spPr>
          <a:ln/>
        </p:spPr>
      </p:sp>
      <p:sp>
        <p:nvSpPr>
          <p:cNvPr id="39505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954843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hdr" sz="quarter"/>
          </p:nvPr>
        </p:nvSpPr>
        <p:spPr>
          <a:ln/>
        </p:spPr>
        <p:txBody>
          <a:bodyPr/>
          <a:lstStyle/>
          <a:p>
            <a:r>
              <a:rPr lang="en-GB"/>
              <a:t>CBEC 1404</a:t>
            </a:r>
          </a:p>
        </p:txBody>
      </p:sp>
      <p:sp>
        <p:nvSpPr>
          <p:cNvPr id="5" name="Rectangle 11"/>
          <p:cNvSpPr>
            <a:spLocks noGrp="1" noChangeArrowheads="1"/>
          </p:cNvSpPr>
          <p:nvPr>
            <p:ph type="dt" idx="1"/>
          </p:nvPr>
        </p:nvSpPr>
        <p:spPr>
          <a:ln/>
        </p:spPr>
        <p:txBody>
          <a:bodyPr/>
          <a:lstStyle/>
          <a:p>
            <a:r>
              <a:rPr lang="en-US"/>
              <a:t>10th Oct. '11</a:t>
            </a:r>
            <a:endParaRPr lang="en-GB"/>
          </a:p>
        </p:txBody>
      </p:sp>
      <p:sp>
        <p:nvSpPr>
          <p:cNvPr id="6" name="Rectangle 12"/>
          <p:cNvSpPr>
            <a:spLocks noGrp="1" noChangeArrowheads="1"/>
          </p:cNvSpPr>
          <p:nvPr>
            <p:ph type="ftr" sz="quarter" idx="4"/>
          </p:nvPr>
        </p:nvSpPr>
        <p:spPr>
          <a:ln/>
        </p:spPr>
        <p:txBody>
          <a:bodyPr/>
          <a:lstStyle/>
          <a:p>
            <a:r>
              <a:rPr lang="en-GB"/>
              <a:t>Databases I</a:t>
            </a:r>
          </a:p>
        </p:txBody>
      </p:sp>
      <p:sp>
        <p:nvSpPr>
          <p:cNvPr id="7" name="Rectangle 13"/>
          <p:cNvSpPr>
            <a:spLocks noGrp="1" noChangeArrowheads="1"/>
          </p:cNvSpPr>
          <p:nvPr>
            <p:ph type="sldNum" sz="quarter" idx="5"/>
          </p:nvPr>
        </p:nvSpPr>
        <p:spPr>
          <a:ln/>
        </p:spPr>
        <p:txBody>
          <a:bodyPr/>
          <a:lstStyle/>
          <a:p>
            <a:fld id="{5E91A52A-61ED-4C98-A32C-6E9AAC8A0294}" type="slidenum">
              <a:rPr lang="en-GB"/>
              <a:pPr/>
              <a:t>51</a:t>
            </a:fld>
            <a:endParaRPr lang="en-GB"/>
          </a:p>
        </p:txBody>
      </p:sp>
      <p:sp>
        <p:nvSpPr>
          <p:cNvPr id="3951618" name="Rectangle 2"/>
          <p:cNvSpPr>
            <a:spLocks noGrp="1" noRot="1" noChangeAspect="1" noChangeArrowheads="1" noTextEdit="1"/>
          </p:cNvSpPr>
          <p:nvPr>
            <p:ph type="sldImg"/>
          </p:nvPr>
        </p:nvSpPr>
        <p:spPr>
          <a:ln/>
        </p:spPr>
      </p:sp>
      <p:sp>
        <p:nvSpPr>
          <p:cNvPr id="39516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63673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317E-4B72-DDFC-3395-0AFCCE2FD9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DC926A8-BE5E-DB34-24F4-F8937FEFA6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A5AE87C-D5AB-C13D-F314-AE2B2F13007F}"/>
              </a:ext>
            </a:extLst>
          </p:cNvPr>
          <p:cNvSpPr>
            <a:spLocks noGrp="1"/>
          </p:cNvSpPr>
          <p:nvPr>
            <p:ph type="dt" sz="half" idx="10"/>
          </p:nvPr>
        </p:nvSpPr>
        <p:spPr/>
        <p:txBody>
          <a:bodyPr/>
          <a:lstStyle/>
          <a:p>
            <a:fld id="{409E7EAA-5360-43B9-80C6-3BEC7E89B9A0}" type="datetime1">
              <a:rPr lang="en-IE" smtClean="0"/>
              <a:t>07/10/2024</a:t>
            </a:fld>
            <a:endParaRPr lang="en-IE"/>
          </a:p>
        </p:txBody>
      </p:sp>
      <p:sp>
        <p:nvSpPr>
          <p:cNvPr id="5" name="Footer Placeholder 4">
            <a:extLst>
              <a:ext uri="{FF2B5EF4-FFF2-40B4-BE49-F238E27FC236}">
                <a16:creationId xmlns:a16="http://schemas.microsoft.com/office/drawing/2014/main" id="{4B2E1232-B827-66CE-45E4-0AC0EE014F37}"/>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E2D97826-01BA-CB0F-0792-6716C480512F}"/>
              </a:ext>
            </a:extLst>
          </p:cNvPr>
          <p:cNvSpPr>
            <a:spLocks noGrp="1"/>
          </p:cNvSpPr>
          <p:nvPr>
            <p:ph type="sldNum" sz="quarter" idx="12"/>
          </p:nvPr>
        </p:nvSpPr>
        <p:spPr/>
        <p:txBody>
          <a:bodyPr/>
          <a:lstStyle/>
          <a:p>
            <a:fld id="{7341093E-ADCE-4CEF-A0BC-E1F79F413BC5}" type="slidenum">
              <a:rPr lang="en-IE" smtClean="0"/>
              <a:t>‹#›</a:t>
            </a:fld>
            <a:endParaRPr lang="en-IE"/>
          </a:p>
        </p:txBody>
      </p:sp>
    </p:spTree>
    <p:extLst>
      <p:ext uri="{BB962C8B-B14F-4D97-AF65-F5344CB8AC3E}">
        <p14:creationId xmlns:p14="http://schemas.microsoft.com/office/powerpoint/2010/main" val="1933052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6B007DB-BAC0-B5F7-CD3D-D722F4B0FC67}"/>
              </a:ext>
            </a:extLst>
          </p:cNvPr>
          <p:cNvSpPr/>
          <p:nvPr/>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3A45A55-EFF2-43B6-B7BF-52DAEFC6D4F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solidFill>
              </a:defRPr>
            </a:lvl1pPr>
          </a:lstStyle>
          <a:p>
            <a:fld id="{59B37C1D-04C1-4E11-BFF6-28546E8080D9}" type="datetime1">
              <a:rPr lang="en-IE" smtClean="0"/>
              <a:t>07/10/2024</a:t>
            </a:fld>
            <a:endParaRPr lang="en-IE"/>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solidFill>
              </a:defRPr>
            </a:lvl1pPr>
          </a:lstStyle>
          <a:p>
            <a:endParaRPr lang="en-IE"/>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solidFill>
              </a:defRPr>
            </a:lvl1pPr>
          </a:lstStyle>
          <a:p>
            <a:fld id="{7341093E-ADCE-4CEF-A0BC-E1F79F413BC5}" type="slidenum">
              <a:rPr lang="en-IE" smtClean="0"/>
              <a:t>‹#›</a:t>
            </a:fld>
            <a:endParaRPr lang="en-IE"/>
          </a:p>
        </p:txBody>
      </p:sp>
    </p:spTree>
    <p:extLst>
      <p:ext uri="{BB962C8B-B14F-4D97-AF65-F5344CB8AC3E}">
        <p14:creationId xmlns:p14="http://schemas.microsoft.com/office/powerpoint/2010/main" val="1275716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Quotes">
    <p:bg>
      <p:bgPr>
        <a:solidFill>
          <a:srgbClr val="004C6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CE980-C7F7-E4BB-3D60-AC4227DD67A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sp>
        <p:nvSpPr>
          <p:cNvPr id="4" name="Date Placeholder 3">
            <a:extLst>
              <a:ext uri="{FF2B5EF4-FFF2-40B4-BE49-F238E27FC236}">
                <a16:creationId xmlns:a16="http://schemas.microsoft.com/office/drawing/2014/main" id="{A3DDE508-9D0D-1A12-5055-B8C9BE3463E1}"/>
              </a:ext>
            </a:extLst>
          </p:cNvPr>
          <p:cNvSpPr>
            <a:spLocks noGrp="1"/>
          </p:cNvSpPr>
          <p:nvPr>
            <p:ph type="dt" sz="half" idx="10"/>
          </p:nvPr>
        </p:nvSpPr>
        <p:spPr/>
        <p:txBody>
          <a:bodyPr/>
          <a:lstStyle>
            <a:lvl1pPr>
              <a:defRPr>
                <a:solidFill>
                  <a:schemeClr val="bg1">
                    <a:lumMod val="65000"/>
                  </a:schemeClr>
                </a:solidFill>
              </a:defRPr>
            </a:lvl1pPr>
          </a:lstStyle>
          <a:p>
            <a:fld id="{432FAF83-910C-46D3-B7E8-37879A862409}" type="datetime1">
              <a:rPr lang="en-IE" smtClean="0"/>
              <a:t>07/10/2024</a:t>
            </a:fld>
            <a:endParaRPr lang="en-IE"/>
          </a:p>
        </p:txBody>
      </p:sp>
      <p:sp>
        <p:nvSpPr>
          <p:cNvPr id="5" name="Footer Placeholder 4">
            <a:extLst>
              <a:ext uri="{FF2B5EF4-FFF2-40B4-BE49-F238E27FC236}">
                <a16:creationId xmlns:a16="http://schemas.microsoft.com/office/drawing/2014/main" id="{9060AB5E-027B-22C7-C21B-F11F469E42AB}"/>
              </a:ext>
            </a:extLst>
          </p:cNvPr>
          <p:cNvSpPr>
            <a:spLocks noGrp="1"/>
          </p:cNvSpPr>
          <p:nvPr>
            <p:ph type="ftr" sz="quarter" idx="11"/>
          </p:nvPr>
        </p:nvSpPr>
        <p:spPr/>
        <p:txBody>
          <a:bodyPr/>
          <a:lstStyle>
            <a:lvl1pPr>
              <a:defRPr>
                <a:solidFill>
                  <a:schemeClr val="bg1">
                    <a:lumMod val="65000"/>
                  </a:schemeClr>
                </a:solidFill>
              </a:defRPr>
            </a:lvl1pPr>
          </a:lstStyle>
          <a:p>
            <a:endParaRPr lang="en-IE"/>
          </a:p>
        </p:txBody>
      </p:sp>
      <p:sp>
        <p:nvSpPr>
          <p:cNvPr id="6" name="Slide Number Placeholder 5">
            <a:extLst>
              <a:ext uri="{FF2B5EF4-FFF2-40B4-BE49-F238E27FC236}">
                <a16:creationId xmlns:a16="http://schemas.microsoft.com/office/drawing/2014/main" id="{79186FA1-5E26-507E-BD6D-3316D06DE8C6}"/>
              </a:ext>
            </a:extLst>
          </p:cNvPr>
          <p:cNvSpPr>
            <a:spLocks noGrp="1"/>
          </p:cNvSpPr>
          <p:nvPr>
            <p:ph type="sldNum" sz="quarter" idx="12"/>
          </p:nvPr>
        </p:nvSpPr>
        <p:spPr/>
        <p:txBody>
          <a:bodyPr/>
          <a:lstStyle>
            <a:lvl1pPr>
              <a:defRPr>
                <a:solidFill>
                  <a:schemeClr val="bg1">
                    <a:lumMod val="65000"/>
                  </a:schemeClr>
                </a:solidFill>
              </a:defRPr>
            </a:lvl1pPr>
          </a:lstStyle>
          <a:p>
            <a:fld id="{7341093E-ADCE-4CEF-A0BC-E1F79F413BC5}" type="slidenum">
              <a:rPr lang="en-IE" smtClean="0"/>
              <a:t>‹#›</a:t>
            </a:fld>
            <a:endParaRPr lang="en-IE"/>
          </a:p>
        </p:txBody>
      </p:sp>
      <p:pic>
        <p:nvPicPr>
          <p:cNvPr id="8" name="Graphic 7" descr="The following is a quote: ">
            <a:extLst>
              <a:ext uri="{FF2B5EF4-FFF2-40B4-BE49-F238E27FC236}">
                <a16:creationId xmlns:a16="http://schemas.microsoft.com/office/drawing/2014/main" id="{BBC1D34B-9075-8D03-3A5C-E7D33712D62A}"/>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4726" y="1825625"/>
            <a:ext cx="2084363" cy="2084363"/>
          </a:xfrm>
          <a:prstGeom prst="rect">
            <a:avLst/>
          </a:prstGeom>
        </p:spPr>
      </p:pic>
      <p:sp>
        <p:nvSpPr>
          <p:cNvPr id="10" name="Text Placeholder 9">
            <a:extLst>
              <a:ext uri="{FF2B5EF4-FFF2-40B4-BE49-F238E27FC236}">
                <a16:creationId xmlns:a16="http://schemas.microsoft.com/office/drawing/2014/main" id="{71D05262-A873-B471-8864-15D00174DECC}"/>
              </a:ext>
            </a:extLst>
          </p:cNvPr>
          <p:cNvSpPr>
            <a:spLocks noGrp="1"/>
          </p:cNvSpPr>
          <p:nvPr>
            <p:ph type="body" sz="quarter" idx="13"/>
          </p:nvPr>
        </p:nvSpPr>
        <p:spPr>
          <a:xfrm>
            <a:off x="2743200" y="2147888"/>
            <a:ext cx="8610600" cy="37957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dirty="0"/>
          </a:p>
        </p:txBody>
      </p:sp>
    </p:spTree>
    <p:extLst>
      <p:ext uri="{BB962C8B-B14F-4D97-AF65-F5344CB8AC3E}">
        <p14:creationId xmlns:p14="http://schemas.microsoft.com/office/powerpoint/2010/main" val="278130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831850" y="1709738"/>
            <a:ext cx="10515600" cy="2852737"/>
          </a:xfrm>
        </p:spPr>
        <p:txBody>
          <a:bodyPr anchor="b"/>
          <a:lstStyle>
            <a:lvl1pPr>
              <a:defRPr sz="6000">
                <a:solidFill>
                  <a:schemeClr val="accent3"/>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43DD4156-1D08-F755-3CB7-F04B4CB231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lvl1pPr>
              <a:defRPr>
                <a:solidFill>
                  <a:schemeClr val="bg1">
                    <a:lumMod val="65000"/>
                  </a:schemeClr>
                </a:solidFill>
              </a:defRPr>
            </a:lvl1pPr>
          </a:lstStyle>
          <a:p>
            <a:fld id="{D55ABB9C-10A4-4150-B085-AEA5CAF74E50}" type="datetime1">
              <a:rPr lang="en-IE" smtClean="0"/>
              <a:t>07/10/2024</a:t>
            </a:fld>
            <a:endParaRPr lang="en-IE"/>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lvl1pPr>
              <a:defRPr>
                <a:solidFill>
                  <a:schemeClr val="bg1">
                    <a:lumMod val="65000"/>
                  </a:schemeClr>
                </a:solidFill>
              </a:defRPr>
            </a:lvl1pPr>
          </a:lstStyle>
          <a:p>
            <a:endParaRPr lang="en-IE"/>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lvl1pPr>
              <a:defRPr>
                <a:solidFill>
                  <a:schemeClr val="bg1">
                    <a:lumMod val="65000"/>
                  </a:schemeClr>
                </a:solidFill>
              </a:defRPr>
            </a:lvl1pPr>
          </a:lstStyle>
          <a:p>
            <a:fld id="{7341093E-ADCE-4CEF-A0BC-E1F79F413BC5}" type="slidenum">
              <a:rPr lang="en-IE" smtClean="0"/>
              <a:t>‹#›</a:t>
            </a:fld>
            <a:endParaRPr lang="en-IE"/>
          </a:p>
        </p:txBody>
      </p:sp>
    </p:spTree>
    <p:extLst>
      <p:ext uri="{BB962C8B-B14F-4D97-AF65-F5344CB8AC3E}">
        <p14:creationId xmlns:p14="http://schemas.microsoft.com/office/powerpoint/2010/main" val="1007027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4196-08E0-BC7A-8733-4E756A5FA64A}"/>
              </a:ext>
            </a:extLst>
          </p:cNvPr>
          <p:cNvSpPr>
            <a:spLocks noGrp="1"/>
          </p:cNvSpPr>
          <p:nvPr>
            <p:ph type="title"/>
          </p:nvPr>
        </p:nvSpPr>
        <p:spPr>
          <a:xfrm>
            <a:off x="831850" y="4816548"/>
            <a:ext cx="10515600" cy="1223851"/>
          </a:xfrm>
        </p:spPr>
        <p:txBody>
          <a:bodyPr anchor="b">
            <a:normAutofit/>
          </a:bodyPr>
          <a:lstStyle>
            <a:lvl1pPr algn="ctr">
              <a:defRPr sz="5400">
                <a:solidFill>
                  <a:schemeClr val="accent3"/>
                </a:solidFill>
              </a:defRPr>
            </a:lvl1pPr>
          </a:lstStyle>
          <a:p>
            <a:r>
              <a:rPr lang="en-US"/>
              <a:t>Click to edit Master title style</a:t>
            </a:r>
            <a:endParaRPr lang="en-GB" dirty="0"/>
          </a:p>
        </p:txBody>
      </p:sp>
      <p:sp>
        <p:nvSpPr>
          <p:cNvPr id="4" name="Date Placeholder 3">
            <a:extLst>
              <a:ext uri="{FF2B5EF4-FFF2-40B4-BE49-F238E27FC236}">
                <a16:creationId xmlns:a16="http://schemas.microsoft.com/office/drawing/2014/main" id="{18A864EA-CCA9-EB4F-A84F-BE9D5F986369}"/>
              </a:ext>
            </a:extLst>
          </p:cNvPr>
          <p:cNvSpPr>
            <a:spLocks noGrp="1"/>
          </p:cNvSpPr>
          <p:nvPr>
            <p:ph type="dt" sz="half" idx="10"/>
          </p:nvPr>
        </p:nvSpPr>
        <p:spPr/>
        <p:txBody>
          <a:bodyPr/>
          <a:lstStyle/>
          <a:p>
            <a:fld id="{99C2390E-D659-4003-BCFE-E376F2C86CA6}" type="datetime1">
              <a:rPr lang="en-IE" smtClean="0"/>
              <a:t>07/10/2024</a:t>
            </a:fld>
            <a:endParaRPr lang="en-IE"/>
          </a:p>
        </p:txBody>
      </p:sp>
      <p:sp>
        <p:nvSpPr>
          <p:cNvPr id="5" name="Footer Placeholder 4">
            <a:extLst>
              <a:ext uri="{FF2B5EF4-FFF2-40B4-BE49-F238E27FC236}">
                <a16:creationId xmlns:a16="http://schemas.microsoft.com/office/drawing/2014/main" id="{FD1BAC42-79B8-8591-472D-39FDD982E81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E39DDDC1-A48D-40A0-07DA-F99E091C3F22}"/>
              </a:ext>
            </a:extLst>
          </p:cNvPr>
          <p:cNvSpPr>
            <a:spLocks noGrp="1"/>
          </p:cNvSpPr>
          <p:nvPr>
            <p:ph type="sldNum" sz="quarter" idx="12"/>
          </p:nvPr>
        </p:nvSpPr>
        <p:spPr/>
        <p:txBody>
          <a:bodyPr/>
          <a:lstStyle/>
          <a:p>
            <a:fld id="{7341093E-ADCE-4CEF-A0BC-E1F79F413BC5}" type="slidenum">
              <a:rPr lang="en-IE" smtClean="0"/>
              <a:t>‹#›</a:t>
            </a:fld>
            <a:endParaRPr lang="en-IE"/>
          </a:p>
        </p:txBody>
      </p:sp>
      <p:sp>
        <p:nvSpPr>
          <p:cNvPr id="8" name="Content Placeholder 7">
            <a:extLst>
              <a:ext uri="{FF2B5EF4-FFF2-40B4-BE49-F238E27FC236}">
                <a16:creationId xmlns:a16="http://schemas.microsoft.com/office/drawing/2014/main" id="{459A2BA5-1AB5-DB59-3C54-16713B4E4270}"/>
              </a:ext>
            </a:extLst>
          </p:cNvPr>
          <p:cNvSpPr>
            <a:spLocks noGrp="1"/>
          </p:cNvSpPr>
          <p:nvPr>
            <p:ph sz="quarter" idx="13"/>
          </p:nvPr>
        </p:nvSpPr>
        <p:spPr>
          <a:xfrm>
            <a:off x="2754313" y="712788"/>
            <a:ext cx="6794500" cy="4103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Tree>
    <p:extLst>
      <p:ext uri="{BB962C8B-B14F-4D97-AF65-F5344CB8AC3E}">
        <p14:creationId xmlns:p14="http://schemas.microsoft.com/office/powerpoint/2010/main" val="3595222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B0BE543-0448-3A4C-5F33-EAD956CEEC4F}"/>
              </a:ext>
            </a:extLst>
          </p:cNvPr>
          <p:cNvSpPr/>
          <p:nvPr/>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109FF7AA-B49C-D561-FA47-CB24D2FBF6F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761E7E-A789-0692-DCFA-73EB3A13A57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C5CDC2F-840C-693F-493D-EB4B70B8294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2413D37-E198-0C87-31DE-C825CE017A07}"/>
              </a:ext>
            </a:extLst>
          </p:cNvPr>
          <p:cNvSpPr>
            <a:spLocks noGrp="1"/>
          </p:cNvSpPr>
          <p:nvPr>
            <p:ph type="dt" sz="half" idx="10"/>
          </p:nvPr>
        </p:nvSpPr>
        <p:spPr/>
        <p:txBody>
          <a:bodyPr/>
          <a:lstStyle/>
          <a:p>
            <a:fld id="{CC193406-6D4B-416C-B814-993FCBD54654}" type="datetime1">
              <a:rPr lang="en-IE" smtClean="0"/>
              <a:t>07/10/2024</a:t>
            </a:fld>
            <a:endParaRPr lang="en-IE"/>
          </a:p>
        </p:txBody>
      </p:sp>
      <p:sp>
        <p:nvSpPr>
          <p:cNvPr id="6" name="Footer Placeholder 5">
            <a:extLst>
              <a:ext uri="{FF2B5EF4-FFF2-40B4-BE49-F238E27FC236}">
                <a16:creationId xmlns:a16="http://schemas.microsoft.com/office/drawing/2014/main" id="{EF355D9D-23CD-C2B7-2CB9-63A7B666AAF0}"/>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36C84A3F-2DEF-A695-73CD-C8A79EDD75B4}"/>
              </a:ext>
            </a:extLst>
          </p:cNvPr>
          <p:cNvSpPr>
            <a:spLocks noGrp="1"/>
          </p:cNvSpPr>
          <p:nvPr>
            <p:ph type="sldNum" sz="quarter" idx="12"/>
          </p:nvPr>
        </p:nvSpPr>
        <p:spPr/>
        <p:txBody>
          <a:bodyPr/>
          <a:lstStyle/>
          <a:p>
            <a:fld id="{7341093E-ADCE-4CEF-A0BC-E1F79F413BC5}" type="slidenum">
              <a:rPr lang="en-IE" smtClean="0"/>
              <a:t>‹#›</a:t>
            </a:fld>
            <a:endParaRPr lang="en-IE"/>
          </a:p>
        </p:txBody>
      </p:sp>
    </p:spTree>
    <p:extLst>
      <p:ext uri="{BB962C8B-B14F-4D97-AF65-F5344CB8AC3E}">
        <p14:creationId xmlns:p14="http://schemas.microsoft.com/office/powerpoint/2010/main" val="2782342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557A7C-8356-9C4D-0FD4-A2809BBA22A6}"/>
              </a:ext>
            </a:extLst>
          </p:cNvPr>
          <p:cNvSpPr/>
          <p:nvPr/>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8C23E5D6-F819-DF80-8C6A-FE0FD23685E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0634751-4015-7A9E-A494-E4825F6D8A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DD0E5A5-4B18-9989-88ED-D6B31265D2DA}"/>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7685D65-C667-2456-E06F-F0E68B2E5C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944F890-33E6-BD4B-978A-E4B20968B85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E26AA7C-81D8-7C95-3E01-76956024FF9F}"/>
              </a:ext>
            </a:extLst>
          </p:cNvPr>
          <p:cNvSpPr>
            <a:spLocks noGrp="1"/>
          </p:cNvSpPr>
          <p:nvPr>
            <p:ph type="dt" sz="half" idx="10"/>
          </p:nvPr>
        </p:nvSpPr>
        <p:spPr/>
        <p:txBody>
          <a:bodyPr/>
          <a:lstStyle/>
          <a:p>
            <a:fld id="{97C5F43B-9E82-41E1-868B-A90D7A00EDBB}" type="datetime1">
              <a:rPr lang="en-IE" smtClean="0"/>
              <a:t>07/10/2024</a:t>
            </a:fld>
            <a:endParaRPr lang="en-IE"/>
          </a:p>
        </p:txBody>
      </p:sp>
      <p:sp>
        <p:nvSpPr>
          <p:cNvPr id="8" name="Footer Placeholder 7">
            <a:extLst>
              <a:ext uri="{FF2B5EF4-FFF2-40B4-BE49-F238E27FC236}">
                <a16:creationId xmlns:a16="http://schemas.microsoft.com/office/drawing/2014/main" id="{137830B1-02EA-A7DB-8FCF-32C06C3E0B21}"/>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CE580A6F-5EBE-2DCC-8CCB-9F05EA6645C0}"/>
              </a:ext>
            </a:extLst>
          </p:cNvPr>
          <p:cNvSpPr>
            <a:spLocks noGrp="1"/>
          </p:cNvSpPr>
          <p:nvPr>
            <p:ph type="sldNum" sz="quarter" idx="12"/>
          </p:nvPr>
        </p:nvSpPr>
        <p:spPr/>
        <p:txBody>
          <a:bodyPr/>
          <a:lstStyle/>
          <a:p>
            <a:fld id="{7341093E-ADCE-4CEF-A0BC-E1F79F413BC5}" type="slidenum">
              <a:rPr lang="en-IE" smtClean="0"/>
              <a:t>‹#›</a:t>
            </a:fld>
            <a:endParaRPr lang="en-IE"/>
          </a:p>
        </p:txBody>
      </p:sp>
    </p:spTree>
    <p:extLst>
      <p:ext uri="{BB962C8B-B14F-4D97-AF65-F5344CB8AC3E}">
        <p14:creationId xmlns:p14="http://schemas.microsoft.com/office/powerpoint/2010/main" val="826856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C00E1A-F73B-4343-8C36-A161A0EDF3C9}"/>
              </a:ext>
            </a:extLst>
          </p:cNvPr>
          <p:cNvSpPr/>
          <p:nvPr/>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7DCD2DC0-0D4F-4B0E-7C43-38073564822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1278B6D-6F61-EF5E-B5CC-F72AA2353D1E}"/>
              </a:ext>
            </a:extLst>
          </p:cNvPr>
          <p:cNvSpPr>
            <a:spLocks noGrp="1"/>
          </p:cNvSpPr>
          <p:nvPr>
            <p:ph type="dt" sz="half" idx="10"/>
          </p:nvPr>
        </p:nvSpPr>
        <p:spPr/>
        <p:txBody>
          <a:bodyPr/>
          <a:lstStyle/>
          <a:p>
            <a:fld id="{5E94909E-F34B-4118-8DDC-74CFD5642DEB}" type="datetime1">
              <a:rPr lang="en-IE" smtClean="0"/>
              <a:t>07/10/2024</a:t>
            </a:fld>
            <a:endParaRPr lang="en-IE"/>
          </a:p>
        </p:txBody>
      </p:sp>
      <p:sp>
        <p:nvSpPr>
          <p:cNvPr id="4" name="Footer Placeholder 3">
            <a:extLst>
              <a:ext uri="{FF2B5EF4-FFF2-40B4-BE49-F238E27FC236}">
                <a16:creationId xmlns:a16="http://schemas.microsoft.com/office/drawing/2014/main" id="{527A9D98-33BD-A8E4-155E-07D8B622BEE6}"/>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BC44C4ED-AE87-B167-6C8F-8D62A01C4EB1}"/>
              </a:ext>
            </a:extLst>
          </p:cNvPr>
          <p:cNvSpPr>
            <a:spLocks noGrp="1"/>
          </p:cNvSpPr>
          <p:nvPr>
            <p:ph type="sldNum" sz="quarter" idx="12"/>
          </p:nvPr>
        </p:nvSpPr>
        <p:spPr/>
        <p:txBody>
          <a:bodyPr/>
          <a:lstStyle/>
          <a:p>
            <a:fld id="{7341093E-ADCE-4CEF-A0BC-E1F79F413BC5}" type="slidenum">
              <a:rPr lang="en-IE" smtClean="0"/>
              <a:t>‹#›</a:t>
            </a:fld>
            <a:endParaRPr lang="en-IE"/>
          </a:p>
        </p:txBody>
      </p:sp>
    </p:spTree>
    <p:extLst>
      <p:ext uri="{BB962C8B-B14F-4D97-AF65-F5344CB8AC3E}">
        <p14:creationId xmlns:p14="http://schemas.microsoft.com/office/powerpoint/2010/main" val="787154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10235F36-BE3A-42C9-8BB9-BFC41632B689}" type="datetime1">
              <a:rPr lang="en-IE" smtClean="0"/>
              <a:t>07/10/2024</a:t>
            </a:fld>
            <a:endParaRPr lang="en-IE"/>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7341093E-ADCE-4CEF-A0BC-E1F79F413BC5}" type="slidenum">
              <a:rPr lang="en-IE" smtClean="0"/>
              <a:t>‹#›</a:t>
            </a:fld>
            <a:endParaRPr lang="en-IE"/>
          </a:p>
        </p:txBody>
      </p:sp>
    </p:spTree>
    <p:extLst>
      <p:ext uri="{BB962C8B-B14F-4D97-AF65-F5344CB8AC3E}">
        <p14:creationId xmlns:p14="http://schemas.microsoft.com/office/powerpoint/2010/main" val="265322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w colour">
    <p:bg>
      <p:bgPr>
        <a:solidFill>
          <a:schemeClr val="accent3"/>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DD81B3-DF2D-90A5-75B5-5F66A4EEC34E}"/>
              </a:ext>
            </a:extLst>
          </p:cNvPr>
          <p:cNvSpPr>
            <a:spLocks noGrp="1"/>
          </p:cNvSpPr>
          <p:nvPr>
            <p:ph type="dt" sz="half" idx="10"/>
          </p:nvPr>
        </p:nvSpPr>
        <p:spPr/>
        <p:txBody>
          <a:bodyPr/>
          <a:lstStyle/>
          <a:p>
            <a:fld id="{A661CA3A-AE92-4A58-BAEC-5703EDF4D5B4}" type="datetime1">
              <a:rPr lang="en-IE" smtClean="0"/>
              <a:t>07/10/2024</a:t>
            </a:fld>
            <a:endParaRPr lang="en-IE"/>
          </a:p>
        </p:txBody>
      </p:sp>
      <p:sp>
        <p:nvSpPr>
          <p:cNvPr id="3" name="Footer Placeholder 2">
            <a:extLst>
              <a:ext uri="{FF2B5EF4-FFF2-40B4-BE49-F238E27FC236}">
                <a16:creationId xmlns:a16="http://schemas.microsoft.com/office/drawing/2014/main" id="{72500BE0-7239-DF9F-8152-6A89D5FD40E0}"/>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86227DB2-2307-A467-49D2-43198D154921}"/>
              </a:ext>
            </a:extLst>
          </p:cNvPr>
          <p:cNvSpPr>
            <a:spLocks noGrp="1"/>
          </p:cNvSpPr>
          <p:nvPr>
            <p:ph type="sldNum" sz="quarter" idx="12"/>
          </p:nvPr>
        </p:nvSpPr>
        <p:spPr/>
        <p:txBody>
          <a:bodyPr/>
          <a:lstStyle/>
          <a:p>
            <a:fld id="{7341093E-ADCE-4CEF-A0BC-E1F79F413BC5}" type="slidenum">
              <a:rPr lang="en-IE" smtClean="0"/>
              <a:t>‹#›</a:t>
            </a:fld>
            <a:endParaRPr lang="en-IE"/>
          </a:p>
        </p:txBody>
      </p:sp>
    </p:spTree>
    <p:extLst>
      <p:ext uri="{BB962C8B-B14F-4D97-AF65-F5344CB8AC3E}">
        <p14:creationId xmlns:p14="http://schemas.microsoft.com/office/powerpoint/2010/main" val="626977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B3F2E4F-D69A-C303-0281-6BB8BC65FA1A}"/>
              </a:ext>
            </a:extLst>
          </p:cNvPr>
          <p:cNvSpPr/>
          <p:nvPr/>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DFE483EC-461E-3DF8-7723-85858B6209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ED0BA06-04AB-09B5-645C-2091343E99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FD91B3F-7C7C-73B9-77CB-A11B1FCF85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167F290-2545-0C2B-78A6-D50CE3D009E9}"/>
              </a:ext>
            </a:extLst>
          </p:cNvPr>
          <p:cNvSpPr>
            <a:spLocks noGrp="1"/>
          </p:cNvSpPr>
          <p:nvPr>
            <p:ph type="dt" sz="half" idx="10"/>
          </p:nvPr>
        </p:nvSpPr>
        <p:spPr/>
        <p:txBody>
          <a:bodyPr/>
          <a:lstStyle/>
          <a:p>
            <a:fld id="{0D970427-9851-447E-BDD8-630690183B26}" type="datetime1">
              <a:rPr lang="en-IE" smtClean="0"/>
              <a:t>07/10/2024</a:t>
            </a:fld>
            <a:endParaRPr lang="en-IE"/>
          </a:p>
        </p:txBody>
      </p:sp>
      <p:sp>
        <p:nvSpPr>
          <p:cNvPr id="6" name="Footer Placeholder 5">
            <a:extLst>
              <a:ext uri="{FF2B5EF4-FFF2-40B4-BE49-F238E27FC236}">
                <a16:creationId xmlns:a16="http://schemas.microsoft.com/office/drawing/2014/main" id="{770E117D-2169-6E39-149C-5FBECD5E7647}"/>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DE83838A-4F66-F529-E239-3AE7FBEDEB56}"/>
              </a:ext>
            </a:extLst>
          </p:cNvPr>
          <p:cNvSpPr>
            <a:spLocks noGrp="1"/>
          </p:cNvSpPr>
          <p:nvPr>
            <p:ph type="sldNum" sz="quarter" idx="12"/>
          </p:nvPr>
        </p:nvSpPr>
        <p:spPr/>
        <p:txBody>
          <a:bodyPr/>
          <a:lstStyle/>
          <a:p>
            <a:fld id="{7341093E-ADCE-4CEF-A0BC-E1F79F413BC5}" type="slidenum">
              <a:rPr lang="en-IE" smtClean="0"/>
              <a:t>‹#›</a:t>
            </a:fld>
            <a:endParaRPr lang="en-IE"/>
          </a:p>
        </p:txBody>
      </p:sp>
    </p:spTree>
    <p:extLst>
      <p:ext uri="{BB962C8B-B14F-4D97-AF65-F5344CB8AC3E}">
        <p14:creationId xmlns:p14="http://schemas.microsoft.com/office/powerpoint/2010/main" val="1105207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4395A0-EB10-01E3-39B4-075A8ACEABC7}"/>
              </a:ext>
            </a:extLst>
          </p:cNvPr>
          <p:cNvSpPr/>
          <p:nvPr/>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232FAE3E-C2EA-DDE4-4229-9EB50F2F14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6131BBD-51CD-4DC2-4A60-8A48EA6C6A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683B0D01-09EF-1E92-D338-9CD0EBA943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2B20126-F846-16D0-EBDD-34D48607E985}"/>
              </a:ext>
            </a:extLst>
          </p:cNvPr>
          <p:cNvSpPr>
            <a:spLocks noGrp="1"/>
          </p:cNvSpPr>
          <p:nvPr>
            <p:ph type="dt" sz="half" idx="10"/>
          </p:nvPr>
        </p:nvSpPr>
        <p:spPr/>
        <p:txBody>
          <a:bodyPr/>
          <a:lstStyle/>
          <a:p>
            <a:fld id="{8D1FBA35-3C96-4FA0-8BAB-2DCDE2A2FDFF}" type="datetime1">
              <a:rPr lang="en-IE" smtClean="0"/>
              <a:t>07/10/2024</a:t>
            </a:fld>
            <a:endParaRPr lang="en-IE"/>
          </a:p>
        </p:txBody>
      </p:sp>
      <p:sp>
        <p:nvSpPr>
          <p:cNvPr id="6" name="Footer Placeholder 5">
            <a:extLst>
              <a:ext uri="{FF2B5EF4-FFF2-40B4-BE49-F238E27FC236}">
                <a16:creationId xmlns:a16="http://schemas.microsoft.com/office/drawing/2014/main" id="{1F34FC57-C801-AEF4-1D0A-E095B6450ACD}"/>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91951B0C-275C-33D2-9A96-4D0314E6EEA7}"/>
              </a:ext>
            </a:extLst>
          </p:cNvPr>
          <p:cNvSpPr>
            <a:spLocks noGrp="1"/>
          </p:cNvSpPr>
          <p:nvPr>
            <p:ph type="sldNum" sz="quarter" idx="12"/>
          </p:nvPr>
        </p:nvSpPr>
        <p:spPr/>
        <p:txBody>
          <a:bodyPr/>
          <a:lstStyle/>
          <a:p>
            <a:fld id="{7341093E-ADCE-4CEF-A0BC-E1F79F413BC5}" type="slidenum">
              <a:rPr lang="en-IE" smtClean="0"/>
              <a:t>‹#›</a:t>
            </a:fld>
            <a:endParaRPr lang="en-IE"/>
          </a:p>
        </p:txBody>
      </p:sp>
    </p:spTree>
    <p:extLst>
      <p:ext uri="{BB962C8B-B14F-4D97-AF65-F5344CB8AC3E}">
        <p14:creationId xmlns:p14="http://schemas.microsoft.com/office/powerpoint/2010/main" val="3046815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1A4EC-146B-3381-63D1-52F3C15CB004}"/>
              </a:ext>
            </a:extLst>
          </p:cNvPr>
          <p:cNvSpPr/>
          <p:nvPr/>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Title 1">
            <a:extLst>
              <a:ext uri="{FF2B5EF4-FFF2-40B4-BE49-F238E27FC236}">
                <a16:creationId xmlns:a16="http://schemas.microsoft.com/office/drawing/2014/main" id="{B4BEF132-B0C4-CEBA-D9BB-A90CC2A65F9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15F3702-713A-C951-9CCF-955488BC645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E34A4F3-ECB2-56FC-3055-081257812145}"/>
              </a:ext>
            </a:extLst>
          </p:cNvPr>
          <p:cNvSpPr>
            <a:spLocks noGrp="1"/>
          </p:cNvSpPr>
          <p:nvPr>
            <p:ph type="dt" sz="half" idx="10"/>
          </p:nvPr>
        </p:nvSpPr>
        <p:spPr/>
        <p:txBody>
          <a:bodyPr/>
          <a:lstStyle/>
          <a:p>
            <a:fld id="{2707595C-01F6-4919-90A5-13FF9A0EE79C}" type="datetime1">
              <a:rPr lang="en-IE" smtClean="0"/>
              <a:t>07/10/2024</a:t>
            </a:fld>
            <a:endParaRPr lang="en-IE"/>
          </a:p>
        </p:txBody>
      </p:sp>
      <p:sp>
        <p:nvSpPr>
          <p:cNvPr id="5" name="Footer Placeholder 4">
            <a:extLst>
              <a:ext uri="{FF2B5EF4-FFF2-40B4-BE49-F238E27FC236}">
                <a16:creationId xmlns:a16="http://schemas.microsoft.com/office/drawing/2014/main" id="{ED1849C6-D413-92F0-6B5F-27BB8AC757F1}"/>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6A79A6DE-F917-5ECB-80DB-4C5C9924B1F0}"/>
              </a:ext>
            </a:extLst>
          </p:cNvPr>
          <p:cNvSpPr>
            <a:spLocks noGrp="1"/>
          </p:cNvSpPr>
          <p:nvPr>
            <p:ph type="sldNum" sz="quarter" idx="12"/>
          </p:nvPr>
        </p:nvSpPr>
        <p:spPr/>
        <p:txBody>
          <a:bodyPr/>
          <a:lstStyle/>
          <a:p>
            <a:fld id="{7341093E-ADCE-4CEF-A0BC-E1F79F413BC5}" type="slidenum">
              <a:rPr lang="en-IE" smtClean="0"/>
              <a:t>‹#›</a:t>
            </a:fld>
            <a:endParaRPr lang="en-IE"/>
          </a:p>
        </p:txBody>
      </p:sp>
    </p:spTree>
    <p:extLst>
      <p:ext uri="{BB962C8B-B14F-4D97-AF65-F5344CB8AC3E}">
        <p14:creationId xmlns:p14="http://schemas.microsoft.com/office/powerpoint/2010/main" val="9017799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213BEA-D64A-CDAB-CB01-CACA6AEFB654}"/>
              </a:ext>
            </a:extLst>
          </p:cNvPr>
          <p:cNvSpPr/>
          <p:nvPr/>
        </p:nvSpPr>
        <p:spPr>
          <a:xfrm>
            <a:off x="0" y="6311900"/>
            <a:ext cx="12192000" cy="546100"/>
          </a:xfrm>
          <a:prstGeom prst="rect">
            <a:avLst/>
          </a:prstGeom>
          <a:solidFill>
            <a:srgbClr val="00A9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Vertical Title 1">
            <a:extLst>
              <a:ext uri="{FF2B5EF4-FFF2-40B4-BE49-F238E27FC236}">
                <a16:creationId xmlns:a16="http://schemas.microsoft.com/office/drawing/2014/main" id="{E2FFD24A-02C7-3C15-C6A2-2FE1816ED4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07E5EB9-6E42-B9D7-5671-A15D13E2010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F3BCAA2-15B7-B922-2788-5986E5EEAC91}"/>
              </a:ext>
            </a:extLst>
          </p:cNvPr>
          <p:cNvSpPr>
            <a:spLocks noGrp="1"/>
          </p:cNvSpPr>
          <p:nvPr>
            <p:ph type="dt" sz="half" idx="10"/>
          </p:nvPr>
        </p:nvSpPr>
        <p:spPr/>
        <p:txBody>
          <a:bodyPr/>
          <a:lstStyle/>
          <a:p>
            <a:fld id="{12F0A81A-24D7-48C2-9C2B-31CF2AE21FBC}" type="datetime1">
              <a:rPr lang="en-IE" smtClean="0"/>
              <a:t>07/10/2024</a:t>
            </a:fld>
            <a:endParaRPr lang="en-IE"/>
          </a:p>
        </p:txBody>
      </p:sp>
      <p:sp>
        <p:nvSpPr>
          <p:cNvPr id="5" name="Footer Placeholder 4">
            <a:extLst>
              <a:ext uri="{FF2B5EF4-FFF2-40B4-BE49-F238E27FC236}">
                <a16:creationId xmlns:a16="http://schemas.microsoft.com/office/drawing/2014/main" id="{45AD40C5-A7B5-0CB8-7A77-77280AC6EDB7}"/>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D3DA6257-1CC9-8C66-1C48-A645172DCA15}"/>
              </a:ext>
            </a:extLst>
          </p:cNvPr>
          <p:cNvSpPr>
            <a:spLocks noGrp="1"/>
          </p:cNvSpPr>
          <p:nvPr>
            <p:ph type="sldNum" sz="quarter" idx="12"/>
          </p:nvPr>
        </p:nvSpPr>
        <p:spPr/>
        <p:txBody>
          <a:bodyPr/>
          <a:lstStyle/>
          <a:p>
            <a:fld id="{7341093E-ADCE-4CEF-A0BC-E1F79F413BC5}" type="slidenum">
              <a:rPr lang="en-IE" smtClean="0"/>
              <a:t>‹#›</a:t>
            </a:fld>
            <a:endParaRPr lang="en-IE"/>
          </a:p>
        </p:txBody>
      </p:sp>
    </p:spTree>
    <p:extLst>
      <p:ext uri="{BB962C8B-B14F-4D97-AF65-F5344CB8AC3E}">
        <p14:creationId xmlns:p14="http://schemas.microsoft.com/office/powerpoint/2010/main" val="1415741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0A642-ABE6-FE0E-2BD1-AB0BC48CE2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E9047573-978D-7FA9-0D26-40779E9769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56631032-3BBA-DDD8-39F1-68FB671B8D3D}"/>
              </a:ext>
            </a:extLst>
          </p:cNvPr>
          <p:cNvSpPr>
            <a:spLocks noGrp="1"/>
          </p:cNvSpPr>
          <p:nvPr>
            <p:ph type="dt" sz="half" idx="2"/>
          </p:nvPr>
        </p:nvSpPr>
        <p:spPr>
          <a:xfrm>
            <a:off x="838200" y="6388249"/>
            <a:ext cx="2743200" cy="365125"/>
          </a:xfrm>
          <a:prstGeom prst="rect">
            <a:avLst/>
          </a:prstGeom>
        </p:spPr>
        <p:txBody>
          <a:bodyPr vert="horz" lIns="91440" tIns="45720" rIns="91440" bIns="45720" rtlCol="0" anchor="ctr"/>
          <a:lstStyle>
            <a:lvl1pPr algn="l">
              <a:defRPr sz="1200">
                <a:solidFill>
                  <a:schemeClr val="bg1"/>
                </a:solidFill>
              </a:defRPr>
            </a:lvl1pPr>
          </a:lstStyle>
          <a:p>
            <a:fld id="{37E374C3-9AB3-47E2-98D9-03F3356DBB12}" type="datetime1">
              <a:rPr lang="en-IE" smtClean="0"/>
              <a:t>07/10/2024</a:t>
            </a:fld>
            <a:endParaRPr lang="en-IE"/>
          </a:p>
        </p:txBody>
      </p:sp>
      <p:sp>
        <p:nvSpPr>
          <p:cNvPr id="5" name="Footer Placeholder 4">
            <a:extLst>
              <a:ext uri="{FF2B5EF4-FFF2-40B4-BE49-F238E27FC236}">
                <a16:creationId xmlns:a16="http://schemas.microsoft.com/office/drawing/2014/main" id="{B8C0B08B-CD62-82DF-7BC9-CCDE7E5B639E}"/>
              </a:ext>
            </a:extLst>
          </p:cNvPr>
          <p:cNvSpPr>
            <a:spLocks noGrp="1"/>
          </p:cNvSpPr>
          <p:nvPr>
            <p:ph type="ftr" sz="quarter" idx="3"/>
          </p:nvPr>
        </p:nvSpPr>
        <p:spPr>
          <a:xfrm>
            <a:off x="4038600" y="6388249"/>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en-IE"/>
          </a:p>
        </p:txBody>
      </p:sp>
      <p:sp>
        <p:nvSpPr>
          <p:cNvPr id="6" name="Slide Number Placeholder 5">
            <a:extLst>
              <a:ext uri="{FF2B5EF4-FFF2-40B4-BE49-F238E27FC236}">
                <a16:creationId xmlns:a16="http://schemas.microsoft.com/office/drawing/2014/main" id="{02D453A8-267C-532B-1CCE-A59D105FDAE1}"/>
              </a:ext>
            </a:extLst>
          </p:cNvPr>
          <p:cNvSpPr>
            <a:spLocks noGrp="1"/>
          </p:cNvSpPr>
          <p:nvPr>
            <p:ph type="sldNum" sz="quarter" idx="4"/>
          </p:nvPr>
        </p:nvSpPr>
        <p:spPr>
          <a:xfrm>
            <a:off x="8610600" y="6388249"/>
            <a:ext cx="2743200" cy="365125"/>
          </a:xfrm>
          <a:prstGeom prst="rect">
            <a:avLst/>
          </a:prstGeom>
        </p:spPr>
        <p:txBody>
          <a:bodyPr vert="horz" lIns="91440" tIns="45720" rIns="91440" bIns="45720" rtlCol="0" anchor="ctr"/>
          <a:lstStyle>
            <a:lvl1pPr algn="r">
              <a:defRPr sz="1600" b="1">
                <a:solidFill>
                  <a:schemeClr val="bg1"/>
                </a:solidFill>
              </a:defRPr>
            </a:lvl1pPr>
          </a:lstStyle>
          <a:p>
            <a:fld id="{7341093E-ADCE-4CEF-A0BC-E1F79F413BC5}" type="slidenum">
              <a:rPr lang="en-IE" smtClean="0"/>
              <a:t>‹#›</a:t>
            </a:fld>
            <a:endParaRPr lang="en-IE"/>
          </a:p>
        </p:txBody>
      </p:sp>
    </p:spTree>
    <p:extLst>
      <p:ext uri="{BB962C8B-B14F-4D97-AF65-F5344CB8AC3E}">
        <p14:creationId xmlns:p14="http://schemas.microsoft.com/office/powerpoint/2010/main" val="25278284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ftr="0" dt="0"/>
  <p:txStyles>
    <p:titleStyle>
      <a:lvl1pPr algn="l" defTabSz="914400" rtl="0" eaLnBrk="1" latinLnBrk="0" hangingPunct="1">
        <a:lnSpc>
          <a:spcPct val="90000"/>
        </a:lnSpc>
        <a:spcBef>
          <a:spcPct val="0"/>
        </a:spcBef>
        <a:buNone/>
        <a:defRPr sz="4400" b="1" kern="1200">
          <a:solidFill>
            <a:srgbClr val="004C6C"/>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5143500" cy="6858000"/>
          </a:xfrm>
          <a:prstGeom prst="rect">
            <a:avLst/>
          </a:prstGeom>
        </p:spPr>
      </p:pic>
      <p:sp>
        <p:nvSpPr>
          <p:cNvPr id="2" name="Slide Number Placeholder 1"/>
          <p:cNvSpPr>
            <a:spLocks noGrp="1"/>
          </p:cNvSpPr>
          <p:nvPr>
            <p:ph type="sldNum" sz="quarter" idx="12"/>
          </p:nvPr>
        </p:nvSpPr>
        <p:spPr/>
        <p:txBody>
          <a:bodyPr/>
          <a:lstStyle/>
          <a:p>
            <a:fld id="{7341093E-ADCE-4CEF-A0BC-E1F79F413BC5}" type="slidenum">
              <a:rPr lang="en-IE" smtClean="0"/>
              <a:t>1</a:t>
            </a:fld>
            <a:endParaRPr lang="en-IE"/>
          </a:p>
        </p:txBody>
      </p:sp>
    </p:spTree>
    <p:extLst>
      <p:ext uri="{BB962C8B-B14F-4D97-AF65-F5344CB8AC3E}">
        <p14:creationId xmlns:p14="http://schemas.microsoft.com/office/powerpoint/2010/main" val="1274036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chemeClr val="bg1"/>
                </a:solidFill>
              </a:rPr>
              <a:t>Week 4 Keys and Constraints</a:t>
            </a:r>
            <a:endParaRPr lang="en-IE" dirty="0">
              <a:solidFill>
                <a:schemeClr val="bg1"/>
              </a:solidFill>
            </a:endParaRPr>
          </a:p>
        </p:txBody>
      </p:sp>
      <p:sp>
        <p:nvSpPr>
          <p:cNvPr id="3" name="Subtitle 2"/>
          <p:cNvSpPr>
            <a:spLocks noGrp="1"/>
          </p:cNvSpPr>
          <p:nvPr>
            <p:ph type="subTitle" idx="1"/>
          </p:nvPr>
        </p:nvSpPr>
        <p:spPr/>
        <p:txBody>
          <a:bodyPr/>
          <a:lstStyle/>
          <a:p>
            <a:r>
              <a:rPr lang="en-US" dirty="0">
                <a:solidFill>
                  <a:schemeClr val="bg1"/>
                </a:solidFill>
              </a:rPr>
              <a:t>Information Systems </a:t>
            </a:r>
          </a:p>
          <a:p>
            <a:r>
              <a:rPr lang="en-US" dirty="0">
                <a:solidFill>
                  <a:schemeClr val="bg1"/>
                </a:solidFill>
              </a:rPr>
              <a:t>TU257</a:t>
            </a:r>
            <a:endParaRPr lang="en-IE" dirty="0">
              <a:solidFill>
                <a:schemeClr val="bg1"/>
              </a:solidFill>
            </a:endParaRPr>
          </a:p>
        </p:txBody>
      </p:sp>
      <p:sp>
        <p:nvSpPr>
          <p:cNvPr id="4" name="Slide Number Placeholder 3"/>
          <p:cNvSpPr>
            <a:spLocks noGrp="1"/>
          </p:cNvSpPr>
          <p:nvPr>
            <p:ph type="sldNum" sz="quarter" idx="12"/>
          </p:nvPr>
        </p:nvSpPr>
        <p:spPr/>
        <p:txBody>
          <a:bodyPr/>
          <a:lstStyle/>
          <a:p>
            <a:fld id="{7341093E-ADCE-4CEF-A0BC-E1F79F413BC5}" type="slidenum">
              <a:rPr lang="en-IE" smtClean="0"/>
              <a:t>2</a:t>
            </a:fld>
            <a:endParaRPr lang="en-IE"/>
          </a:p>
        </p:txBody>
      </p:sp>
    </p:spTree>
    <p:extLst>
      <p:ext uri="{BB962C8B-B14F-4D97-AF65-F5344CB8AC3E}">
        <p14:creationId xmlns:p14="http://schemas.microsoft.com/office/powerpoint/2010/main" val="3092474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endParaRPr lang="en-IE" dirty="0"/>
          </a:p>
        </p:txBody>
      </p:sp>
      <p:sp>
        <p:nvSpPr>
          <p:cNvPr id="3" name="Content Placeholder 2"/>
          <p:cNvSpPr>
            <a:spLocks noGrp="1"/>
          </p:cNvSpPr>
          <p:nvPr>
            <p:ph idx="1"/>
          </p:nvPr>
        </p:nvSpPr>
        <p:spPr/>
        <p:txBody>
          <a:bodyPr numCol="2"/>
          <a:lstStyle/>
          <a:p>
            <a:r>
              <a:rPr lang="en-US" dirty="0"/>
              <a:t>Introduction to Logical Design </a:t>
            </a:r>
          </a:p>
          <a:p>
            <a:pPr lvl="1"/>
            <a:r>
              <a:rPr lang="en-US" dirty="0"/>
              <a:t>Identifiers/keys</a:t>
            </a:r>
          </a:p>
          <a:p>
            <a:pPr lvl="1"/>
            <a:r>
              <a:rPr lang="en-US" dirty="0"/>
              <a:t>Constrains</a:t>
            </a:r>
          </a:p>
          <a:p>
            <a:pPr lvl="1"/>
            <a:r>
              <a:rPr lang="en-US" dirty="0"/>
              <a:t>Referential actions</a:t>
            </a:r>
          </a:p>
          <a:p>
            <a:pPr lvl="1"/>
            <a:r>
              <a:rPr lang="en-US" dirty="0"/>
              <a:t>Data anomalies</a:t>
            </a:r>
          </a:p>
          <a:p>
            <a:pPr lvl="1"/>
            <a:r>
              <a:rPr lang="en-US"/>
              <a:t>Introduction </a:t>
            </a:r>
            <a:r>
              <a:rPr lang="en-US" dirty="0"/>
              <a:t>to </a:t>
            </a:r>
            <a:r>
              <a:rPr lang="en-US" dirty="0" err="1"/>
              <a:t>normalisation</a:t>
            </a:r>
            <a:endParaRPr lang="en-US" dirty="0"/>
          </a:p>
          <a:p>
            <a:pPr lvl="1"/>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7341093E-ADCE-4CEF-A0BC-E1F79F413BC5}" type="slidenum">
              <a:rPr lang="en-IE" smtClean="0"/>
              <a:t>3</a:t>
            </a:fld>
            <a:endParaRPr lang="en-IE"/>
          </a:p>
        </p:txBody>
      </p:sp>
    </p:spTree>
    <p:extLst>
      <p:ext uri="{BB962C8B-B14F-4D97-AF65-F5344CB8AC3E}">
        <p14:creationId xmlns:p14="http://schemas.microsoft.com/office/powerpoint/2010/main" val="2162650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Models</a:t>
            </a:r>
            <a:endParaRPr lang="en-IE" dirty="0"/>
          </a:p>
        </p:txBody>
      </p:sp>
      <p:sp>
        <p:nvSpPr>
          <p:cNvPr id="3" name="Content Placeholder 2"/>
          <p:cNvSpPr>
            <a:spLocks noGrp="1"/>
          </p:cNvSpPr>
          <p:nvPr>
            <p:ph idx="1"/>
          </p:nvPr>
        </p:nvSpPr>
        <p:spPr/>
        <p:txBody>
          <a:bodyPr/>
          <a:lstStyle/>
          <a:p>
            <a:r>
              <a:rPr lang="en-US" dirty="0"/>
              <a:t>Specify concepts that are used to describe the database. These can be </a:t>
            </a:r>
            <a:r>
              <a:rPr lang="en-IE" dirty="0"/>
              <a:t>categorised</a:t>
            </a:r>
            <a:r>
              <a:rPr lang="en-US" dirty="0"/>
              <a:t> as:</a:t>
            </a:r>
          </a:p>
          <a:p>
            <a:pPr lvl="1"/>
            <a:r>
              <a:rPr lang="en-US" b="1" i="1" dirty="0"/>
              <a:t>High Level (Conceptual)</a:t>
            </a:r>
            <a:endParaRPr lang="en-US" sz="400" dirty="0"/>
          </a:p>
          <a:p>
            <a:pPr lvl="1"/>
            <a:r>
              <a:rPr lang="en-US" b="1" i="1" dirty="0">
                <a:solidFill>
                  <a:srgbClr val="FF0000"/>
                </a:solidFill>
              </a:rPr>
              <a:t>Representational (Logical)</a:t>
            </a:r>
            <a:endParaRPr lang="en-US" sz="400" dirty="0"/>
          </a:p>
          <a:p>
            <a:pPr lvl="1"/>
            <a:r>
              <a:rPr lang="en-US" b="1" i="1" dirty="0"/>
              <a:t>Low Level (Physical)</a:t>
            </a:r>
            <a:endParaRPr lang="en-IE" dirty="0"/>
          </a:p>
        </p:txBody>
      </p:sp>
      <p:sp>
        <p:nvSpPr>
          <p:cNvPr id="4" name="Slide Number Placeholder 3"/>
          <p:cNvSpPr>
            <a:spLocks noGrp="1"/>
          </p:cNvSpPr>
          <p:nvPr>
            <p:ph type="sldNum" sz="quarter" idx="12"/>
          </p:nvPr>
        </p:nvSpPr>
        <p:spPr/>
        <p:txBody>
          <a:bodyPr/>
          <a:lstStyle/>
          <a:p>
            <a:fld id="{7341093E-ADCE-4CEF-A0BC-E1F79F413BC5}" type="slidenum">
              <a:rPr lang="en-IE" smtClean="0"/>
              <a:t>4</a:t>
            </a:fld>
            <a:endParaRPr lang="en-IE"/>
          </a:p>
        </p:txBody>
      </p:sp>
    </p:spTree>
    <p:extLst>
      <p:ext uri="{BB962C8B-B14F-4D97-AF65-F5344CB8AC3E}">
        <p14:creationId xmlns:p14="http://schemas.microsoft.com/office/powerpoint/2010/main" val="578977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6326" name="AutoShape 6"/>
          <p:cNvSpPr>
            <a:spLocks noGrp="1" noChangeArrowheads="1"/>
          </p:cNvSpPr>
          <p:nvPr>
            <p:ph type="title"/>
          </p:nvPr>
        </p:nvSpPr>
        <p:spPr/>
        <p:txBody>
          <a:bodyPr/>
          <a:lstStyle/>
          <a:p>
            <a:r>
              <a:rPr lang="en-US" dirty="0"/>
              <a:t>Database Terminology</a:t>
            </a:r>
            <a:endParaRPr lang="en-GB" dirty="0"/>
          </a:p>
        </p:txBody>
      </p:sp>
      <p:sp>
        <p:nvSpPr>
          <p:cNvPr id="3896327" name="Rectangle 7"/>
          <p:cNvSpPr>
            <a:spLocks noGrp="1" noChangeArrowheads="1"/>
          </p:cNvSpPr>
          <p:nvPr>
            <p:ph idx="1"/>
          </p:nvPr>
        </p:nvSpPr>
        <p:spPr/>
        <p:txBody>
          <a:bodyPr>
            <a:noAutofit/>
          </a:bodyPr>
          <a:lstStyle/>
          <a:p>
            <a:r>
              <a:rPr lang="en-US" sz="2400" b="1" dirty="0"/>
              <a:t>What is a Table/Relation?</a:t>
            </a:r>
          </a:p>
          <a:p>
            <a:pPr lvl="1"/>
            <a:r>
              <a:rPr lang="en-US" sz="2400" dirty="0"/>
              <a:t>Single valued cells (groups and arrays are not allowed to be values). </a:t>
            </a:r>
          </a:p>
          <a:p>
            <a:pPr lvl="1"/>
            <a:r>
              <a:rPr lang="en-US" sz="2400" dirty="0"/>
              <a:t>All entries in any attribute are of the same kind.</a:t>
            </a:r>
          </a:p>
          <a:p>
            <a:pPr lvl="1"/>
            <a:r>
              <a:rPr lang="en-US" sz="2400" dirty="0"/>
              <a:t>Each column must have a unique name.</a:t>
            </a:r>
          </a:p>
          <a:p>
            <a:pPr lvl="2"/>
            <a:r>
              <a:rPr lang="en-US" sz="2000" b="1" dirty="0"/>
              <a:t>Note:</a:t>
            </a:r>
            <a:r>
              <a:rPr lang="en-US" sz="2000" dirty="0"/>
              <a:t> The order of the columns is not significant.</a:t>
            </a:r>
          </a:p>
          <a:p>
            <a:pPr lvl="1"/>
            <a:r>
              <a:rPr lang="en-US" sz="2400" dirty="0"/>
              <a:t>No two rows are identical.</a:t>
            </a:r>
          </a:p>
          <a:p>
            <a:pPr lvl="2"/>
            <a:r>
              <a:rPr lang="en-US" sz="2000" b="1" dirty="0"/>
              <a:t>Note:</a:t>
            </a:r>
            <a:r>
              <a:rPr lang="en-US" sz="2000" dirty="0"/>
              <a:t> The order of the rows is not significant.</a:t>
            </a:r>
          </a:p>
          <a:p>
            <a:pPr marL="0" indent="0">
              <a:buNone/>
            </a:pPr>
            <a:endParaRPr lang="en-US" sz="500" dirty="0"/>
          </a:p>
        </p:txBody>
      </p:sp>
      <p:sp>
        <p:nvSpPr>
          <p:cNvPr id="6" name="Slide Number Placeholder 5"/>
          <p:cNvSpPr>
            <a:spLocks noGrp="1"/>
          </p:cNvSpPr>
          <p:nvPr>
            <p:ph type="sldNum" sz="quarter" idx="12"/>
          </p:nvPr>
        </p:nvSpPr>
        <p:spPr/>
        <p:txBody>
          <a:bodyPr/>
          <a:lstStyle/>
          <a:p>
            <a:fld id="{699373D4-17A5-4822-B711-D7D8168B8CE7}" type="slidenum">
              <a:rPr lang="en-IE" smtClean="0"/>
              <a:pPr/>
              <a:t>5</a:t>
            </a:fld>
            <a:endParaRPr lang="en-IE"/>
          </a:p>
        </p:txBody>
      </p:sp>
      <p:pic>
        <p:nvPicPr>
          <p:cNvPr id="13" name="Picture 12" descr="Fig02a.jpg"/>
          <p:cNvPicPr>
            <a:picLocks noChangeAspect="1"/>
          </p:cNvPicPr>
          <p:nvPr/>
        </p:nvPicPr>
        <p:blipFill>
          <a:blip r:embed="rId3" cstate="print"/>
          <a:stretch>
            <a:fillRect/>
          </a:stretch>
        </p:blipFill>
        <p:spPr>
          <a:xfrm>
            <a:off x="7681452" y="4085564"/>
            <a:ext cx="4601496" cy="2302685"/>
          </a:xfrm>
          <a:prstGeom prst="rect">
            <a:avLst/>
          </a:prstGeom>
        </p:spPr>
      </p:pic>
    </p:spTree>
    <p:extLst>
      <p:ext uri="{BB962C8B-B14F-4D97-AF65-F5344CB8AC3E}">
        <p14:creationId xmlns:p14="http://schemas.microsoft.com/office/powerpoint/2010/main" val="3598990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4298" name="AutoShape 26"/>
          <p:cNvSpPr>
            <a:spLocks noGrp="1" noChangeArrowheads="1"/>
          </p:cNvSpPr>
          <p:nvPr>
            <p:ph type="title"/>
          </p:nvPr>
        </p:nvSpPr>
        <p:spPr/>
        <p:txBody>
          <a:bodyPr/>
          <a:lstStyle/>
          <a:p>
            <a:r>
              <a:rPr lang="en-US" dirty="0"/>
              <a:t>Database Terminology</a:t>
            </a:r>
            <a:endParaRPr lang="en-GB" dirty="0"/>
          </a:p>
        </p:txBody>
      </p:sp>
      <p:sp>
        <p:nvSpPr>
          <p:cNvPr id="3894299" name="Rectangle 27"/>
          <p:cNvSpPr>
            <a:spLocks noGrp="1" noChangeArrowheads="1"/>
          </p:cNvSpPr>
          <p:nvPr>
            <p:ph idx="1"/>
          </p:nvPr>
        </p:nvSpPr>
        <p:spPr/>
        <p:txBody>
          <a:bodyPr>
            <a:noAutofit/>
          </a:bodyPr>
          <a:lstStyle/>
          <a:p>
            <a:r>
              <a:rPr lang="en-IE" sz="2400" b="1" dirty="0"/>
              <a:t>Relation: </a:t>
            </a:r>
            <a:r>
              <a:rPr lang="en-IE" sz="2400" dirty="0"/>
              <a:t>Relation (in relational model) is </a:t>
            </a:r>
            <a:r>
              <a:rPr lang="en-IE" sz="2400" b="1" dirty="0"/>
              <a:t>not</a:t>
            </a:r>
            <a:r>
              <a:rPr lang="en-IE" sz="2400" dirty="0"/>
              <a:t> the same as relationship (in ER model)</a:t>
            </a:r>
          </a:p>
          <a:p>
            <a:r>
              <a:rPr lang="en-IE" sz="2400" b="1" dirty="0"/>
              <a:t>Tuple:</a:t>
            </a:r>
            <a:r>
              <a:rPr lang="en-IE" sz="2400" dirty="0"/>
              <a:t> Row</a:t>
            </a:r>
          </a:p>
          <a:p>
            <a:r>
              <a:rPr lang="en-IE" sz="2400" b="1" dirty="0"/>
              <a:t>Attribute:</a:t>
            </a:r>
            <a:r>
              <a:rPr lang="en-IE" sz="2400" dirty="0"/>
              <a:t> A property or characteristic of an entity or relationship type that is of interest to the enterprise.</a:t>
            </a:r>
          </a:p>
          <a:p>
            <a:endParaRPr lang="en-IE" sz="2400" b="1" dirty="0"/>
          </a:p>
          <a:p>
            <a:endParaRPr lang="en-IE" sz="2400" b="1" dirty="0"/>
          </a:p>
          <a:p>
            <a:endParaRPr lang="en-IE" sz="3600" b="1" dirty="0"/>
          </a:p>
          <a:p>
            <a:r>
              <a:rPr lang="en-IE" sz="2400" b="1" dirty="0"/>
              <a:t>Primary Key (PK): </a:t>
            </a:r>
          </a:p>
          <a:p>
            <a:pPr lvl="1"/>
            <a:r>
              <a:rPr lang="en-IE" sz="2000" dirty="0"/>
              <a:t>A special attribute, or combination of attributes.</a:t>
            </a:r>
          </a:p>
          <a:p>
            <a:pPr lvl="1"/>
            <a:r>
              <a:rPr lang="en-IE" sz="2000" dirty="0"/>
              <a:t>No two tuples can have the same PK value.</a:t>
            </a:r>
          </a:p>
        </p:txBody>
      </p:sp>
      <p:sp>
        <p:nvSpPr>
          <p:cNvPr id="29" name="Slide Number Placeholder 6"/>
          <p:cNvSpPr>
            <a:spLocks noGrp="1"/>
          </p:cNvSpPr>
          <p:nvPr>
            <p:ph type="sldNum" sz="quarter" idx="12"/>
          </p:nvPr>
        </p:nvSpPr>
        <p:spPr/>
        <p:txBody>
          <a:bodyPr/>
          <a:lstStyle/>
          <a:p>
            <a:fld id="{914C166F-AEAB-4390-91C9-1B48574FCD01}" type="slidenum">
              <a:rPr lang="en-IE"/>
              <a:pPr/>
              <a:t>6</a:t>
            </a:fld>
            <a:endParaRPr lang="en-IE"/>
          </a:p>
        </p:txBody>
      </p:sp>
      <p:pic>
        <p:nvPicPr>
          <p:cNvPr id="9" name="Picture 8" descr="Fig01.jpg"/>
          <p:cNvPicPr>
            <a:picLocks noChangeAspect="1"/>
          </p:cNvPicPr>
          <p:nvPr/>
        </p:nvPicPr>
        <p:blipFill>
          <a:blip r:embed="rId3" cstate="print"/>
          <a:stretch>
            <a:fillRect/>
          </a:stretch>
        </p:blipFill>
        <p:spPr>
          <a:xfrm>
            <a:off x="5913022" y="4433012"/>
            <a:ext cx="5835006" cy="1849594"/>
          </a:xfrm>
          <a:prstGeom prst="rect">
            <a:avLst/>
          </a:prstGeom>
          <a:ln>
            <a:noFill/>
          </a:ln>
          <a:effectLst/>
        </p:spPr>
      </p:pic>
    </p:spTree>
    <p:extLst>
      <p:ext uri="{BB962C8B-B14F-4D97-AF65-F5344CB8AC3E}">
        <p14:creationId xmlns:p14="http://schemas.microsoft.com/office/powerpoint/2010/main" val="3831676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6326" name="AutoShape 6"/>
          <p:cNvSpPr>
            <a:spLocks noGrp="1" noChangeArrowheads="1"/>
          </p:cNvSpPr>
          <p:nvPr>
            <p:ph type="title"/>
          </p:nvPr>
        </p:nvSpPr>
        <p:spPr/>
        <p:txBody>
          <a:bodyPr/>
          <a:lstStyle/>
          <a:p>
            <a:r>
              <a:rPr lang="en-US" dirty="0"/>
              <a:t>Database Terminology</a:t>
            </a:r>
            <a:endParaRPr lang="en-GB" dirty="0"/>
          </a:p>
        </p:txBody>
      </p:sp>
      <p:sp>
        <p:nvSpPr>
          <p:cNvPr id="3896327" name="Rectangle 7"/>
          <p:cNvSpPr>
            <a:spLocks noGrp="1" noChangeArrowheads="1"/>
          </p:cNvSpPr>
          <p:nvPr>
            <p:ph idx="1"/>
          </p:nvPr>
        </p:nvSpPr>
        <p:spPr/>
        <p:txBody>
          <a:bodyPr>
            <a:noAutofit/>
          </a:bodyPr>
          <a:lstStyle/>
          <a:p>
            <a:endParaRPr lang="en-US" sz="500" dirty="0"/>
          </a:p>
          <a:p>
            <a:r>
              <a:rPr lang="en-US" sz="2400" b="1" dirty="0"/>
              <a:t>Correspondence with ER Diagram:</a:t>
            </a:r>
          </a:p>
          <a:p>
            <a:pPr lvl="1"/>
            <a:r>
              <a:rPr lang="en-US" sz="2400" b="1" dirty="0"/>
              <a:t>Relations</a:t>
            </a:r>
            <a:r>
              <a:rPr lang="en-US" sz="2400" dirty="0"/>
              <a:t> (tables) correspond with </a:t>
            </a:r>
            <a:r>
              <a:rPr lang="en-US" sz="2400" b="1" dirty="0"/>
              <a:t>entity types</a:t>
            </a:r>
            <a:r>
              <a:rPr lang="en-US" sz="2400" dirty="0"/>
              <a:t>.</a:t>
            </a:r>
          </a:p>
          <a:p>
            <a:pPr lvl="1"/>
            <a:r>
              <a:rPr lang="en-US" sz="2400" b="1" dirty="0"/>
              <a:t>Rows</a:t>
            </a:r>
            <a:r>
              <a:rPr lang="en-US" sz="2400" dirty="0"/>
              <a:t> correspond with entity </a:t>
            </a:r>
            <a:r>
              <a:rPr lang="en-US" sz="2400" b="1" dirty="0"/>
              <a:t>instances</a:t>
            </a:r>
            <a:r>
              <a:rPr lang="en-US" sz="2400" dirty="0"/>
              <a:t>.</a:t>
            </a:r>
          </a:p>
          <a:p>
            <a:pPr lvl="1"/>
            <a:r>
              <a:rPr lang="en-US" sz="2400" b="1" dirty="0"/>
              <a:t>Columns</a:t>
            </a:r>
            <a:r>
              <a:rPr lang="en-US" sz="2400" dirty="0"/>
              <a:t> correspond with </a:t>
            </a:r>
            <a:r>
              <a:rPr lang="en-US" sz="2400" b="1" dirty="0"/>
              <a:t>attributes</a:t>
            </a:r>
            <a:r>
              <a:rPr lang="en-US" sz="2400" dirty="0"/>
              <a:t>.</a:t>
            </a:r>
          </a:p>
          <a:p>
            <a:endParaRPr lang="en-US" sz="500" dirty="0"/>
          </a:p>
        </p:txBody>
      </p:sp>
      <p:sp>
        <p:nvSpPr>
          <p:cNvPr id="6" name="Slide Number Placeholder 5"/>
          <p:cNvSpPr>
            <a:spLocks noGrp="1"/>
          </p:cNvSpPr>
          <p:nvPr>
            <p:ph type="sldNum" sz="quarter" idx="12"/>
          </p:nvPr>
        </p:nvSpPr>
        <p:spPr/>
        <p:txBody>
          <a:bodyPr/>
          <a:lstStyle/>
          <a:p>
            <a:fld id="{699373D4-17A5-4822-B711-D7D8168B8CE7}" type="slidenum">
              <a:rPr lang="en-IE" smtClean="0"/>
              <a:pPr/>
              <a:t>7</a:t>
            </a:fld>
            <a:endParaRPr lang="en-IE"/>
          </a:p>
        </p:txBody>
      </p:sp>
      <p:pic>
        <p:nvPicPr>
          <p:cNvPr id="13" name="Picture 12" descr="Fig02a.jpg"/>
          <p:cNvPicPr>
            <a:picLocks noChangeAspect="1"/>
          </p:cNvPicPr>
          <p:nvPr/>
        </p:nvPicPr>
        <p:blipFill>
          <a:blip r:embed="rId3" cstate="print"/>
          <a:stretch>
            <a:fillRect/>
          </a:stretch>
        </p:blipFill>
        <p:spPr>
          <a:xfrm>
            <a:off x="7423135" y="3874278"/>
            <a:ext cx="4601496" cy="2302685"/>
          </a:xfrm>
          <a:prstGeom prst="rect">
            <a:avLst/>
          </a:prstGeom>
        </p:spPr>
      </p:pic>
    </p:spTree>
    <p:extLst>
      <p:ext uri="{BB962C8B-B14F-4D97-AF65-F5344CB8AC3E}">
        <p14:creationId xmlns:p14="http://schemas.microsoft.com/office/powerpoint/2010/main" val="2390520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6326" name="AutoShape 6"/>
          <p:cNvSpPr>
            <a:spLocks noGrp="1" noChangeArrowheads="1"/>
          </p:cNvSpPr>
          <p:nvPr>
            <p:ph type="title"/>
          </p:nvPr>
        </p:nvSpPr>
        <p:spPr/>
        <p:txBody>
          <a:bodyPr/>
          <a:lstStyle/>
          <a:p>
            <a:r>
              <a:rPr lang="en-US" dirty="0"/>
              <a:t>Database Terminology</a:t>
            </a:r>
            <a:endParaRPr lang="en-GB" dirty="0"/>
          </a:p>
        </p:txBody>
      </p:sp>
      <p:sp>
        <p:nvSpPr>
          <p:cNvPr id="3896327" name="Rectangle 7"/>
          <p:cNvSpPr>
            <a:spLocks noGrp="1" noChangeArrowheads="1"/>
          </p:cNvSpPr>
          <p:nvPr>
            <p:ph idx="1"/>
          </p:nvPr>
        </p:nvSpPr>
        <p:spPr/>
        <p:txBody>
          <a:bodyPr>
            <a:noAutofit/>
          </a:bodyPr>
          <a:lstStyle/>
          <a:p>
            <a:endParaRPr lang="en-US" sz="500" dirty="0"/>
          </a:p>
          <a:p>
            <a:r>
              <a:rPr lang="en-US" sz="2400" b="1" dirty="0"/>
              <a:t>Integrity:</a:t>
            </a:r>
          </a:p>
          <a:p>
            <a:pPr lvl="1"/>
            <a:r>
              <a:rPr lang="en-US" sz="2400" dirty="0"/>
              <a:t>The </a:t>
            </a:r>
            <a:r>
              <a:rPr lang="en-US" sz="2400" b="1" dirty="0"/>
              <a:t>accuracy</a:t>
            </a:r>
            <a:r>
              <a:rPr lang="en-US" sz="2400" dirty="0"/>
              <a:t> and </a:t>
            </a:r>
            <a:r>
              <a:rPr lang="en-US" sz="2400" b="1" dirty="0"/>
              <a:t>correctness</a:t>
            </a:r>
            <a:r>
              <a:rPr lang="en-US" sz="2400" dirty="0"/>
              <a:t> of data.  </a:t>
            </a:r>
          </a:p>
          <a:p>
            <a:pPr lvl="1"/>
            <a:r>
              <a:rPr lang="en-US" sz="2400" dirty="0"/>
              <a:t>DBMS </a:t>
            </a:r>
            <a:r>
              <a:rPr lang="en-US" sz="2400" b="1" dirty="0"/>
              <a:t>enforce</a:t>
            </a:r>
            <a:r>
              <a:rPr lang="en-US" sz="2400" dirty="0"/>
              <a:t> integrity.</a:t>
            </a:r>
          </a:p>
          <a:p>
            <a:pPr lvl="1"/>
            <a:r>
              <a:rPr lang="en-US" sz="2400" dirty="0"/>
              <a:t>A </a:t>
            </a:r>
            <a:r>
              <a:rPr lang="en-US" sz="2400" b="1" dirty="0"/>
              <a:t>constraint</a:t>
            </a:r>
            <a:r>
              <a:rPr lang="en-US" sz="2400" dirty="0"/>
              <a:t> is any rule governing static values of attributes that is precise enough so that you can ascertain whether or not it is true. </a:t>
            </a:r>
          </a:p>
        </p:txBody>
      </p:sp>
      <p:sp>
        <p:nvSpPr>
          <p:cNvPr id="6" name="Slide Number Placeholder 5"/>
          <p:cNvSpPr>
            <a:spLocks noGrp="1"/>
          </p:cNvSpPr>
          <p:nvPr>
            <p:ph type="sldNum" sz="quarter" idx="12"/>
          </p:nvPr>
        </p:nvSpPr>
        <p:spPr/>
        <p:txBody>
          <a:bodyPr/>
          <a:lstStyle/>
          <a:p>
            <a:fld id="{699373D4-17A5-4822-B711-D7D8168B8CE7}" type="slidenum">
              <a:rPr lang="en-IE" smtClean="0"/>
              <a:pPr/>
              <a:t>8</a:t>
            </a:fld>
            <a:endParaRPr lang="en-IE"/>
          </a:p>
        </p:txBody>
      </p:sp>
    </p:spTree>
    <p:extLst>
      <p:ext uri="{BB962C8B-B14F-4D97-AF65-F5344CB8AC3E}">
        <p14:creationId xmlns:p14="http://schemas.microsoft.com/office/powerpoint/2010/main" val="3077551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914400" y="2889250"/>
            <a:ext cx="10515600" cy="1325563"/>
          </a:xfrm>
        </p:spPr>
        <p:txBody>
          <a:bodyPr/>
          <a:lstStyle/>
          <a:p>
            <a:r>
              <a:rPr lang="en-US" dirty="0"/>
              <a:t>Identifiers/keys</a:t>
            </a:r>
            <a:endParaRPr lang="en-IE" dirty="0"/>
          </a:p>
        </p:txBody>
      </p:sp>
      <p:sp>
        <p:nvSpPr>
          <p:cNvPr id="6" name="Lightning Bolt 5"/>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7" name="Lightning Bolt 6"/>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9" name="Lightning Bolt 8"/>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0" name="Lightning Bolt 9"/>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Slide Number Placeholder 1"/>
          <p:cNvSpPr>
            <a:spLocks noGrp="1"/>
          </p:cNvSpPr>
          <p:nvPr>
            <p:ph type="sldNum" sz="quarter" idx="12"/>
          </p:nvPr>
        </p:nvSpPr>
        <p:spPr/>
        <p:txBody>
          <a:bodyPr/>
          <a:lstStyle/>
          <a:p>
            <a:fld id="{7341093E-ADCE-4CEF-A0BC-E1F79F413BC5}" type="slidenum">
              <a:rPr lang="en-IE" smtClean="0"/>
              <a:t>9</a:t>
            </a:fld>
            <a:endParaRPr lang="en-IE"/>
          </a:p>
        </p:txBody>
      </p:sp>
    </p:spTree>
    <p:extLst>
      <p:ext uri="{BB962C8B-B14F-4D97-AF65-F5344CB8AC3E}">
        <p14:creationId xmlns:p14="http://schemas.microsoft.com/office/powerpoint/2010/main" val="2566466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4516" name="AutoShape 4"/>
          <p:cNvSpPr>
            <a:spLocks noGrp="1" noChangeArrowheads="1"/>
          </p:cNvSpPr>
          <p:nvPr>
            <p:ph type="title"/>
          </p:nvPr>
        </p:nvSpPr>
        <p:spPr/>
        <p:txBody>
          <a:bodyPr/>
          <a:lstStyle/>
          <a:p>
            <a:r>
              <a:rPr lang="en-US" dirty="0"/>
              <a:t>Identifiers/Keys</a:t>
            </a:r>
          </a:p>
        </p:txBody>
      </p:sp>
      <p:sp>
        <p:nvSpPr>
          <p:cNvPr id="3904517" name="Rectangle 5"/>
          <p:cNvSpPr>
            <a:spLocks noGrp="1" noChangeArrowheads="1"/>
          </p:cNvSpPr>
          <p:nvPr>
            <p:ph idx="1"/>
          </p:nvPr>
        </p:nvSpPr>
        <p:spPr/>
        <p:txBody>
          <a:bodyPr>
            <a:noAutofit/>
          </a:bodyPr>
          <a:lstStyle/>
          <a:p>
            <a:r>
              <a:rPr lang="en-US" dirty="0"/>
              <a:t>A </a:t>
            </a:r>
            <a:r>
              <a:rPr lang="en-US" b="1" dirty="0"/>
              <a:t>key</a:t>
            </a:r>
            <a:r>
              <a:rPr lang="en-US" dirty="0"/>
              <a:t> is one or more attributes (together) that uniquely identifies a tuple or row.</a:t>
            </a:r>
          </a:p>
          <a:p>
            <a:r>
              <a:rPr lang="en-IE" b="1" dirty="0"/>
              <a:t>Primary Key: </a:t>
            </a:r>
            <a:r>
              <a:rPr lang="en-IE" dirty="0"/>
              <a:t>The column or set of columns that uniquely identifies any given row.</a:t>
            </a:r>
          </a:p>
          <a:p>
            <a:pPr lvl="1"/>
            <a:r>
              <a:rPr lang="en-IE" sz="2000" dirty="0"/>
              <a:t>Would a name be a good primary key?</a:t>
            </a:r>
            <a:br>
              <a:rPr lang="en-IE" sz="2000" dirty="0"/>
            </a:br>
            <a:r>
              <a:rPr lang="en-IE" sz="2000" dirty="0"/>
              <a:t>Would a social insurance number be a good primary key?</a:t>
            </a:r>
            <a:br>
              <a:rPr lang="en-IE" sz="2000" dirty="0"/>
            </a:br>
            <a:r>
              <a:rPr lang="en-IE" sz="2000" dirty="0"/>
              <a:t>The value in the primary key can </a:t>
            </a:r>
            <a:r>
              <a:rPr lang="en-IE" sz="2000" b="1" dirty="0"/>
              <a:t>never</a:t>
            </a:r>
            <a:r>
              <a:rPr lang="en-IE" sz="2000" dirty="0"/>
              <a:t> point to more than one row in the table.</a:t>
            </a:r>
          </a:p>
        </p:txBody>
      </p:sp>
      <p:sp>
        <p:nvSpPr>
          <p:cNvPr id="6" name="Slide Number Placeholder 5"/>
          <p:cNvSpPr>
            <a:spLocks noGrp="1"/>
          </p:cNvSpPr>
          <p:nvPr>
            <p:ph type="sldNum" sz="quarter" idx="12"/>
          </p:nvPr>
        </p:nvSpPr>
        <p:spPr/>
        <p:txBody>
          <a:bodyPr/>
          <a:lstStyle/>
          <a:p>
            <a:fld id="{707FEA67-A055-40C8-80B7-DA57AD39ECBB}" type="slidenum">
              <a:rPr lang="en-IE"/>
              <a:pPr/>
              <a:t>10</a:t>
            </a:fld>
            <a:endParaRPr lang="en-IE"/>
          </a:p>
        </p:txBody>
      </p:sp>
    </p:spTree>
    <p:extLst>
      <p:ext uri="{BB962C8B-B14F-4D97-AF65-F5344CB8AC3E}">
        <p14:creationId xmlns:p14="http://schemas.microsoft.com/office/powerpoint/2010/main" val="1310024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4516" name="AutoShape 4"/>
          <p:cNvSpPr>
            <a:spLocks noGrp="1" noChangeArrowheads="1"/>
          </p:cNvSpPr>
          <p:nvPr>
            <p:ph type="title"/>
          </p:nvPr>
        </p:nvSpPr>
        <p:spPr/>
        <p:txBody>
          <a:bodyPr/>
          <a:lstStyle/>
          <a:p>
            <a:r>
              <a:rPr lang="en-US" dirty="0"/>
              <a:t>Identifiers/Keys Notation</a:t>
            </a:r>
          </a:p>
        </p:txBody>
      </p:sp>
      <p:sp>
        <p:nvSpPr>
          <p:cNvPr id="3904517" name="Rectangle 5"/>
          <p:cNvSpPr>
            <a:spLocks noGrp="1" noChangeArrowheads="1"/>
          </p:cNvSpPr>
          <p:nvPr>
            <p:ph idx="1"/>
          </p:nvPr>
        </p:nvSpPr>
        <p:spPr/>
        <p:txBody>
          <a:bodyPr>
            <a:noAutofit/>
          </a:bodyPr>
          <a:lstStyle/>
          <a:p>
            <a:pPr lvl="1"/>
            <a:r>
              <a:rPr lang="en-IE" sz="2400" dirty="0"/>
              <a:t>A table and its primary key can be described by writing the columns within parentheses, and underlining the primary key:</a:t>
            </a:r>
          </a:p>
          <a:p>
            <a:pPr>
              <a:buNone/>
            </a:pPr>
            <a:endParaRPr lang="en-IE" sz="1100" dirty="0"/>
          </a:p>
          <a:p>
            <a:pPr algn="ctr">
              <a:buNone/>
            </a:pPr>
            <a:r>
              <a:rPr lang="en-IE" sz="2400" b="1" dirty="0">
                <a:solidFill>
                  <a:srgbClr val="0000FF"/>
                </a:solidFill>
              </a:rPr>
              <a:t>STUDENTS</a:t>
            </a:r>
            <a:r>
              <a:rPr lang="en-IE" sz="2400" b="1" dirty="0"/>
              <a:t> </a:t>
            </a:r>
            <a:r>
              <a:rPr lang="en-IE" sz="2400" dirty="0"/>
              <a:t>(</a:t>
            </a:r>
            <a:r>
              <a:rPr lang="en-IE" sz="2400" b="1" u="sng" dirty="0"/>
              <a:t>StudentID</a:t>
            </a:r>
            <a:r>
              <a:rPr lang="en-IE" sz="2400" dirty="0"/>
              <a:t>, Name, Address, PhoneNumber, DOB)</a:t>
            </a:r>
            <a:endParaRPr lang="en-GB" sz="2400" dirty="0"/>
          </a:p>
          <a:p>
            <a:endParaRPr lang="en-US" sz="500" dirty="0"/>
          </a:p>
        </p:txBody>
      </p:sp>
      <p:sp>
        <p:nvSpPr>
          <p:cNvPr id="6" name="Slide Number Placeholder 5"/>
          <p:cNvSpPr>
            <a:spLocks noGrp="1"/>
          </p:cNvSpPr>
          <p:nvPr>
            <p:ph type="sldNum" sz="quarter" idx="12"/>
          </p:nvPr>
        </p:nvSpPr>
        <p:spPr/>
        <p:txBody>
          <a:bodyPr/>
          <a:lstStyle/>
          <a:p>
            <a:fld id="{707FEA67-A055-40C8-80B7-DA57AD39ECBB}" type="slidenum">
              <a:rPr lang="en-IE"/>
              <a:pPr/>
              <a:t>11</a:t>
            </a:fld>
            <a:endParaRPr lang="en-IE"/>
          </a:p>
        </p:txBody>
      </p:sp>
    </p:spTree>
    <p:extLst>
      <p:ext uri="{BB962C8B-B14F-4D97-AF65-F5344CB8AC3E}">
        <p14:creationId xmlns:p14="http://schemas.microsoft.com/office/powerpoint/2010/main" val="1498993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4516" name="AutoShape 4"/>
          <p:cNvSpPr>
            <a:spLocks noGrp="1" noChangeArrowheads="1"/>
          </p:cNvSpPr>
          <p:nvPr>
            <p:ph type="title"/>
          </p:nvPr>
        </p:nvSpPr>
        <p:spPr/>
        <p:txBody>
          <a:bodyPr/>
          <a:lstStyle/>
          <a:p>
            <a:r>
              <a:rPr lang="en-US" dirty="0"/>
              <a:t>Identifiers/Keys Types</a:t>
            </a:r>
          </a:p>
        </p:txBody>
      </p:sp>
      <p:sp>
        <p:nvSpPr>
          <p:cNvPr id="3904517" name="Rectangle 5"/>
          <p:cNvSpPr>
            <a:spLocks noGrp="1" noChangeArrowheads="1"/>
          </p:cNvSpPr>
          <p:nvPr>
            <p:ph idx="1"/>
          </p:nvPr>
        </p:nvSpPr>
        <p:spPr/>
        <p:txBody>
          <a:bodyPr>
            <a:noAutofit/>
          </a:bodyPr>
          <a:lstStyle/>
          <a:p>
            <a:endParaRPr lang="en-US" sz="500" dirty="0"/>
          </a:p>
          <a:p>
            <a:r>
              <a:rPr lang="en-US" b="1" dirty="0"/>
              <a:t>Types of key:</a:t>
            </a:r>
          </a:p>
          <a:p>
            <a:pPr lvl="1">
              <a:lnSpc>
                <a:spcPct val="150000"/>
              </a:lnSpc>
            </a:pPr>
            <a:r>
              <a:rPr lang="en-US" sz="2000" b="1" dirty="0"/>
              <a:t>Single</a:t>
            </a:r>
            <a:r>
              <a:rPr lang="en-US" sz="2000" dirty="0"/>
              <a:t> vs. </a:t>
            </a:r>
            <a:r>
              <a:rPr lang="en-US" sz="2000" b="1" dirty="0"/>
              <a:t>Combination/Composite</a:t>
            </a:r>
            <a:r>
              <a:rPr lang="en-US" sz="2000" dirty="0"/>
              <a:t> Key </a:t>
            </a:r>
          </a:p>
          <a:p>
            <a:pPr lvl="1">
              <a:lnSpc>
                <a:spcPct val="150000"/>
              </a:lnSpc>
            </a:pPr>
            <a:r>
              <a:rPr lang="en-US" sz="2000" b="1" dirty="0" err="1"/>
              <a:t>Superkeys</a:t>
            </a:r>
            <a:endParaRPr lang="en-US" sz="2000" b="1" dirty="0"/>
          </a:p>
          <a:p>
            <a:pPr lvl="1">
              <a:lnSpc>
                <a:spcPct val="150000"/>
              </a:lnSpc>
            </a:pPr>
            <a:r>
              <a:rPr lang="en-US" sz="2000" b="1" dirty="0"/>
              <a:t>Candidate</a:t>
            </a:r>
            <a:r>
              <a:rPr lang="en-US" sz="2000" dirty="0"/>
              <a:t> Keys</a:t>
            </a:r>
          </a:p>
          <a:p>
            <a:pPr lvl="2">
              <a:lnSpc>
                <a:spcPct val="150000"/>
              </a:lnSpc>
            </a:pPr>
            <a:r>
              <a:rPr lang="en-US" sz="1800" dirty="0"/>
              <a:t>Primary Keys vs. Alternative Keys</a:t>
            </a:r>
          </a:p>
          <a:p>
            <a:pPr lvl="1">
              <a:lnSpc>
                <a:spcPct val="150000"/>
              </a:lnSpc>
            </a:pPr>
            <a:r>
              <a:rPr lang="en-US" sz="2000" b="1" dirty="0"/>
              <a:t>Foreign Keys</a:t>
            </a:r>
          </a:p>
        </p:txBody>
      </p:sp>
      <p:sp>
        <p:nvSpPr>
          <p:cNvPr id="6" name="Slide Number Placeholder 5"/>
          <p:cNvSpPr>
            <a:spLocks noGrp="1"/>
          </p:cNvSpPr>
          <p:nvPr>
            <p:ph type="sldNum" sz="quarter" idx="12"/>
          </p:nvPr>
        </p:nvSpPr>
        <p:spPr/>
        <p:txBody>
          <a:bodyPr/>
          <a:lstStyle/>
          <a:p>
            <a:fld id="{707FEA67-A055-40C8-80B7-DA57AD39ECBB}" type="slidenum">
              <a:rPr lang="en-IE"/>
              <a:pPr/>
              <a:t>12</a:t>
            </a:fld>
            <a:endParaRPr lang="en-IE"/>
          </a:p>
        </p:txBody>
      </p:sp>
    </p:spTree>
    <p:extLst>
      <p:ext uri="{BB962C8B-B14F-4D97-AF65-F5344CB8AC3E}">
        <p14:creationId xmlns:p14="http://schemas.microsoft.com/office/powerpoint/2010/main" val="3528240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6916" name="AutoShape 4"/>
          <p:cNvSpPr>
            <a:spLocks noGrp="1" noChangeArrowheads="1"/>
          </p:cNvSpPr>
          <p:nvPr>
            <p:ph type="title"/>
          </p:nvPr>
        </p:nvSpPr>
        <p:spPr/>
        <p:txBody>
          <a:bodyPr/>
          <a:lstStyle/>
          <a:p>
            <a:r>
              <a:rPr lang="en-US" dirty="0"/>
              <a:t>Identifiers/Keys</a:t>
            </a:r>
            <a:endParaRPr lang="en-GB" dirty="0"/>
          </a:p>
        </p:txBody>
      </p:sp>
      <p:sp>
        <p:nvSpPr>
          <p:cNvPr id="4006917" name="Rectangle 5"/>
          <p:cNvSpPr>
            <a:spLocks noGrp="1" noChangeArrowheads="1"/>
          </p:cNvSpPr>
          <p:nvPr>
            <p:ph idx="1"/>
          </p:nvPr>
        </p:nvSpPr>
        <p:spPr/>
        <p:txBody>
          <a:bodyPr>
            <a:normAutofit lnSpcReduction="10000"/>
          </a:bodyPr>
          <a:lstStyle/>
          <a:p>
            <a:r>
              <a:rPr lang="en-US" b="1" dirty="0"/>
              <a:t>Single</a:t>
            </a:r>
            <a:endParaRPr lang="en-US" dirty="0"/>
          </a:p>
          <a:p>
            <a:pPr marL="0" indent="0">
              <a:buNone/>
            </a:pPr>
            <a:r>
              <a:rPr lang="en-IE" b="1" dirty="0">
                <a:solidFill>
                  <a:srgbClr val="0000FF"/>
                </a:solidFill>
              </a:rPr>
              <a:t>STUDENTS</a:t>
            </a:r>
            <a:r>
              <a:rPr lang="en-IE" b="1" dirty="0"/>
              <a:t> </a:t>
            </a:r>
            <a:r>
              <a:rPr lang="en-IE" dirty="0"/>
              <a:t>(</a:t>
            </a:r>
            <a:r>
              <a:rPr lang="en-IE" b="1" u="sng" dirty="0" err="1"/>
              <a:t>StudentID</a:t>
            </a:r>
            <a:r>
              <a:rPr lang="en-IE" dirty="0"/>
              <a:t>, </a:t>
            </a:r>
            <a:r>
              <a:rPr lang="en-IE" dirty="0" err="1"/>
              <a:t>Stu_Name</a:t>
            </a:r>
            <a:r>
              <a:rPr lang="en-IE" dirty="0"/>
              <a:t>, Address, </a:t>
            </a:r>
            <a:r>
              <a:rPr lang="en-IE" dirty="0" err="1"/>
              <a:t>PhoneNumber</a:t>
            </a:r>
            <a:r>
              <a:rPr lang="en-IE" dirty="0"/>
              <a:t>)</a:t>
            </a:r>
            <a:endParaRPr lang="en-GB" dirty="0"/>
          </a:p>
          <a:p>
            <a:pPr marL="0" indent="0">
              <a:buNone/>
            </a:pPr>
            <a:r>
              <a:rPr lang="en-IE" b="1" dirty="0">
                <a:solidFill>
                  <a:srgbClr val="0000FF"/>
                </a:solidFill>
              </a:rPr>
              <a:t>MODULES</a:t>
            </a:r>
            <a:r>
              <a:rPr lang="en-IE" b="1" dirty="0"/>
              <a:t> </a:t>
            </a:r>
            <a:r>
              <a:rPr lang="en-IE" dirty="0"/>
              <a:t>(</a:t>
            </a:r>
            <a:r>
              <a:rPr lang="en-IE" b="1" u="sng" dirty="0" err="1"/>
              <a:t>ModuleID</a:t>
            </a:r>
            <a:r>
              <a:rPr lang="en-IE" dirty="0"/>
              <a:t>, </a:t>
            </a:r>
            <a:r>
              <a:rPr lang="en-IE" dirty="0" err="1"/>
              <a:t>Module_Name</a:t>
            </a:r>
            <a:r>
              <a:rPr lang="en-IE" dirty="0"/>
              <a:t>)</a:t>
            </a:r>
          </a:p>
          <a:p>
            <a:r>
              <a:rPr lang="en-US" b="1" dirty="0"/>
              <a:t>Combination</a:t>
            </a:r>
            <a:r>
              <a:rPr lang="en-US" dirty="0"/>
              <a:t> Key</a:t>
            </a:r>
            <a:endParaRPr lang="en-IE" b="1" dirty="0">
              <a:solidFill>
                <a:srgbClr val="0000FF"/>
              </a:solidFill>
            </a:endParaRPr>
          </a:p>
          <a:p>
            <a:pPr marL="0" indent="0">
              <a:buNone/>
            </a:pPr>
            <a:r>
              <a:rPr lang="en-IE" b="1" dirty="0">
                <a:solidFill>
                  <a:srgbClr val="0000FF"/>
                </a:solidFill>
              </a:rPr>
              <a:t>STUDENT_MODULE_REGISTRATION</a:t>
            </a:r>
            <a:r>
              <a:rPr lang="en-IE" b="1" dirty="0"/>
              <a:t> </a:t>
            </a:r>
            <a:r>
              <a:rPr lang="en-IE" dirty="0"/>
              <a:t>(</a:t>
            </a:r>
            <a:r>
              <a:rPr lang="en-IE" b="1" u="sng" dirty="0" err="1"/>
              <a:t>StudentID</a:t>
            </a:r>
            <a:r>
              <a:rPr lang="en-IE" dirty="0"/>
              <a:t>, </a:t>
            </a:r>
            <a:r>
              <a:rPr lang="en-IE" b="1" u="sng" dirty="0" err="1"/>
              <a:t>ModuleID</a:t>
            </a:r>
            <a:r>
              <a:rPr lang="en-IE" dirty="0"/>
              <a:t>, year, semester)</a:t>
            </a:r>
            <a:endParaRPr lang="en-GB" dirty="0"/>
          </a:p>
          <a:p>
            <a:pPr marL="0" indent="0">
              <a:buNone/>
            </a:pPr>
            <a:endParaRPr lang="en-GB" dirty="0"/>
          </a:p>
          <a:p>
            <a:endParaRPr lang="en-US" dirty="0"/>
          </a:p>
          <a:p>
            <a:endParaRPr lang="en-US" dirty="0"/>
          </a:p>
        </p:txBody>
      </p:sp>
      <p:sp>
        <p:nvSpPr>
          <p:cNvPr id="6" name="Slide Number Placeholder 5"/>
          <p:cNvSpPr>
            <a:spLocks noGrp="1"/>
          </p:cNvSpPr>
          <p:nvPr>
            <p:ph type="sldNum" sz="quarter" idx="12"/>
          </p:nvPr>
        </p:nvSpPr>
        <p:spPr/>
        <p:txBody>
          <a:bodyPr/>
          <a:lstStyle/>
          <a:p>
            <a:fld id="{0ACB87E0-A25F-4CBB-AE44-F33203878C94}" type="slidenum">
              <a:rPr lang="en-IE" smtClean="0"/>
              <a:pPr/>
              <a:t>13</a:t>
            </a:fld>
            <a:endParaRPr lang="en-IE"/>
          </a:p>
        </p:txBody>
      </p:sp>
    </p:spTree>
    <p:extLst>
      <p:ext uri="{BB962C8B-B14F-4D97-AF65-F5344CB8AC3E}">
        <p14:creationId xmlns:p14="http://schemas.microsoft.com/office/powerpoint/2010/main" val="212811652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6916" name="AutoShape 4"/>
          <p:cNvSpPr>
            <a:spLocks noGrp="1" noChangeArrowheads="1"/>
          </p:cNvSpPr>
          <p:nvPr>
            <p:ph type="title"/>
          </p:nvPr>
        </p:nvSpPr>
        <p:spPr/>
        <p:txBody>
          <a:bodyPr/>
          <a:lstStyle/>
          <a:p>
            <a:r>
              <a:rPr lang="en-US" dirty="0"/>
              <a:t>Identifiers/Keys </a:t>
            </a:r>
            <a:r>
              <a:rPr lang="en-US" dirty="0" err="1"/>
              <a:t>Superkey</a:t>
            </a:r>
            <a:endParaRPr lang="en-GB" dirty="0"/>
          </a:p>
        </p:txBody>
      </p:sp>
      <p:sp>
        <p:nvSpPr>
          <p:cNvPr id="4006917" name="Rectangle 5"/>
          <p:cNvSpPr>
            <a:spLocks noGrp="1" noChangeArrowheads="1"/>
          </p:cNvSpPr>
          <p:nvPr>
            <p:ph idx="1"/>
          </p:nvPr>
        </p:nvSpPr>
        <p:spPr/>
        <p:txBody>
          <a:bodyPr>
            <a:normAutofit/>
          </a:bodyPr>
          <a:lstStyle/>
          <a:p>
            <a:r>
              <a:rPr lang="en-IE" b="1" dirty="0" err="1"/>
              <a:t>Superkey</a:t>
            </a:r>
            <a:r>
              <a:rPr lang="en-IE" b="1" dirty="0"/>
              <a:t>:</a:t>
            </a:r>
          </a:p>
          <a:p>
            <a:pPr lvl="1"/>
            <a:r>
              <a:rPr lang="en-IE" dirty="0"/>
              <a:t>An attribute or set of attributes that uniquely identify rows in a table.</a:t>
            </a:r>
          </a:p>
          <a:p>
            <a:pPr lvl="2"/>
            <a:r>
              <a:rPr lang="en-IE" dirty="0"/>
              <a:t>i.e. two distinct rows are always guaranteed to have distinct </a:t>
            </a:r>
            <a:r>
              <a:rPr lang="en-IE" dirty="0" err="1"/>
              <a:t>superkeys</a:t>
            </a:r>
            <a:r>
              <a:rPr lang="en-IE" dirty="0"/>
              <a:t>.</a:t>
            </a:r>
          </a:p>
        </p:txBody>
      </p:sp>
      <p:sp>
        <p:nvSpPr>
          <p:cNvPr id="6" name="Slide Number Placeholder 5"/>
          <p:cNvSpPr>
            <a:spLocks noGrp="1"/>
          </p:cNvSpPr>
          <p:nvPr>
            <p:ph type="sldNum" sz="quarter" idx="12"/>
          </p:nvPr>
        </p:nvSpPr>
        <p:spPr/>
        <p:txBody>
          <a:bodyPr/>
          <a:lstStyle/>
          <a:p>
            <a:fld id="{0ACB87E0-A25F-4CBB-AE44-F33203878C94}" type="slidenum">
              <a:rPr lang="en-IE" smtClean="0"/>
              <a:pPr/>
              <a:t>14</a:t>
            </a:fld>
            <a:endParaRPr lang="en-IE"/>
          </a:p>
        </p:txBody>
      </p:sp>
    </p:spTree>
    <p:extLst>
      <p:ext uri="{BB962C8B-B14F-4D97-AF65-F5344CB8AC3E}">
        <p14:creationId xmlns:p14="http://schemas.microsoft.com/office/powerpoint/2010/main" val="423871665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r>
              <a:rPr lang="en-US" dirty="0" err="1"/>
              <a:t>Superkeys</a:t>
            </a:r>
            <a:endParaRPr lang="en-IE" dirty="0"/>
          </a:p>
        </p:txBody>
      </p:sp>
      <p:graphicFrame>
        <p:nvGraphicFramePr>
          <p:cNvPr id="8" name="Content Placeholder 7"/>
          <p:cNvGraphicFramePr>
            <a:graphicFrameLocks noGrp="1"/>
          </p:cNvGraphicFramePr>
          <p:nvPr>
            <p:ph sz="half" idx="1"/>
            <p:extLst>
              <p:ext uri="{D42A27DB-BD31-4B8C-83A1-F6EECF244321}">
                <p14:modId xmlns:p14="http://schemas.microsoft.com/office/powerpoint/2010/main" val="3213147954"/>
              </p:ext>
            </p:extLst>
          </p:nvPr>
        </p:nvGraphicFramePr>
        <p:xfrm>
          <a:off x="838196" y="1825625"/>
          <a:ext cx="9707884" cy="1752600"/>
        </p:xfrm>
        <a:graphic>
          <a:graphicData uri="http://schemas.openxmlformats.org/drawingml/2006/table">
            <a:tbl>
              <a:tblPr firstRow="1" bandRow="1">
                <a:tableStyleId>{5C22544A-7EE6-4342-B048-85BDC9FD1C3A}</a:tableStyleId>
              </a:tblPr>
              <a:tblGrid>
                <a:gridCol w="1561142">
                  <a:extLst>
                    <a:ext uri="{9D8B030D-6E8A-4147-A177-3AD203B41FA5}">
                      <a16:colId xmlns:a16="http://schemas.microsoft.com/office/drawing/2014/main" val="3317465487"/>
                    </a:ext>
                  </a:extLst>
                </a:gridCol>
                <a:gridCol w="1561142">
                  <a:extLst>
                    <a:ext uri="{9D8B030D-6E8A-4147-A177-3AD203B41FA5}">
                      <a16:colId xmlns:a16="http://schemas.microsoft.com/office/drawing/2014/main" val="2293570824"/>
                    </a:ext>
                  </a:extLst>
                </a:gridCol>
                <a:gridCol w="1693560">
                  <a:extLst>
                    <a:ext uri="{9D8B030D-6E8A-4147-A177-3AD203B41FA5}">
                      <a16:colId xmlns:a16="http://schemas.microsoft.com/office/drawing/2014/main" val="1136504317"/>
                    </a:ext>
                  </a:extLst>
                </a:gridCol>
                <a:gridCol w="1428724">
                  <a:extLst>
                    <a:ext uri="{9D8B030D-6E8A-4147-A177-3AD203B41FA5}">
                      <a16:colId xmlns:a16="http://schemas.microsoft.com/office/drawing/2014/main" val="881396950"/>
                    </a:ext>
                  </a:extLst>
                </a:gridCol>
                <a:gridCol w="1561142">
                  <a:extLst>
                    <a:ext uri="{9D8B030D-6E8A-4147-A177-3AD203B41FA5}">
                      <a16:colId xmlns:a16="http://schemas.microsoft.com/office/drawing/2014/main" val="2374318402"/>
                    </a:ext>
                  </a:extLst>
                </a:gridCol>
                <a:gridCol w="1902174">
                  <a:extLst>
                    <a:ext uri="{9D8B030D-6E8A-4147-A177-3AD203B41FA5}">
                      <a16:colId xmlns:a16="http://schemas.microsoft.com/office/drawing/2014/main" val="800023015"/>
                    </a:ext>
                  </a:extLst>
                </a:gridCol>
              </a:tblGrid>
              <a:tr h="370840">
                <a:tc>
                  <a:txBody>
                    <a:bodyPr/>
                    <a:lstStyle/>
                    <a:p>
                      <a:r>
                        <a:rPr lang="en-US" dirty="0" err="1"/>
                        <a:t>Stud_ID</a:t>
                      </a:r>
                      <a:endParaRPr lang="en-IE" dirty="0"/>
                    </a:p>
                  </a:txBody>
                  <a:tcPr/>
                </a:tc>
                <a:tc>
                  <a:txBody>
                    <a:bodyPr/>
                    <a:lstStyle/>
                    <a:p>
                      <a:r>
                        <a:rPr lang="en-US" dirty="0" err="1"/>
                        <a:t>LastName</a:t>
                      </a:r>
                      <a:endParaRPr lang="en-IE" dirty="0"/>
                    </a:p>
                  </a:txBody>
                  <a:tcPr/>
                </a:tc>
                <a:tc>
                  <a:txBody>
                    <a:bodyPr/>
                    <a:lstStyle/>
                    <a:p>
                      <a:r>
                        <a:rPr lang="en-US" dirty="0"/>
                        <a:t>specialization</a:t>
                      </a:r>
                      <a:endParaRPr lang="en-IE" dirty="0"/>
                    </a:p>
                  </a:txBody>
                  <a:tcPr/>
                </a:tc>
                <a:tc>
                  <a:txBody>
                    <a:bodyPr/>
                    <a:lstStyle/>
                    <a:p>
                      <a:r>
                        <a:rPr lang="en-US" dirty="0"/>
                        <a:t>credits</a:t>
                      </a:r>
                      <a:endParaRPr lang="en-I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stage</a:t>
                      </a:r>
                      <a:endParaRPr lang="en-IE" dirty="0"/>
                    </a:p>
                    <a:p>
                      <a:endParaRPr lang="en-IE" dirty="0"/>
                    </a:p>
                  </a:txBody>
                  <a:tcPr/>
                </a:tc>
                <a:tc>
                  <a:txBody>
                    <a:bodyPr/>
                    <a:lstStyle/>
                    <a:p>
                      <a:r>
                        <a:rPr lang="en-US" dirty="0" err="1"/>
                        <a:t>PPS_number</a:t>
                      </a:r>
                      <a:endParaRPr lang="en-IE" dirty="0"/>
                    </a:p>
                  </a:txBody>
                  <a:tcPr/>
                </a:tc>
                <a:extLst>
                  <a:ext uri="{0D108BD9-81ED-4DB2-BD59-A6C34878D82A}">
                    <a16:rowId xmlns:a16="http://schemas.microsoft.com/office/drawing/2014/main" val="4098340582"/>
                  </a:ext>
                </a:extLst>
              </a:tr>
              <a:tr h="370840">
                <a:tc>
                  <a:txBody>
                    <a:bodyPr/>
                    <a:lstStyle/>
                    <a:p>
                      <a:r>
                        <a:rPr lang="en-US" dirty="0"/>
                        <a:t>1001</a:t>
                      </a:r>
                      <a:endParaRPr lang="en-IE" dirty="0"/>
                    </a:p>
                  </a:txBody>
                  <a:tcPr/>
                </a:tc>
                <a:tc>
                  <a:txBody>
                    <a:bodyPr/>
                    <a:lstStyle/>
                    <a:p>
                      <a:r>
                        <a:rPr lang="en-US" dirty="0"/>
                        <a:t>Jones</a:t>
                      </a:r>
                      <a:endParaRPr lang="en-IE" dirty="0"/>
                    </a:p>
                  </a:txBody>
                  <a:tcPr/>
                </a:tc>
                <a:tc>
                  <a:txBody>
                    <a:bodyPr/>
                    <a:lstStyle/>
                    <a:p>
                      <a:r>
                        <a:rPr lang="en-US" dirty="0"/>
                        <a:t>Data</a:t>
                      </a:r>
                      <a:r>
                        <a:rPr lang="en-US" baseline="0" dirty="0"/>
                        <a:t> Analytics</a:t>
                      </a:r>
                      <a:endParaRPr lang="en-IE" dirty="0"/>
                    </a:p>
                  </a:txBody>
                  <a:tcPr/>
                </a:tc>
                <a:tc>
                  <a:txBody>
                    <a:bodyPr/>
                    <a:lstStyle/>
                    <a:p>
                      <a:r>
                        <a:rPr lang="en-US" dirty="0"/>
                        <a:t>20</a:t>
                      </a:r>
                      <a:endParaRPr lang="en-IE" dirty="0"/>
                    </a:p>
                  </a:txBody>
                  <a:tcPr/>
                </a:tc>
                <a:tc>
                  <a:txBody>
                    <a:bodyPr/>
                    <a:lstStyle/>
                    <a:p>
                      <a:r>
                        <a:rPr lang="en-US" dirty="0"/>
                        <a:t>1</a:t>
                      </a:r>
                      <a:endParaRPr lang="en-IE" dirty="0"/>
                    </a:p>
                  </a:txBody>
                  <a:tcPr/>
                </a:tc>
                <a:tc>
                  <a:txBody>
                    <a:bodyPr/>
                    <a:lstStyle/>
                    <a:p>
                      <a:r>
                        <a:rPr lang="en-US" dirty="0"/>
                        <a:t>123456</a:t>
                      </a:r>
                      <a:endParaRPr lang="en-IE" dirty="0"/>
                    </a:p>
                  </a:txBody>
                  <a:tcPr/>
                </a:tc>
                <a:extLst>
                  <a:ext uri="{0D108BD9-81ED-4DB2-BD59-A6C34878D82A}">
                    <a16:rowId xmlns:a16="http://schemas.microsoft.com/office/drawing/2014/main" val="1440319269"/>
                  </a:ext>
                </a:extLst>
              </a:tr>
              <a:tr h="370840">
                <a:tc>
                  <a:txBody>
                    <a:bodyPr/>
                    <a:lstStyle/>
                    <a:p>
                      <a:r>
                        <a:rPr lang="en-US" dirty="0"/>
                        <a:t>1022</a:t>
                      </a:r>
                      <a:endParaRPr lang="en-IE" dirty="0"/>
                    </a:p>
                  </a:txBody>
                  <a:tcPr/>
                </a:tc>
                <a:tc>
                  <a:txBody>
                    <a:bodyPr/>
                    <a:lstStyle/>
                    <a:p>
                      <a:r>
                        <a:rPr lang="en-US" dirty="0"/>
                        <a:t>Murphy</a:t>
                      </a:r>
                      <a:endParaRPr lang="en-IE" dirty="0"/>
                    </a:p>
                  </a:txBody>
                  <a:tcPr/>
                </a:tc>
                <a:tc>
                  <a:txBody>
                    <a:bodyPr/>
                    <a:lstStyle/>
                    <a:p>
                      <a:r>
                        <a:rPr lang="en-US" dirty="0"/>
                        <a:t>Data Analytics</a:t>
                      </a:r>
                      <a:endParaRPr lang="en-IE" dirty="0"/>
                    </a:p>
                  </a:txBody>
                  <a:tcPr/>
                </a:tc>
                <a:tc>
                  <a:txBody>
                    <a:bodyPr/>
                    <a:lstStyle/>
                    <a:p>
                      <a:r>
                        <a:rPr lang="en-US" dirty="0"/>
                        <a:t>55</a:t>
                      </a:r>
                      <a:endParaRPr lang="en-IE" dirty="0"/>
                    </a:p>
                  </a:txBody>
                  <a:tcPr/>
                </a:tc>
                <a:tc>
                  <a:txBody>
                    <a:bodyPr/>
                    <a:lstStyle/>
                    <a:p>
                      <a:r>
                        <a:rPr lang="en-US" dirty="0"/>
                        <a:t>4</a:t>
                      </a:r>
                      <a:endParaRPr lang="en-IE" dirty="0"/>
                    </a:p>
                  </a:txBody>
                  <a:tcPr/>
                </a:tc>
                <a:tc>
                  <a:txBody>
                    <a:bodyPr/>
                    <a:lstStyle/>
                    <a:p>
                      <a:r>
                        <a:rPr lang="en-US" dirty="0"/>
                        <a:t>431312</a:t>
                      </a:r>
                      <a:endParaRPr lang="en-IE" dirty="0"/>
                    </a:p>
                  </a:txBody>
                  <a:tcPr/>
                </a:tc>
                <a:extLst>
                  <a:ext uri="{0D108BD9-81ED-4DB2-BD59-A6C34878D82A}">
                    <a16:rowId xmlns:a16="http://schemas.microsoft.com/office/drawing/2014/main" val="41323324"/>
                  </a:ext>
                </a:extLst>
              </a:tr>
              <a:tr h="370840">
                <a:tc>
                  <a:txBody>
                    <a:bodyPr/>
                    <a:lstStyle/>
                    <a:p>
                      <a:r>
                        <a:rPr lang="en-US" dirty="0"/>
                        <a:t>2012</a:t>
                      </a:r>
                      <a:endParaRPr lang="en-IE" dirty="0"/>
                    </a:p>
                  </a:txBody>
                  <a:tcPr/>
                </a:tc>
                <a:tc>
                  <a:txBody>
                    <a:bodyPr/>
                    <a:lstStyle/>
                    <a:p>
                      <a:r>
                        <a:rPr lang="en-US" dirty="0"/>
                        <a:t>Ryan</a:t>
                      </a:r>
                      <a:endParaRPr lang="en-IE" dirty="0"/>
                    </a:p>
                  </a:txBody>
                  <a:tcPr/>
                </a:tc>
                <a:tc>
                  <a:txBody>
                    <a:bodyPr/>
                    <a:lstStyle/>
                    <a:p>
                      <a:r>
                        <a:rPr lang="en-US" dirty="0"/>
                        <a:t>Development</a:t>
                      </a:r>
                      <a:endParaRPr lang="en-IE" dirty="0"/>
                    </a:p>
                  </a:txBody>
                  <a:tcPr/>
                </a:tc>
                <a:tc>
                  <a:txBody>
                    <a:bodyPr/>
                    <a:lstStyle/>
                    <a:p>
                      <a:r>
                        <a:rPr lang="en-US" dirty="0"/>
                        <a:t>35</a:t>
                      </a:r>
                      <a:endParaRPr lang="en-IE" dirty="0"/>
                    </a:p>
                  </a:txBody>
                  <a:tcPr/>
                </a:tc>
                <a:tc>
                  <a:txBody>
                    <a:bodyPr/>
                    <a:lstStyle/>
                    <a:p>
                      <a:r>
                        <a:rPr lang="en-US" dirty="0"/>
                        <a:t>3</a:t>
                      </a:r>
                      <a:endParaRPr lang="en-IE" dirty="0"/>
                    </a:p>
                  </a:txBody>
                  <a:tcPr/>
                </a:tc>
                <a:tc>
                  <a:txBody>
                    <a:bodyPr/>
                    <a:lstStyle/>
                    <a:p>
                      <a:r>
                        <a:rPr lang="en-US" dirty="0"/>
                        <a:t>321231</a:t>
                      </a:r>
                      <a:endParaRPr lang="en-IE" dirty="0"/>
                    </a:p>
                  </a:txBody>
                  <a:tcPr/>
                </a:tc>
                <a:extLst>
                  <a:ext uri="{0D108BD9-81ED-4DB2-BD59-A6C34878D82A}">
                    <a16:rowId xmlns:a16="http://schemas.microsoft.com/office/drawing/2014/main" val="3873345963"/>
                  </a:ext>
                </a:extLst>
              </a:tr>
            </a:tbl>
          </a:graphicData>
        </a:graphic>
      </p:graphicFrame>
      <p:sp>
        <p:nvSpPr>
          <p:cNvPr id="5" name="Content Placeholder 4"/>
          <p:cNvSpPr>
            <a:spLocks noGrp="1"/>
          </p:cNvSpPr>
          <p:nvPr>
            <p:ph sz="half" idx="2"/>
          </p:nvPr>
        </p:nvSpPr>
        <p:spPr>
          <a:xfrm>
            <a:off x="631878" y="4251642"/>
            <a:ext cx="10721922" cy="2463800"/>
          </a:xfrm>
        </p:spPr>
        <p:txBody>
          <a:bodyPr numCol="2">
            <a:normAutofit fontScale="55000" lnSpcReduction="20000"/>
          </a:bodyPr>
          <a:lstStyle/>
          <a:p>
            <a:pPr lvl="1"/>
            <a:r>
              <a:rPr lang="en-US" dirty="0" err="1"/>
              <a:t>Stud_ID</a:t>
            </a:r>
            <a:endParaRPr lang="en-US" dirty="0"/>
          </a:p>
          <a:p>
            <a:pPr lvl="1"/>
            <a:r>
              <a:rPr lang="en-US" dirty="0" err="1"/>
              <a:t>Stud_ID</a:t>
            </a:r>
            <a:r>
              <a:rPr lang="en-US" dirty="0"/>
              <a:t>, </a:t>
            </a:r>
            <a:r>
              <a:rPr lang="en-US" dirty="0" err="1"/>
              <a:t>LastName</a:t>
            </a:r>
            <a:endParaRPr lang="en-US" dirty="0"/>
          </a:p>
          <a:p>
            <a:pPr lvl="1"/>
            <a:r>
              <a:rPr lang="en-US" dirty="0" err="1"/>
              <a:t>Stud_ID</a:t>
            </a:r>
            <a:r>
              <a:rPr lang="en-US" dirty="0"/>
              <a:t>, </a:t>
            </a:r>
            <a:r>
              <a:rPr lang="en-US" dirty="0" err="1"/>
              <a:t>LastName</a:t>
            </a:r>
            <a:r>
              <a:rPr lang="en-US" dirty="0"/>
              <a:t>, specialization</a:t>
            </a:r>
          </a:p>
          <a:p>
            <a:pPr lvl="1"/>
            <a:r>
              <a:rPr lang="en-US" dirty="0" err="1"/>
              <a:t>PPS_number</a:t>
            </a:r>
            <a:endParaRPr lang="en-US" dirty="0"/>
          </a:p>
          <a:p>
            <a:pPr lvl="1"/>
            <a:endParaRPr lang="en-US" dirty="0"/>
          </a:p>
          <a:p>
            <a:pPr marL="457200" lvl="1" indent="0">
              <a:buNone/>
            </a:pPr>
            <a:endParaRPr lang="en-US" dirty="0"/>
          </a:p>
          <a:p>
            <a:pPr lvl="1"/>
            <a:r>
              <a:rPr lang="en-US" dirty="0" err="1"/>
              <a:t>PPS_number</a:t>
            </a:r>
            <a:r>
              <a:rPr lang="en-US" dirty="0"/>
              <a:t>, </a:t>
            </a:r>
            <a:r>
              <a:rPr lang="en-US" dirty="0" err="1"/>
              <a:t>LastName</a:t>
            </a:r>
            <a:endParaRPr lang="en-US" dirty="0"/>
          </a:p>
          <a:p>
            <a:pPr lvl="1"/>
            <a:r>
              <a:rPr lang="en-US" dirty="0" err="1"/>
              <a:t>PPS_number</a:t>
            </a:r>
            <a:r>
              <a:rPr lang="en-US" dirty="0"/>
              <a:t>, stage</a:t>
            </a:r>
          </a:p>
          <a:p>
            <a:pPr lvl="1"/>
            <a:r>
              <a:rPr lang="en-US" dirty="0"/>
              <a:t>….</a:t>
            </a:r>
          </a:p>
          <a:p>
            <a:pPr lvl="1"/>
            <a:r>
              <a:rPr lang="en-US" dirty="0" err="1"/>
              <a:t>Stud_ID</a:t>
            </a:r>
            <a:r>
              <a:rPr lang="en-US" dirty="0"/>
              <a:t>, </a:t>
            </a:r>
            <a:r>
              <a:rPr lang="en-US" dirty="0" err="1"/>
              <a:t>LastName</a:t>
            </a:r>
            <a:r>
              <a:rPr lang="en-US" dirty="0"/>
              <a:t>, specialization, credits, stage, </a:t>
            </a:r>
            <a:r>
              <a:rPr lang="en-US" dirty="0" err="1"/>
              <a:t>PPS_number</a:t>
            </a:r>
            <a:endParaRPr lang="en-US" dirty="0"/>
          </a:p>
          <a:p>
            <a:pPr lvl="1"/>
            <a:endParaRPr lang="en-US" dirty="0"/>
          </a:p>
          <a:p>
            <a:pPr lvl="1"/>
            <a:endParaRPr lang="en-IE" dirty="0"/>
          </a:p>
        </p:txBody>
      </p:sp>
      <p:sp>
        <p:nvSpPr>
          <p:cNvPr id="6" name="Lightning Bolt 5"/>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7" name="Lightning Bolt 6"/>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4080377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6916" name="AutoShape 4"/>
          <p:cNvSpPr>
            <a:spLocks noGrp="1" noChangeArrowheads="1"/>
          </p:cNvSpPr>
          <p:nvPr>
            <p:ph type="title"/>
          </p:nvPr>
        </p:nvSpPr>
        <p:spPr/>
        <p:txBody>
          <a:bodyPr/>
          <a:lstStyle/>
          <a:p>
            <a:r>
              <a:rPr lang="en-US" dirty="0"/>
              <a:t>Identifiers/Keys Candidate Key</a:t>
            </a:r>
            <a:endParaRPr lang="en-GB" dirty="0"/>
          </a:p>
        </p:txBody>
      </p:sp>
      <p:sp>
        <p:nvSpPr>
          <p:cNvPr id="4006917" name="Rectangle 5"/>
          <p:cNvSpPr>
            <a:spLocks noGrp="1" noChangeArrowheads="1"/>
          </p:cNvSpPr>
          <p:nvPr>
            <p:ph idx="1"/>
          </p:nvPr>
        </p:nvSpPr>
        <p:spPr/>
        <p:txBody>
          <a:bodyPr>
            <a:normAutofit/>
          </a:bodyPr>
          <a:lstStyle/>
          <a:p>
            <a:r>
              <a:rPr lang="en-IE" b="1" dirty="0"/>
              <a:t>Candidate Key:</a:t>
            </a:r>
          </a:p>
          <a:p>
            <a:pPr lvl="1"/>
            <a:r>
              <a:rPr lang="en-IE" dirty="0"/>
              <a:t>A minimal </a:t>
            </a:r>
            <a:r>
              <a:rPr lang="en-IE" dirty="0" err="1"/>
              <a:t>superkey</a:t>
            </a:r>
            <a:endParaRPr lang="en-IE" dirty="0"/>
          </a:p>
          <a:p>
            <a:pPr lvl="1"/>
            <a:r>
              <a:rPr lang="en-IE" dirty="0"/>
              <a:t>i.e. a </a:t>
            </a:r>
            <a:r>
              <a:rPr lang="en-IE" dirty="0" err="1"/>
              <a:t>superkey</a:t>
            </a:r>
            <a:r>
              <a:rPr lang="en-IE" dirty="0"/>
              <a:t> for which you can say that no proper subset of it is also a </a:t>
            </a:r>
            <a:r>
              <a:rPr lang="en-IE" dirty="0" err="1"/>
              <a:t>superkey</a:t>
            </a:r>
            <a:r>
              <a:rPr lang="en-IE" dirty="0"/>
              <a:t>.</a:t>
            </a:r>
          </a:p>
        </p:txBody>
      </p:sp>
      <p:sp>
        <p:nvSpPr>
          <p:cNvPr id="6" name="Slide Number Placeholder 5"/>
          <p:cNvSpPr>
            <a:spLocks noGrp="1"/>
          </p:cNvSpPr>
          <p:nvPr>
            <p:ph type="sldNum" sz="quarter" idx="12"/>
          </p:nvPr>
        </p:nvSpPr>
        <p:spPr/>
        <p:txBody>
          <a:bodyPr/>
          <a:lstStyle/>
          <a:p>
            <a:fld id="{0ACB87E0-A25F-4CBB-AE44-F33203878C94}" type="slidenum">
              <a:rPr lang="en-IE" smtClean="0"/>
              <a:pPr/>
              <a:t>16</a:t>
            </a:fld>
            <a:endParaRPr lang="en-IE"/>
          </a:p>
        </p:txBody>
      </p:sp>
    </p:spTree>
    <p:extLst>
      <p:ext uri="{BB962C8B-B14F-4D97-AF65-F5344CB8AC3E}">
        <p14:creationId xmlns:p14="http://schemas.microsoft.com/office/powerpoint/2010/main" val="410391623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r>
              <a:rPr lang="en-US" dirty="0" err="1"/>
              <a:t>superkeys</a:t>
            </a:r>
            <a:r>
              <a:rPr lang="en-US" dirty="0"/>
              <a:t> and candidate keys</a:t>
            </a:r>
            <a:endParaRPr lang="en-IE" dirty="0"/>
          </a:p>
        </p:txBody>
      </p:sp>
      <p:sp>
        <p:nvSpPr>
          <p:cNvPr id="6" name="Lightning Bolt 5"/>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7" name="Lightning Bolt 6"/>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9" name="Content Placeholder 4"/>
          <p:cNvSpPr txBox="1">
            <a:spLocks/>
          </p:cNvSpPr>
          <p:nvPr/>
        </p:nvSpPr>
        <p:spPr>
          <a:xfrm>
            <a:off x="6321721" y="3713162"/>
            <a:ext cx="4889744" cy="2463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E" dirty="0"/>
          </a:p>
        </p:txBody>
      </p:sp>
      <p:sp>
        <p:nvSpPr>
          <p:cNvPr id="3" name="Content Placeholder 2"/>
          <p:cNvSpPr>
            <a:spLocks noGrp="1"/>
          </p:cNvSpPr>
          <p:nvPr>
            <p:ph sz="half" idx="1"/>
          </p:nvPr>
        </p:nvSpPr>
        <p:spPr/>
        <p:txBody>
          <a:bodyPr>
            <a:normAutofit/>
          </a:bodyPr>
          <a:lstStyle/>
          <a:p>
            <a:r>
              <a:rPr lang="en-US" dirty="0" err="1"/>
              <a:t>Superkeys</a:t>
            </a:r>
            <a:r>
              <a:rPr lang="en-US" dirty="0"/>
              <a:t>:</a:t>
            </a:r>
          </a:p>
          <a:p>
            <a:pPr lvl="1"/>
            <a:r>
              <a:rPr lang="en-US" dirty="0" err="1"/>
              <a:t>Stud_ID</a:t>
            </a:r>
            <a:endParaRPr lang="en-US" dirty="0"/>
          </a:p>
          <a:p>
            <a:pPr lvl="1"/>
            <a:r>
              <a:rPr lang="en-US" dirty="0" err="1"/>
              <a:t>Stud_ID</a:t>
            </a:r>
            <a:r>
              <a:rPr lang="en-US" dirty="0"/>
              <a:t>, </a:t>
            </a:r>
            <a:r>
              <a:rPr lang="en-US" dirty="0" err="1"/>
              <a:t>LastName</a:t>
            </a:r>
            <a:endParaRPr lang="en-US" dirty="0"/>
          </a:p>
          <a:p>
            <a:pPr lvl="1"/>
            <a:r>
              <a:rPr lang="en-US" dirty="0" err="1"/>
              <a:t>PPS_number</a:t>
            </a:r>
            <a:endParaRPr lang="en-US" dirty="0"/>
          </a:p>
          <a:p>
            <a:pPr lvl="1"/>
            <a:r>
              <a:rPr lang="en-US" dirty="0" err="1"/>
              <a:t>PPS_number</a:t>
            </a:r>
            <a:r>
              <a:rPr lang="en-US" dirty="0"/>
              <a:t>, </a:t>
            </a:r>
            <a:r>
              <a:rPr lang="en-US" dirty="0" err="1"/>
              <a:t>LastName</a:t>
            </a:r>
            <a:endParaRPr lang="en-US" dirty="0"/>
          </a:p>
          <a:p>
            <a:pPr lvl="1"/>
            <a:r>
              <a:rPr lang="en-US" dirty="0"/>
              <a:t>….</a:t>
            </a:r>
            <a:endParaRPr lang="en-IE" dirty="0"/>
          </a:p>
          <a:p>
            <a:endParaRPr lang="en-IE" sz="3600" dirty="0"/>
          </a:p>
        </p:txBody>
      </p:sp>
      <p:sp>
        <p:nvSpPr>
          <p:cNvPr id="4" name="Content Placeholder 3"/>
          <p:cNvSpPr>
            <a:spLocks noGrp="1"/>
          </p:cNvSpPr>
          <p:nvPr>
            <p:ph sz="half" idx="2"/>
          </p:nvPr>
        </p:nvSpPr>
        <p:spPr>
          <a:xfrm>
            <a:off x="6553200" y="1825625"/>
            <a:ext cx="4800600" cy="4351337"/>
          </a:xfrm>
        </p:spPr>
        <p:txBody>
          <a:bodyPr/>
          <a:lstStyle/>
          <a:p>
            <a:r>
              <a:rPr lang="en-US" dirty="0"/>
              <a:t>Candidate keys:</a:t>
            </a:r>
          </a:p>
          <a:p>
            <a:pPr lvl="1"/>
            <a:r>
              <a:rPr lang="en-US" dirty="0" err="1"/>
              <a:t>Stud_ID</a:t>
            </a:r>
            <a:endParaRPr lang="en-US" dirty="0"/>
          </a:p>
          <a:p>
            <a:pPr lvl="1"/>
            <a:r>
              <a:rPr lang="en-US" dirty="0" err="1"/>
              <a:t>PPS_number</a:t>
            </a:r>
            <a:endParaRPr lang="en-US" dirty="0"/>
          </a:p>
          <a:p>
            <a:pPr lvl="1"/>
            <a:endParaRPr lang="en-IE" dirty="0"/>
          </a:p>
          <a:p>
            <a:endParaRPr lang="en-IE" dirty="0"/>
          </a:p>
        </p:txBody>
      </p:sp>
    </p:spTree>
    <p:extLst>
      <p:ext uri="{BB962C8B-B14F-4D97-AF65-F5344CB8AC3E}">
        <p14:creationId xmlns:p14="http://schemas.microsoft.com/office/powerpoint/2010/main" val="976110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6916" name="AutoShape 4"/>
          <p:cNvSpPr>
            <a:spLocks noGrp="1" noChangeArrowheads="1"/>
          </p:cNvSpPr>
          <p:nvPr>
            <p:ph type="title"/>
          </p:nvPr>
        </p:nvSpPr>
        <p:spPr/>
        <p:txBody>
          <a:bodyPr/>
          <a:lstStyle/>
          <a:p>
            <a:r>
              <a:rPr lang="en-US" dirty="0"/>
              <a:t>Identifiers/Keys PK </a:t>
            </a:r>
            <a:endParaRPr lang="en-GB" dirty="0"/>
          </a:p>
        </p:txBody>
      </p:sp>
      <p:sp>
        <p:nvSpPr>
          <p:cNvPr id="4006917" name="Rectangle 5"/>
          <p:cNvSpPr>
            <a:spLocks noGrp="1" noChangeArrowheads="1"/>
          </p:cNvSpPr>
          <p:nvPr>
            <p:ph idx="1"/>
          </p:nvPr>
        </p:nvSpPr>
        <p:spPr/>
        <p:txBody>
          <a:bodyPr>
            <a:normAutofit/>
          </a:bodyPr>
          <a:lstStyle/>
          <a:p>
            <a:r>
              <a:rPr lang="en-IE" b="1" dirty="0"/>
              <a:t>Primary Key and alternative keys:</a:t>
            </a:r>
          </a:p>
          <a:p>
            <a:pPr lvl="1"/>
            <a:r>
              <a:rPr lang="en-US" dirty="0"/>
              <a:t>Exactly one candidate key must be chosen as the primary key, and the others are alternative keys.</a:t>
            </a:r>
          </a:p>
          <a:p>
            <a:pPr lvl="1"/>
            <a:r>
              <a:rPr lang="en-US" dirty="0"/>
              <a:t>Primary keys and alternative keys are both candidate keys.</a:t>
            </a:r>
          </a:p>
        </p:txBody>
      </p:sp>
      <p:sp>
        <p:nvSpPr>
          <p:cNvPr id="6" name="Slide Number Placeholder 5"/>
          <p:cNvSpPr>
            <a:spLocks noGrp="1"/>
          </p:cNvSpPr>
          <p:nvPr>
            <p:ph type="sldNum" sz="quarter" idx="12"/>
          </p:nvPr>
        </p:nvSpPr>
        <p:spPr/>
        <p:txBody>
          <a:bodyPr/>
          <a:lstStyle/>
          <a:p>
            <a:fld id="{0ACB87E0-A25F-4CBB-AE44-F33203878C94}" type="slidenum">
              <a:rPr lang="en-IE" smtClean="0"/>
              <a:pPr/>
              <a:t>18</a:t>
            </a:fld>
            <a:endParaRPr lang="en-IE"/>
          </a:p>
        </p:txBody>
      </p:sp>
    </p:spTree>
    <p:extLst>
      <p:ext uri="{BB962C8B-B14F-4D97-AF65-F5344CB8AC3E}">
        <p14:creationId xmlns:p14="http://schemas.microsoft.com/office/powerpoint/2010/main" val="415660221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6916" name="AutoShape 4"/>
          <p:cNvSpPr>
            <a:spLocks noGrp="1" noChangeArrowheads="1"/>
          </p:cNvSpPr>
          <p:nvPr>
            <p:ph type="title"/>
          </p:nvPr>
        </p:nvSpPr>
        <p:spPr/>
        <p:txBody>
          <a:bodyPr/>
          <a:lstStyle/>
          <a:p>
            <a:r>
              <a:rPr lang="en-US" dirty="0"/>
              <a:t>Identifiers/Keys FKs</a:t>
            </a:r>
            <a:endParaRPr lang="en-GB" dirty="0"/>
          </a:p>
        </p:txBody>
      </p:sp>
      <p:sp>
        <p:nvSpPr>
          <p:cNvPr id="4006917" name="Rectangle 5"/>
          <p:cNvSpPr>
            <a:spLocks noGrp="1" noChangeArrowheads="1"/>
          </p:cNvSpPr>
          <p:nvPr>
            <p:ph idx="1"/>
          </p:nvPr>
        </p:nvSpPr>
        <p:spPr/>
        <p:txBody>
          <a:bodyPr>
            <a:normAutofit/>
          </a:bodyPr>
          <a:lstStyle/>
          <a:p>
            <a:r>
              <a:rPr lang="en-IE" b="1" dirty="0"/>
              <a:t>Foreign Key:</a:t>
            </a:r>
          </a:p>
          <a:p>
            <a:pPr lvl="1"/>
            <a:r>
              <a:rPr lang="en-GB" dirty="0"/>
              <a:t>A foreign key is a reference to a key in another table. </a:t>
            </a:r>
          </a:p>
          <a:p>
            <a:pPr lvl="1"/>
            <a:r>
              <a:rPr lang="en-US" dirty="0"/>
              <a:t>A table’s primary key is used to establish relationships with other tables.</a:t>
            </a:r>
          </a:p>
          <a:p>
            <a:pPr lvl="1"/>
            <a:r>
              <a:rPr lang="en-US" dirty="0"/>
              <a:t>This is achieved by including the primary key of one table as the </a:t>
            </a:r>
            <a:r>
              <a:rPr lang="en-US" b="1" i="1" dirty="0"/>
              <a:t>Foreign Key</a:t>
            </a:r>
            <a:r>
              <a:rPr lang="en-US" dirty="0"/>
              <a:t> of another.  </a:t>
            </a:r>
          </a:p>
          <a:p>
            <a:pPr lvl="1"/>
            <a:endParaRPr lang="en-US" dirty="0"/>
          </a:p>
        </p:txBody>
      </p:sp>
      <p:sp>
        <p:nvSpPr>
          <p:cNvPr id="6" name="Slide Number Placeholder 5"/>
          <p:cNvSpPr>
            <a:spLocks noGrp="1"/>
          </p:cNvSpPr>
          <p:nvPr>
            <p:ph type="sldNum" sz="quarter" idx="12"/>
          </p:nvPr>
        </p:nvSpPr>
        <p:spPr/>
        <p:txBody>
          <a:bodyPr/>
          <a:lstStyle/>
          <a:p>
            <a:fld id="{0ACB87E0-A25F-4CBB-AE44-F33203878C94}" type="slidenum">
              <a:rPr lang="en-IE" smtClean="0"/>
              <a:pPr/>
              <a:t>19</a:t>
            </a:fld>
            <a:endParaRPr lang="en-IE"/>
          </a:p>
        </p:txBody>
      </p:sp>
    </p:spTree>
    <p:extLst>
      <p:ext uri="{BB962C8B-B14F-4D97-AF65-F5344CB8AC3E}">
        <p14:creationId xmlns:p14="http://schemas.microsoft.com/office/powerpoint/2010/main" val="66017748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6916" name="AutoShape 4"/>
          <p:cNvSpPr>
            <a:spLocks noGrp="1" noChangeArrowheads="1"/>
          </p:cNvSpPr>
          <p:nvPr>
            <p:ph type="title"/>
          </p:nvPr>
        </p:nvSpPr>
        <p:spPr/>
        <p:txBody>
          <a:bodyPr/>
          <a:lstStyle/>
          <a:p>
            <a:r>
              <a:rPr lang="en-US" dirty="0"/>
              <a:t>Identifiers/Keys</a:t>
            </a:r>
            <a:endParaRPr lang="en-GB" dirty="0"/>
          </a:p>
        </p:txBody>
      </p:sp>
      <p:sp>
        <p:nvSpPr>
          <p:cNvPr id="4006917" name="Rectangle 5"/>
          <p:cNvSpPr>
            <a:spLocks noGrp="1" noChangeArrowheads="1"/>
          </p:cNvSpPr>
          <p:nvPr>
            <p:ph idx="1"/>
          </p:nvPr>
        </p:nvSpPr>
        <p:spPr>
          <a:xfrm>
            <a:off x="838200" y="1825625"/>
            <a:ext cx="8702040" cy="4351338"/>
          </a:xfrm>
        </p:spPr>
        <p:txBody>
          <a:bodyPr>
            <a:normAutofit/>
          </a:bodyPr>
          <a:lstStyle/>
          <a:p>
            <a:pPr marL="457200" lvl="1" indent="0">
              <a:buNone/>
            </a:pPr>
            <a:endParaRPr lang="en-US" dirty="0"/>
          </a:p>
          <a:p>
            <a:pPr lvl="1"/>
            <a:r>
              <a:rPr lang="en-US" dirty="0"/>
              <a:t>The general rule of thumb is to take the primary key of the </a:t>
            </a:r>
            <a:r>
              <a:rPr lang="en-US" i="1" dirty="0"/>
              <a:t>one</a:t>
            </a:r>
            <a:r>
              <a:rPr lang="en-US" dirty="0"/>
              <a:t> side of the relationship and include it in the table of the </a:t>
            </a:r>
            <a:r>
              <a:rPr lang="en-US" i="1" dirty="0"/>
              <a:t>many</a:t>
            </a:r>
            <a:r>
              <a:rPr lang="en-US" dirty="0"/>
              <a:t> side of the relationship.</a:t>
            </a:r>
            <a:endParaRPr lang="en-GB" dirty="0"/>
          </a:p>
        </p:txBody>
      </p:sp>
      <p:sp>
        <p:nvSpPr>
          <p:cNvPr id="6" name="Slide Number Placeholder 5"/>
          <p:cNvSpPr>
            <a:spLocks noGrp="1"/>
          </p:cNvSpPr>
          <p:nvPr>
            <p:ph type="sldNum" sz="quarter" idx="12"/>
          </p:nvPr>
        </p:nvSpPr>
        <p:spPr/>
        <p:txBody>
          <a:bodyPr/>
          <a:lstStyle/>
          <a:p>
            <a:fld id="{0ACB87E0-A25F-4CBB-AE44-F33203878C94}" type="slidenum">
              <a:rPr lang="en-IE" smtClean="0"/>
              <a:pPr/>
              <a:t>20</a:t>
            </a:fld>
            <a:endParaRPr lang="en-IE"/>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r="69928" b="36015"/>
          <a:stretch/>
        </p:blipFill>
        <p:spPr>
          <a:xfrm>
            <a:off x="9772650" y="2885122"/>
            <a:ext cx="1581150" cy="3181350"/>
          </a:xfrm>
          <a:prstGeom prst="rect">
            <a:avLst/>
          </a:prstGeom>
        </p:spPr>
      </p:pic>
      <p:sp>
        <p:nvSpPr>
          <p:cNvPr id="3" name="Rectangle 2"/>
          <p:cNvSpPr/>
          <p:nvPr/>
        </p:nvSpPr>
        <p:spPr>
          <a:xfrm>
            <a:off x="9648825" y="5029200"/>
            <a:ext cx="1828800" cy="1905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61111533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6916" name="AutoShape 4"/>
          <p:cNvSpPr>
            <a:spLocks noGrp="1" noChangeArrowheads="1"/>
          </p:cNvSpPr>
          <p:nvPr>
            <p:ph type="title"/>
          </p:nvPr>
        </p:nvSpPr>
        <p:spPr/>
        <p:txBody>
          <a:bodyPr/>
          <a:lstStyle/>
          <a:p>
            <a:r>
              <a:rPr lang="en-US" dirty="0"/>
              <a:t>Identifiers/Keys</a:t>
            </a:r>
            <a:endParaRPr lang="en-GB" dirty="0"/>
          </a:p>
        </p:txBody>
      </p:sp>
      <p:sp>
        <p:nvSpPr>
          <p:cNvPr id="4006917" name="Rectangle 5"/>
          <p:cNvSpPr>
            <a:spLocks noGrp="1" noChangeArrowheads="1"/>
          </p:cNvSpPr>
          <p:nvPr>
            <p:ph idx="1"/>
          </p:nvPr>
        </p:nvSpPr>
        <p:spPr/>
        <p:txBody>
          <a:bodyPr>
            <a:normAutofit/>
          </a:bodyPr>
          <a:lstStyle/>
          <a:p>
            <a:endParaRPr lang="en-IE" b="1" dirty="0"/>
          </a:p>
          <a:p>
            <a:r>
              <a:rPr lang="en-IE" b="1" dirty="0"/>
              <a:t>Non-prime Attributes:</a:t>
            </a:r>
          </a:p>
          <a:p>
            <a:pPr lvl="1"/>
            <a:r>
              <a:rPr lang="en-IE" dirty="0"/>
              <a:t>An attribute that does not occur in any candidate key.</a:t>
            </a:r>
          </a:p>
        </p:txBody>
      </p:sp>
      <p:sp>
        <p:nvSpPr>
          <p:cNvPr id="6" name="Slide Number Placeholder 5"/>
          <p:cNvSpPr>
            <a:spLocks noGrp="1"/>
          </p:cNvSpPr>
          <p:nvPr>
            <p:ph type="sldNum" sz="quarter" idx="12"/>
          </p:nvPr>
        </p:nvSpPr>
        <p:spPr/>
        <p:txBody>
          <a:bodyPr/>
          <a:lstStyle/>
          <a:p>
            <a:fld id="{0ACB87E0-A25F-4CBB-AE44-F33203878C94}" type="slidenum">
              <a:rPr lang="en-IE" smtClean="0"/>
              <a:pPr/>
              <a:t>21</a:t>
            </a:fld>
            <a:endParaRPr lang="en-IE"/>
          </a:p>
        </p:txBody>
      </p:sp>
    </p:spTree>
    <p:extLst>
      <p:ext uri="{BB962C8B-B14F-4D97-AF65-F5344CB8AC3E}">
        <p14:creationId xmlns:p14="http://schemas.microsoft.com/office/powerpoint/2010/main" val="313798537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289300"/>
            <a:ext cx="10515600" cy="1325563"/>
          </a:xfrm>
        </p:spPr>
        <p:txBody>
          <a:bodyPr/>
          <a:lstStyle/>
          <a:p>
            <a:r>
              <a:rPr lang="en-US" dirty="0"/>
              <a:t>Constraints</a:t>
            </a:r>
            <a:endParaRPr lang="en-IE" dirty="0"/>
          </a:p>
        </p:txBody>
      </p:sp>
      <p:sp>
        <p:nvSpPr>
          <p:cNvPr id="3" name="Slide Number Placeholder 2"/>
          <p:cNvSpPr>
            <a:spLocks noGrp="1"/>
          </p:cNvSpPr>
          <p:nvPr>
            <p:ph type="sldNum" sz="quarter" idx="12"/>
          </p:nvPr>
        </p:nvSpPr>
        <p:spPr/>
        <p:txBody>
          <a:bodyPr/>
          <a:lstStyle/>
          <a:p>
            <a:fld id="{7341093E-ADCE-4CEF-A0BC-E1F79F413BC5}" type="slidenum">
              <a:rPr lang="en-IE" smtClean="0"/>
              <a:t>22</a:t>
            </a:fld>
            <a:endParaRPr lang="en-IE"/>
          </a:p>
        </p:txBody>
      </p:sp>
    </p:spTree>
    <p:extLst>
      <p:ext uri="{BB962C8B-B14F-4D97-AF65-F5344CB8AC3E}">
        <p14:creationId xmlns:p14="http://schemas.microsoft.com/office/powerpoint/2010/main" val="2449582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0420" name="AutoShape 4"/>
          <p:cNvSpPr>
            <a:spLocks noGrp="1" noChangeArrowheads="1"/>
          </p:cNvSpPr>
          <p:nvPr>
            <p:ph type="title"/>
          </p:nvPr>
        </p:nvSpPr>
        <p:spPr/>
        <p:txBody>
          <a:bodyPr/>
          <a:lstStyle/>
          <a:p>
            <a:r>
              <a:rPr lang="en-US"/>
              <a:t>Constraint Classification</a:t>
            </a:r>
          </a:p>
        </p:txBody>
      </p:sp>
      <p:sp>
        <p:nvSpPr>
          <p:cNvPr id="3900421" name="Rectangle 5"/>
          <p:cNvSpPr>
            <a:spLocks noGrp="1" noChangeArrowheads="1"/>
          </p:cNvSpPr>
          <p:nvPr>
            <p:ph idx="1"/>
          </p:nvPr>
        </p:nvSpPr>
        <p:spPr/>
        <p:txBody>
          <a:bodyPr>
            <a:normAutofit/>
          </a:bodyPr>
          <a:lstStyle/>
          <a:p>
            <a:r>
              <a:rPr lang="en-US" b="1" dirty="0"/>
              <a:t>Type (Domain) Constraint: </a:t>
            </a:r>
            <a:r>
              <a:rPr lang="en-US" dirty="0"/>
              <a:t>Define or constrain values that may be assigned to an attribute.</a:t>
            </a:r>
          </a:p>
          <a:p>
            <a:pPr lvl="1"/>
            <a:r>
              <a:rPr lang="en-US" dirty="0"/>
              <a:t>e.g. Define a type WEIGHT</a:t>
            </a:r>
          </a:p>
          <a:p>
            <a:pPr lvl="2"/>
            <a:r>
              <a:rPr lang="en-US" dirty="0"/>
              <a:t>real numbers.</a:t>
            </a:r>
          </a:p>
          <a:p>
            <a:pPr lvl="2"/>
            <a:r>
              <a:rPr lang="en-US" dirty="0"/>
              <a:t>legal values in [0, 1000]</a:t>
            </a:r>
          </a:p>
          <a:p>
            <a:endParaRPr lang="en-US" sz="400" dirty="0"/>
          </a:p>
        </p:txBody>
      </p:sp>
      <p:sp>
        <p:nvSpPr>
          <p:cNvPr id="6" name="Slide Number Placeholder 5"/>
          <p:cNvSpPr>
            <a:spLocks noGrp="1"/>
          </p:cNvSpPr>
          <p:nvPr>
            <p:ph type="sldNum" sz="quarter" idx="12"/>
          </p:nvPr>
        </p:nvSpPr>
        <p:spPr/>
        <p:txBody>
          <a:bodyPr/>
          <a:lstStyle/>
          <a:p>
            <a:fld id="{1014DC27-2CE1-411C-87DA-C8FB1F9F08A4}" type="slidenum">
              <a:rPr lang="en-IE" smtClean="0"/>
              <a:pPr/>
              <a:t>23</a:t>
            </a:fld>
            <a:endParaRPr lang="en-IE"/>
          </a:p>
        </p:txBody>
      </p:sp>
    </p:spTree>
    <p:extLst>
      <p:ext uri="{BB962C8B-B14F-4D97-AF65-F5344CB8AC3E}">
        <p14:creationId xmlns:p14="http://schemas.microsoft.com/office/powerpoint/2010/main" val="1411011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0420" name="AutoShape 4"/>
          <p:cNvSpPr>
            <a:spLocks noGrp="1" noChangeArrowheads="1"/>
          </p:cNvSpPr>
          <p:nvPr>
            <p:ph type="title"/>
          </p:nvPr>
        </p:nvSpPr>
        <p:spPr/>
        <p:txBody>
          <a:bodyPr/>
          <a:lstStyle/>
          <a:p>
            <a:r>
              <a:rPr lang="en-US"/>
              <a:t>Constraint Classification</a:t>
            </a:r>
          </a:p>
        </p:txBody>
      </p:sp>
      <p:sp>
        <p:nvSpPr>
          <p:cNvPr id="3900421" name="Rectangle 5"/>
          <p:cNvSpPr>
            <a:spLocks noGrp="1" noChangeArrowheads="1"/>
          </p:cNvSpPr>
          <p:nvPr>
            <p:ph idx="1"/>
          </p:nvPr>
        </p:nvSpPr>
        <p:spPr/>
        <p:txBody>
          <a:bodyPr>
            <a:normAutofit/>
          </a:bodyPr>
          <a:lstStyle/>
          <a:p>
            <a:r>
              <a:rPr lang="en-US" b="1" dirty="0"/>
              <a:t>Entity Integrity Constraint: </a:t>
            </a:r>
            <a:r>
              <a:rPr lang="en-US" dirty="0"/>
              <a:t>Every row must have a non-null value for the primary key.</a:t>
            </a:r>
          </a:p>
          <a:p>
            <a:pPr lvl="1"/>
            <a:r>
              <a:rPr lang="en-US" dirty="0"/>
              <a:t>If it is a composite key, no part of the key may be null.</a:t>
            </a:r>
          </a:p>
          <a:p>
            <a:pPr lvl="2"/>
            <a:r>
              <a:rPr lang="en-US" b="1" dirty="0"/>
              <a:t>Null:</a:t>
            </a:r>
            <a:r>
              <a:rPr lang="en-US" dirty="0"/>
              <a:t> </a:t>
            </a:r>
            <a:r>
              <a:rPr lang="en-IE" dirty="0"/>
              <a:t>Term used to describe a missing value for an attribute in a particular row.</a:t>
            </a:r>
          </a:p>
          <a:p>
            <a:pPr lvl="3"/>
            <a:r>
              <a:rPr lang="en-IE" dirty="0"/>
              <a:t>It is not the same as zero </a:t>
            </a:r>
          </a:p>
        </p:txBody>
      </p:sp>
      <p:sp>
        <p:nvSpPr>
          <p:cNvPr id="6" name="Slide Number Placeholder 5"/>
          <p:cNvSpPr>
            <a:spLocks noGrp="1"/>
          </p:cNvSpPr>
          <p:nvPr>
            <p:ph type="sldNum" sz="quarter" idx="12"/>
          </p:nvPr>
        </p:nvSpPr>
        <p:spPr/>
        <p:txBody>
          <a:bodyPr/>
          <a:lstStyle/>
          <a:p>
            <a:fld id="{1014DC27-2CE1-411C-87DA-C8FB1F9F08A4}" type="slidenum">
              <a:rPr lang="en-IE" smtClean="0"/>
              <a:pPr/>
              <a:t>24</a:t>
            </a:fld>
            <a:endParaRPr lang="en-IE"/>
          </a:p>
        </p:txBody>
      </p:sp>
    </p:spTree>
    <p:extLst>
      <p:ext uri="{BB962C8B-B14F-4D97-AF65-F5344CB8AC3E}">
        <p14:creationId xmlns:p14="http://schemas.microsoft.com/office/powerpoint/2010/main" val="28563519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4866" name="AutoShape 2"/>
          <p:cNvSpPr>
            <a:spLocks noGrp="1" noChangeArrowheads="1"/>
          </p:cNvSpPr>
          <p:nvPr>
            <p:ph type="title"/>
          </p:nvPr>
        </p:nvSpPr>
        <p:spPr/>
        <p:txBody>
          <a:bodyPr/>
          <a:lstStyle/>
          <a:p>
            <a:r>
              <a:rPr lang="en-US" dirty="0"/>
              <a:t>Constraint Classification</a:t>
            </a:r>
            <a:endParaRPr lang="en-GB" dirty="0"/>
          </a:p>
        </p:txBody>
      </p:sp>
      <p:sp>
        <p:nvSpPr>
          <p:cNvPr id="4004867" name="Rectangle 3"/>
          <p:cNvSpPr>
            <a:spLocks noGrp="1" noChangeArrowheads="1"/>
          </p:cNvSpPr>
          <p:nvPr>
            <p:ph idx="1"/>
          </p:nvPr>
        </p:nvSpPr>
        <p:spPr/>
        <p:txBody>
          <a:bodyPr>
            <a:normAutofit/>
          </a:bodyPr>
          <a:lstStyle/>
          <a:p>
            <a:r>
              <a:rPr lang="en-IE" b="1" dirty="0"/>
              <a:t>Referential Integrity constraint:</a:t>
            </a:r>
          </a:p>
          <a:p>
            <a:pPr lvl="1"/>
            <a:r>
              <a:rPr lang="en-US" dirty="0"/>
              <a:t>A rule that states that either each foreign key value must match a primary key value in another relation or the foreign key value must be null.</a:t>
            </a:r>
            <a:endParaRPr lang="en-IE" dirty="0"/>
          </a:p>
          <a:p>
            <a:endParaRPr lang="en-IE" b="1" dirty="0"/>
          </a:p>
        </p:txBody>
      </p:sp>
      <p:sp>
        <p:nvSpPr>
          <p:cNvPr id="6" name="Slide Number Placeholder 5"/>
          <p:cNvSpPr>
            <a:spLocks noGrp="1"/>
          </p:cNvSpPr>
          <p:nvPr>
            <p:ph type="sldNum" sz="quarter" idx="12"/>
          </p:nvPr>
        </p:nvSpPr>
        <p:spPr/>
        <p:txBody>
          <a:bodyPr/>
          <a:lstStyle/>
          <a:p>
            <a:fld id="{084EF669-8CD1-4553-A151-DC90D52E0884}" type="slidenum">
              <a:rPr lang="en-IE" smtClean="0"/>
              <a:pPr/>
              <a:t>25</a:t>
            </a:fld>
            <a:endParaRPr lang="en-IE"/>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b="76820"/>
          <a:stretch/>
        </p:blipFill>
        <p:spPr>
          <a:xfrm>
            <a:off x="2426969" y="4665514"/>
            <a:ext cx="6895205" cy="1511449"/>
          </a:xfrm>
          <a:prstGeom prst="rect">
            <a:avLst/>
          </a:prstGeom>
        </p:spPr>
      </p:pic>
    </p:spTree>
    <p:extLst>
      <p:ext uri="{BB962C8B-B14F-4D97-AF65-F5344CB8AC3E}">
        <p14:creationId xmlns:p14="http://schemas.microsoft.com/office/powerpoint/2010/main" val="375528256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Practical Example University 2</a:t>
            </a:r>
            <a:endParaRPr lang="en-IE" dirty="0"/>
          </a:p>
        </p:txBody>
      </p:sp>
      <p:sp>
        <p:nvSpPr>
          <p:cNvPr id="4" name="Slide Number Placeholder 3"/>
          <p:cNvSpPr>
            <a:spLocks noGrp="1"/>
          </p:cNvSpPr>
          <p:nvPr>
            <p:ph type="sldNum" sz="quarter" idx="12"/>
          </p:nvPr>
        </p:nvSpPr>
        <p:spPr/>
        <p:txBody>
          <a:bodyPr/>
          <a:lstStyle/>
          <a:p>
            <a:fld id="{7341093E-ADCE-4CEF-A0BC-E1F79F413BC5}" type="slidenum">
              <a:rPr lang="en-IE" smtClean="0"/>
              <a:t>26</a:t>
            </a:fld>
            <a:endParaRPr lang="en-IE"/>
          </a:p>
        </p:txBody>
      </p:sp>
      <p:pic>
        <p:nvPicPr>
          <p:cNvPr id="5" name="Content Placeholder 4"/>
          <p:cNvPicPr>
            <a:picLocks noGrp="1" noChangeAspect="1"/>
          </p:cNvPicPr>
          <p:nvPr>
            <p:ph idx="1"/>
          </p:nvPr>
        </p:nvPicPr>
        <p:blipFill rotWithShape="1">
          <a:blip r:embed="rId2"/>
          <a:srcRect l="12950" t="23535" r="60469" b="22636"/>
          <a:stretch/>
        </p:blipFill>
        <p:spPr>
          <a:xfrm>
            <a:off x="1928015" y="1551305"/>
            <a:ext cx="6537649" cy="4351338"/>
          </a:xfrm>
          <a:prstGeom prst="rect">
            <a:avLst/>
          </a:prstGeom>
        </p:spPr>
      </p:pic>
    </p:spTree>
    <p:extLst>
      <p:ext uri="{BB962C8B-B14F-4D97-AF65-F5344CB8AC3E}">
        <p14:creationId xmlns:p14="http://schemas.microsoft.com/office/powerpoint/2010/main" val="29365295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a:t>
            </a:r>
            <a:endParaRPr lang="en-IE" dirty="0"/>
          </a:p>
        </p:txBody>
      </p:sp>
      <p:sp>
        <p:nvSpPr>
          <p:cNvPr id="3" name="Content Placeholder 2"/>
          <p:cNvSpPr>
            <a:spLocks noGrp="1"/>
          </p:cNvSpPr>
          <p:nvPr>
            <p:ph idx="1"/>
          </p:nvPr>
        </p:nvSpPr>
        <p:spPr/>
        <p:txBody>
          <a:bodyPr>
            <a:normAutofit lnSpcReduction="10000"/>
          </a:bodyPr>
          <a:lstStyle/>
          <a:p>
            <a:r>
              <a:rPr lang="en-US" dirty="0"/>
              <a:t>Try to add the following data to the table </a:t>
            </a:r>
            <a:r>
              <a:rPr lang="en-US" dirty="0" err="1"/>
              <a:t>Student_takes_modules</a:t>
            </a:r>
            <a:r>
              <a:rPr lang="en-US" dirty="0"/>
              <a:t>:</a:t>
            </a:r>
          </a:p>
          <a:p>
            <a:endParaRPr lang="en-US" dirty="0"/>
          </a:p>
          <a:p>
            <a:endParaRPr lang="en-US" dirty="0"/>
          </a:p>
          <a:p>
            <a:endParaRPr lang="en-US" dirty="0"/>
          </a:p>
          <a:p>
            <a:r>
              <a:rPr lang="en-US" dirty="0"/>
              <a:t>What happened?</a:t>
            </a:r>
          </a:p>
          <a:p>
            <a:pPr marL="0" indent="0">
              <a:buNone/>
            </a:pPr>
            <a:endParaRPr lang="en-IE" dirty="0"/>
          </a:p>
          <a:p>
            <a:pPr marL="0" indent="0">
              <a:buNone/>
            </a:pPr>
            <a:endParaRPr lang="en-US" dirty="0"/>
          </a:p>
        </p:txBody>
      </p:sp>
      <p:sp>
        <p:nvSpPr>
          <p:cNvPr id="4" name="Slide Number Placeholder 3"/>
          <p:cNvSpPr>
            <a:spLocks noGrp="1"/>
          </p:cNvSpPr>
          <p:nvPr>
            <p:ph type="sldNum" sz="quarter" idx="12"/>
          </p:nvPr>
        </p:nvSpPr>
        <p:spPr/>
        <p:txBody>
          <a:bodyPr/>
          <a:lstStyle/>
          <a:p>
            <a:fld id="{7341093E-ADCE-4CEF-A0BC-E1F79F413BC5}" type="slidenum">
              <a:rPr lang="en-IE" smtClean="0"/>
              <a:t>27</a:t>
            </a:fld>
            <a:endParaRPr lang="en-IE"/>
          </a:p>
        </p:txBody>
      </p:sp>
      <p:graphicFrame>
        <p:nvGraphicFramePr>
          <p:cNvPr id="5" name="Table 4"/>
          <p:cNvGraphicFramePr>
            <a:graphicFrameLocks noGrp="1"/>
          </p:cNvGraphicFramePr>
          <p:nvPr>
            <p:extLst>
              <p:ext uri="{D42A27DB-BD31-4B8C-83A1-F6EECF244321}">
                <p14:modId xmlns:p14="http://schemas.microsoft.com/office/powerpoint/2010/main" val="2084878104"/>
              </p:ext>
            </p:extLst>
          </p:nvPr>
        </p:nvGraphicFramePr>
        <p:xfrm>
          <a:off x="1604143" y="3501306"/>
          <a:ext cx="8128000" cy="1483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800928369"/>
                    </a:ext>
                  </a:extLst>
                </a:gridCol>
                <a:gridCol w="4064000">
                  <a:extLst>
                    <a:ext uri="{9D8B030D-6E8A-4147-A177-3AD203B41FA5}">
                      <a16:colId xmlns:a16="http://schemas.microsoft.com/office/drawing/2014/main" val="873712262"/>
                    </a:ext>
                  </a:extLst>
                </a:gridCol>
              </a:tblGrid>
              <a:tr h="370840">
                <a:tc>
                  <a:txBody>
                    <a:bodyPr/>
                    <a:lstStyle/>
                    <a:p>
                      <a:r>
                        <a:rPr lang="en-US" dirty="0" err="1"/>
                        <a:t>Student_ID</a:t>
                      </a:r>
                      <a:endParaRPr lang="en-IE" dirty="0"/>
                    </a:p>
                  </a:txBody>
                  <a:tcPr/>
                </a:tc>
                <a:tc>
                  <a:txBody>
                    <a:bodyPr/>
                    <a:lstStyle/>
                    <a:p>
                      <a:r>
                        <a:rPr lang="en-US" dirty="0" err="1"/>
                        <a:t>Module_ID</a:t>
                      </a:r>
                      <a:endParaRPr lang="en-IE" dirty="0"/>
                    </a:p>
                  </a:txBody>
                  <a:tcPr/>
                </a:tc>
                <a:extLst>
                  <a:ext uri="{0D108BD9-81ED-4DB2-BD59-A6C34878D82A}">
                    <a16:rowId xmlns:a16="http://schemas.microsoft.com/office/drawing/2014/main" val="1612091237"/>
                  </a:ext>
                </a:extLst>
              </a:tr>
              <a:tr h="370840">
                <a:tc>
                  <a:txBody>
                    <a:bodyPr/>
                    <a:lstStyle/>
                    <a:p>
                      <a:r>
                        <a:rPr lang="en-US" dirty="0"/>
                        <a:t>1</a:t>
                      </a:r>
                      <a:endParaRPr lang="en-IE" dirty="0"/>
                    </a:p>
                  </a:txBody>
                  <a:tcPr/>
                </a:tc>
                <a:tc>
                  <a:txBody>
                    <a:bodyPr/>
                    <a:lstStyle/>
                    <a:p>
                      <a:r>
                        <a:rPr lang="en-US" dirty="0"/>
                        <a:t>103</a:t>
                      </a:r>
                      <a:endParaRPr lang="en-IE" dirty="0"/>
                    </a:p>
                  </a:txBody>
                  <a:tcPr/>
                </a:tc>
                <a:extLst>
                  <a:ext uri="{0D108BD9-81ED-4DB2-BD59-A6C34878D82A}">
                    <a16:rowId xmlns:a16="http://schemas.microsoft.com/office/drawing/2014/main" val="3324970299"/>
                  </a:ext>
                </a:extLst>
              </a:tr>
              <a:tr h="370840">
                <a:tc>
                  <a:txBody>
                    <a:bodyPr/>
                    <a:lstStyle/>
                    <a:p>
                      <a:r>
                        <a:rPr lang="en-US" dirty="0"/>
                        <a:t>2</a:t>
                      </a:r>
                      <a:endParaRPr lang="en-IE" dirty="0"/>
                    </a:p>
                  </a:txBody>
                  <a:tcPr/>
                </a:tc>
                <a:tc>
                  <a:txBody>
                    <a:bodyPr/>
                    <a:lstStyle/>
                    <a:p>
                      <a:r>
                        <a:rPr lang="en-US" dirty="0"/>
                        <a:t>109</a:t>
                      </a:r>
                      <a:endParaRPr lang="en-IE" dirty="0"/>
                    </a:p>
                  </a:txBody>
                  <a:tcPr/>
                </a:tc>
                <a:extLst>
                  <a:ext uri="{0D108BD9-81ED-4DB2-BD59-A6C34878D82A}">
                    <a16:rowId xmlns:a16="http://schemas.microsoft.com/office/drawing/2014/main" val="3282077368"/>
                  </a:ext>
                </a:extLst>
              </a:tr>
              <a:tr h="370840">
                <a:tc>
                  <a:txBody>
                    <a:bodyPr/>
                    <a:lstStyle/>
                    <a:p>
                      <a:r>
                        <a:rPr lang="en-US" dirty="0"/>
                        <a:t>1</a:t>
                      </a:r>
                      <a:endParaRPr lang="en-IE" dirty="0"/>
                    </a:p>
                  </a:txBody>
                  <a:tcPr/>
                </a:tc>
                <a:tc>
                  <a:txBody>
                    <a:bodyPr/>
                    <a:lstStyle/>
                    <a:p>
                      <a:r>
                        <a:rPr lang="en-US" dirty="0"/>
                        <a:t>444</a:t>
                      </a:r>
                      <a:endParaRPr lang="en-IE" dirty="0"/>
                    </a:p>
                  </a:txBody>
                  <a:tcPr/>
                </a:tc>
                <a:extLst>
                  <a:ext uri="{0D108BD9-81ED-4DB2-BD59-A6C34878D82A}">
                    <a16:rowId xmlns:a16="http://schemas.microsoft.com/office/drawing/2014/main" val="398975150"/>
                  </a:ext>
                </a:extLst>
              </a:tr>
            </a:tbl>
          </a:graphicData>
        </a:graphic>
      </p:graphicFrame>
    </p:spTree>
    <p:extLst>
      <p:ext uri="{BB962C8B-B14F-4D97-AF65-F5344CB8AC3E}">
        <p14:creationId xmlns:p14="http://schemas.microsoft.com/office/powerpoint/2010/main" val="158197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450" y="3032125"/>
            <a:ext cx="10515600" cy="1325563"/>
          </a:xfrm>
        </p:spPr>
        <p:txBody>
          <a:bodyPr/>
          <a:lstStyle/>
          <a:p>
            <a:r>
              <a:rPr lang="en-US" dirty="0"/>
              <a:t>Referential Actions</a:t>
            </a:r>
            <a:endParaRPr lang="en-IE" dirty="0"/>
          </a:p>
        </p:txBody>
      </p:sp>
      <p:sp>
        <p:nvSpPr>
          <p:cNvPr id="3" name="Slide Number Placeholder 2"/>
          <p:cNvSpPr>
            <a:spLocks noGrp="1"/>
          </p:cNvSpPr>
          <p:nvPr>
            <p:ph type="sldNum" sz="quarter" idx="12"/>
          </p:nvPr>
        </p:nvSpPr>
        <p:spPr/>
        <p:txBody>
          <a:bodyPr/>
          <a:lstStyle/>
          <a:p>
            <a:fld id="{7341093E-ADCE-4CEF-A0BC-E1F79F413BC5}" type="slidenum">
              <a:rPr lang="en-IE" smtClean="0"/>
              <a:t>28</a:t>
            </a:fld>
            <a:endParaRPr lang="en-IE"/>
          </a:p>
        </p:txBody>
      </p:sp>
    </p:spTree>
    <p:extLst>
      <p:ext uri="{BB962C8B-B14F-4D97-AF65-F5344CB8AC3E}">
        <p14:creationId xmlns:p14="http://schemas.microsoft.com/office/powerpoint/2010/main" val="8890389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7590" name="AutoShape 6"/>
          <p:cNvSpPr>
            <a:spLocks noGrp="1" noChangeArrowheads="1"/>
          </p:cNvSpPr>
          <p:nvPr>
            <p:ph type="title"/>
          </p:nvPr>
        </p:nvSpPr>
        <p:spPr/>
        <p:txBody>
          <a:bodyPr/>
          <a:lstStyle/>
          <a:p>
            <a:r>
              <a:rPr lang="en-US" dirty="0"/>
              <a:t>Referential Actions ON DELETE</a:t>
            </a:r>
          </a:p>
        </p:txBody>
      </p:sp>
      <p:sp>
        <p:nvSpPr>
          <p:cNvPr id="3907591" name="Rectangle 7"/>
          <p:cNvSpPr>
            <a:spLocks noGrp="1" noChangeArrowheads="1"/>
          </p:cNvSpPr>
          <p:nvPr>
            <p:ph idx="1"/>
          </p:nvPr>
        </p:nvSpPr>
        <p:spPr/>
        <p:txBody>
          <a:bodyPr>
            <a:normAutofit/>
          </a:bodyPr>
          <a:lstStyle/>
          <a:p>
            <a:r>
              <a:rPr lang="en-US" dirty="0"/>
              <a:t>When you delete a tuple from a table, say </a:t>
            </a:r>
            <a:r>
              <a:rPr lang="en-US" b="1" dirty="0"/>
              <a:t>R1</a:t>
            </a:r>
            <a:r>
              <a:rPr lang="en-US" dirty="0"/>
              <a:t>, that is referenced by another table, say </a:t>
            </a:r>
            <a:r>
              <a:rPr lang="en-US" b="1" dirty="0"/>
              <a:t>R2</a:t>
            </a:r>
            <a:r>
              <a:rPr lang="en-US" dirty="0"/>
              <a:t>, if the primary key (</a:t>
            </a:r>
            <a:r>
              <a:rPr lang="en-US" b="1" dirty="0"/>
              <a:t>K#</a:t>
            </a:r>
            <a:r>
              <a:rPr lang="en-US" dirty="0"/>
              <a:t>) value of </a:t>
            </a:r>
            <a:r>
              <a:rPr lang="en-US" b="1" dirty="0"/>
              <a:t>R1</a:t>
            </a:r>
            <a:r>
              <a:rPr lang="en-US" dirty="0"/>
              <a:t> exists in </a:t>
            </a:r>
            <a:r>
              <a:rPr lang="en-US" b="1" dirty="0"/>
              <a:t>R2</a:t>
            </a:r>
            <a:r>
              <a:rPr lang="en-US" dirty="0"/>
              <a:t>, there are several choices of referential actions:</a:t>
            </a:r>
          </a:p>
        </p:txBody>
      </p:sp>
      <p:sp>
        <p:nvSpPr>
          <p:cNvPr id="6" name="Slide Number Placeholder 5"/>
          <p:cNvSpPr>
            <a:spLocks noGrp="1"/>
          </p:cNvSpPr>
          <p:nvPr>
            <p:ph type="sldNum" sz="quarter" idx="12"/>
          </p:nvPr>
        </p:nvSpPr>
        <p:spPr/>
        <p:txBody>
          <a:bodyPr/>
          <a:lstStyle/>
          <a:p>
            <a:fld id="{C0258BB1-065F-4E57-AE71-1C68702B04A0}" type="slidenum">
              <a:rPr lang="en-IE" smtClean="0"/>
              <a:pPr/>
              <a:t>29</a:t>
            </a:fld>
            <a:endParaRPr lang="en-IE"/>
          </a:p>
        </p:txBody>
      </p:sp>
      <p:pic>
        <p:nvPicPr>
          <p:cNvPr id="5" name="Picture 4" descr="Fig16.jpg"/>
          <p:cNvPicPr>
            <a:picLocks noChangeAspect="1"/>
          </p:cNvPicPr>
          <p:nvPr/>
        </p:nvPicPr>
        <p:blipFill>
          <a:blip r:embed="rId3" cstate="print"/>
          <a:stretch>
            <a:fillRect/>
          </a:stretch>
        </p:blipFill>
        <p:spPr>
          <a:xfrm>
            <a:off x="3097800" y="3805836"/>
            <a:ext cx="4320000" cy="1047990"/>
          </a:xfrm>
          <a:prstGeom prst="rect">
            <a:avLst/>
          </a:prstGeom>
        </p:spPr>
      </p:pic>
      <p:sp>
        <p:nvSpPr>
          <p:cNvPr id="2" name="TextBox 1"/>
          <p:cNvSpPr txBox="1"/>
          <p:nvPr/>
        </p:nvSpPr>
        <p:spPr>
          <a:xfrm>
            <a:off x="6598920" y="4774803"/>
            <a:ext cx="579120" cy="369332"/>
          </a:xfrm>
          <a:prstGeom prst="rect">
            <a:avLst/>
          </a:prstGeom>
          <a:noFill/>
        </p:spPr>
        <p:txBody>
          <a:bodyPr wrap="square" rtlCol="0">
            <a:spAutoFit/>
          </a:bodyPr>
          <a:lstStyle/>
          <a:p>
            <a:r>
              <a:rPr lang="en-US" dirty="0"/>
              <a:t>R1</a:t>
            </a:r>
            <a:endParaRPr lang="en-IE" dirty="0"/>
          </a:p>
        </p:txBody>
      </p:sp>
      <p:sp>
        <p:nvSpPr>
          <p:cNvPr id="7" name="TextBox 6"/>
          <p:cNvSpPr txBox="1"/>
          <p:nvPr/>
        </p:nvSpPr>
        <p:spPr>
          <a:xfrm>
            <a:off x="3429000" y="4853826"/>
            <a:ext cx="579120" cy="369332"/>
          </a:xfrm>
          <a:prstGeom prst="rect">
            <a:avLst/>
          </a:prstGeom>
          <a:noFill/>
        </p:spPr>
        <p:txBody>
          <a:bodyPr wrap="square" rtlCol="0">
            <a:spAutoFit/>
          </a:bodyPr>
          <a:lstStyle/>
          <a:p>
            <a:r>
              <a:rPr lang="en-US" dirty="0"/>
              <a:t>R2</a:t>
            </a:r>
            <a:endParaRPr lang="en-IE" dirty="0"/>
          </a:p>
        </p:txBody>
      </p:sp>
    </p:spTree>
    <p:extLst>
      <p:ext uri="{BB962C8B-B14F-4D97-AF65-F5344CB8AC3E}">
        <p14:creationId xmlns:p14="http://schemas.microsoft.com/office/powerpoint/2010/main" val="14581886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7590" name="AutoShape 6"/>
          <p:cNvSpPr>
            <a:spLocks noGrp="1" noChangeArrowheads="1"/>
          </p:cNvSpPr>
          <p:nvPr>
            <p:ph type="title"/>
          </p:nvPr>
        </p:nvSpPr>
        <p:spPr/>
        <p:txBody>
          <a:bodyPr/>
          <a:lstStyle/>
          <a:p>
            <a:r>
              <a:rPr lang="en-US" dirty="0"/>
              <a:t>Referential Actions ON DELETE</a:t>
            </a:r>
          </a:p>
        </p:txBody>
      </p:sp>
      <p:sp>
        <p:nvSpPr>
          <p:cNvPr id="3907591" name="Rectangle 7"/>
          <p:cNvSpPr>
            <a:spLocks noGrp="1" noChangeArrowheads="1"/>
          </p:cNvSpPr>
          <p:nvPr>
            <p:ph idx="1"/>
          </p:nvPr>
        </p:nvSpPr>
        <p:spPr/>
        <p:txBody>
          <a:bodyPr>
            <a:normAutofit lnSpcReduction="10000"/>
          </a:bodyPr>
          <a:lstStyle/>
          <a:p>
            <a:pPr lvl="1"/>
            <a:r>
              <a:rPr lang="en-US" b="1" dirty="0"/>
              <a:t>ON DELETE CASCADE</a:t>
            </a:r>
          </a:p>
          <a:p>
            <a:pPr lvl="2"/>
            <a:r>
              <a:rPr lang="en-US" dirty="0"/>
              <a:t>The corresponding tuples in </a:t>
            </a:r>
            <a:r>
              <a:rPr lang="en-US" b="1" dirty="0"/>
              <a:t>R2</a:t>
            </a:r>
            <a:r>
              <a:rPr lang="en-US" dirty="0"/>
              <a:t> will be </a:t>
            </a:r>
            <a:r>
              <a:rPr lang="en-US" b="1" dirty="0"/>
              <a:t>deleted</a:t>
            </a:r>
            <a:r>
              <a:rPr lang="en-US" dirty="0"/>
              <a:t> too.</a:t>
            </a:r>
          </a:p>
          <a:p>
            <a:pPr lvl="1"/>
            <a:r>
              <a:rPr lang="en-US" b="1" dirty="0"/>
              <a:t>ON DELETE RESTRICT</a:t>
            </a:r>
          </a:p>
          <a:p>
            <a:pPr lvl="2"/>
            <a:r>
              <a:rPr lang="en-US" dirty="0"/>
              <a:t>The deletion of the tuple from </a:t>
            </a:r>
            <a:r>
              <a:rPr lang="en-US" b="1" dirty="0"/>
              <a:t>R1</a:t>
            </a:r>
            <a:r>
              <a:rPr lang="en-US" dirty="0"/>
              <a:t> is </a:t>
            </a:r>
            <a:r>
              <a:rPr lang="en-US" b="1" dirty="0"/>
              <a:t>rejected</a:t>
            </a:r>
            <a:r>
              <a:rPr lang="en-US" dirty="0"/>
              <a:t>.</a:t>
            </a:r>
          </a:p>
          <a:p>
            <a:pPr lvl="1"/>
            <a:r>
              <a:rPr lang="en-US" b="1" dirty="0"/>
              <a:t>ON DELETE NO ACTION</a:t>
            </a:r>
          </a:p>
          <a:p>
            <a:pPr lvl="2"/>
            <a:r>
              <a:rPr lang="en-US" dirty="0"/>
              <a:t>The tuple is deleted from </a:t>
            </a:r>
            <a:r>
              <a:rPr lang="en-US" b="1" dirty="0"/>
              <a:t>R1</a:t>
            </a:r>
            <a:r>
              <a:rPr lang="en-US" dirty="0"/>
              <a:t>, but no action to </a:t>
            </a:r>
            <a:r>
              <a:rPr lang="en-US" b="1" dirty="0"/>
              <a:t>R2</a:t>
            </a:r>
            <a:r>
              <a:rPr lang="en-US" dirty="0"/>
              <a:t>. </a:t>
            </a:r>
          </a:p>
          <a:p>
            <a:pPr lvl="2"/>
            <a:r>
              <a:rPr lang="en-US" dirty="0"/>
              <a:t>The referential integrity is violated.</a:t>
            </a:r>
          </a:p>
        </p:txBody>
      </p:sp>
      <p:sp>
        <p:nvSpPr>
          <p:cNvPr id="6" name="Slide Number Placeholder 5"/>
          <p:cNvSpPr>
            <a:spLocks noGrp="1"/>
          </p:cNvSpPr>
          <p:nvPr>
            <p:ph type="sldNum" sz="quarter" idx="12"/>
          </p:nvPr>
        </p:nvSpPr>
        <p:spPr/>
        <p:txBody>
          <a:bodyPr/>
          <a:lstStyle/>
          <a:p>
            <a:fld id="{C0258BB1-065F-4E57-AE71-1C68702B04A0}" type="slidenum">
              <a:rPr lang="en-IE" smtClean="0"/>
              <a:pPr/>
              <a:t>30</a:t>
            </a:fld>
            <a:endParaRPr lang="en-IE"/>
          </a:p>
        </p:txBody>
      </p:sp>
      <p:pic>
        <p:nvPicPr>
          <p:cNvPr id="5" name="Picture 4" descr="Fig16.jpg"/>
          <p:cNvPicPr>
            <a:picLocks noChangeAspect="1"/>
          </p:cNvPicPr>
          <p:nvPr/>
        </p:nvPicPr>
        <p:blipFill>
          <a:blip r:embed="rId3" cstate="print"/>
          <a:stretch>
            <a:fillRect/>
          </a:stretch>
        </p:blipFill>
        <p:spPr>
          <a:xfrm>
            <a:off x="7822200" y="3273346"/>
            <a:ext cx="4320000" cy="1047990"/>
          </a:xfrm>
          <a:prstGeom prst="rect">
            <a:avLst/>
          </a:prstGeom>
        </p:spPr>
      </p:pic>
      <p:sp>
        <p:nvSpPr>
          <p:cNvPr id="2" name="TextBox 1"/>
          <p:cNvSpPr txBox="1"/>
          <p:nvPr/>
        </p:nvSpPr>
        <p:spPr>
          <a:xfrm>
            <a:off x="11018520" y="4321336"/>
            <a:ext cx="579120" cy="369332"/>
          </a:xfrm>
          <a:prstGeom prst="rect">
            <a:avLst/>
          </a:prstGeom>
          <a:noFill/>
        </p:spPr>
        <p:txBody>
          <a:bodyPr wrap="square" rtlCol="0">
            <a:spAutoFit/>
          </a:bodyPr>
          <a:lstStyle/>
          <a:p>
            <a:r>
              <a:rPr lang="en-US" dirty="0"/>
              <a:t>R1</a:t>
            </a:r>
            <a:endParaRPr lang="en-IE" dirty="0"/>
          </a:p>
        </p:txBody>
      </p:sp>
      <p:sp>
        <p:nvSpPr>
          <p:cNvPr id="7" name="TextBox 6"/>
          <p:cNvSpPr txBox="1"/>
          <p:nvPr/>
        </p:nvSpPr>
        <p:spPr>
          <a:xfrm>
            <a:off x="8321040" y="4329831"/>
            <a:ext cx="579120" cy="369332"/>
          </a:xfrm>
          <a:prstGeom prst="rect">
            <a:avLst/>
          </a:prstGeom>
          <a:noFill/>
        </p:spPr>
        <p:txBody>
          <a:bodyPr wrap="square" rtlCol="0">
            <a:spAutoFit/>
          </a:bodyPr>
          <a:lstStyle/>
          <a:p>
            <a:r>
              <a:rPr lang="en-US" dirty="0"/>
              <a:t>R2</a:t>
            </a:r>
            <a:endParaRPr lang="en-IE" dirty="0"/>
          </a:p>
        </p:txBody>
      </p:sp>
    </p:spTree>
    <p:extLst>
      <p:ext uri="{BB962C8B-B14F-4D97-AF65-F5344CB8AC3E}">
        <p14:creationId xmlns:p14="http://schemas.microsoft.com/office/powerpoint/2010/main" val="17926977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7590" name="AutoShape 6"/>
          <p:cNvSpPr>
            <a:spLocks noGrp="1" noChangeArrowheads="1"/>
          </p:cNvSpPr>
          <p:nvPr>
            <p:ph type="title"/>
          </p:nvPr>
        </p:nvSpPr>
        <p:spPr/>
        <p:txBody>
          <a:bodyPr/>
          <a:lstStyle/>
          <a:p>
            <a:r>
              <a:rPr lang="en-US" dirty="0"/>
              <a:t>Referential Actions ON UPDATE</a:t>
            </a:r>
          </a:p>
        </p:txBody>
      </p:sp>
      <p:sp>
        <p:nvSpPr>
          <p:cNvPr id="3907591" name="Rectangle 7"/>
          <p:cNvSpPr>
            <a:spLocks noGrp="1" noChangeArrowheads="1"/>
          </p:cNvSpPr>
          <p:nvPr>
            <p:ph idx="1"/>
          </p:nvPr>
        </p:nvSpPr>
        <p:spPr/>
        <p:txBody>
          <a:bodyPr>
            <a:normAutofit/>
          </a:bodyPr>
          <a:lstStyle/>
          <a:p>
            <a:endParaRPr lang="en-US" sz="400" dirty="0"/>
          </a:p>
          <a:p>
            <a:r>
              <a:rPr lang="en-US" dirty="0"/>
              <a:t>When you update a tuple from a table, say </a:t>
            </a:r>
            <a:r>
              <a:rPr lang="en-US" b="1" dirty="0"/>
              <a:t>R1</a:t>
            </a:r>
            <a:r>
              <a:rPr lang="en-US" dirty="0"/>
              <a:t>, that is referenced by another table, say </a:t>
            </a:r>
            <a:r>
              <a:rPr lang="en-US" b="1" dirty="0"/>
              <a:t>R2</a:t>
            </a:r>
            <a:r>
              <a:rPr lang="en-US" dirty="0"/>
              <a:t>, there are similar choices of referential actions:</a:t>
            </a:r>
          </a:p>
          <a:p>
            <a:pPr lvl="1"/>
            <a:r>
              <a:rPr lang="en-US" b="1" dirty="0"/>
              <a:t>ON UPDATE CASCADE</a:t>
            </a:r>
          </a:p>
          <a:p>
            <a:pPr lvl="1"/>
            <a:r>
              <a:rPr lang="en-US" b="1" dirty="0"/>
              <a:t>ON UPDATE RESTRICT</a:t>
            </a:r>
          </a:p>
          <a:p>
            <a:pPr lvl="1"/>
            <a:r>
              <a:rPr lang="en-US" b="1" dirty="0"/>
              <a:t>ON UPDATE NO ACTION</a:t>
            </a:r>
          </a:p>
        </p:txBody>
      </p:sp>
      <p:sp>
        <p:nvSpPr>
          <p:cNvPr id="6" name="Slide Number Placeholder 5"/>
          <p:cNvSpPr>
            <a:spLocks noGrp="1"/>
          </p:cNvSpPr>
          <p:nvPr>
            <p:ph type="sldNum" sz="quarter" idx="12"/>
          </p:nvPr>
        </p:nvSpPr>
        <p:spPr/>
        <p:txBody>
          <a:bodyPr/>
          <a:lstStyle/>
          <a:p>
            <a:fld id="{C0258BB1-065F-4E57-AE71-1C68702B04A0}" type="slidenum">
              <a:rPr lang="en-IE" smtClean="0"/>
              <a:pPr/>
              <a:t>31</a:t>
            </a:fld>
            <a:endParaRPr lang="en-IE"/>
          </a:p>
        </p:txBody>
      </p:sp>
    </p:spTree>
    <p:extLst>
      <p:ext uri="{BB962C8B-B14F-4D97-AF65-F5344CB8AC3E}">
        <p14:creationId xmlns:p14="http://schemas.microsoft.com/office/powerpoint/2010/main" val="25638426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IE" dirty="0"/>
              <a:t>Example: </a:t>
            </a:r>
            <a:r>
              <a:rPr lang="en-IE" b="0" dirty="0"/>
              <a:t>Referential Integrity </a:t>
            </a:r>
          </a:p>
        </p:txBody>
      </p:sp>
      <p:sp>
        <p:nvSpPr>
          <p:cNvPr id="6" name="Slide Number Placeholder 5"/>
          <p:cNvSpPr>
            <a:spLocks noGrp="1"/>
          </p:cNvSpPr>
          <p:nvPr>
            <p:ph type="sldNum" sz="quarter" idx="12"/>
          </p:nvPr>
        </p:nvSpPr>
        <p:spPr/>
        <p:txBody>
          <a:bodyPr/>
          <a:lstStyle/>
          <a:p>
            <a:fld id="{E420F726-502A-4A13-B38C-4A07697E010C}" type="slidenum">
              <a:rPr lang="en-IE" smtClean="0"/>
              <a:pPr/>
              <a:t>32</a:t>
            </a:fld>
            <a:endParaRPr lang="en-IE"/>
          </a:p>
        </p:txBody>
      </p:sp>
      <p:pic>
        <p:nvPicPr>
          <p:cNvPr id="8" name="Picture 7" descr="Fig16.jpg"/>
          <p:cNvPicPr>
            <a:picLocks noChangeAspect="1"/>
          </p:cNvPicPr>
          <p:nvPr/>
        </p:nvPicPr>
        <p:blipFill>
          <a:blip r:embed="rId2" cstate="print"/>
          <a:stretch>
            <a:fillRect/>
          </a:stretch>
        </p:blipFill>
        <p:spPr>
          <a:xfrm>
            <a:off x="1983835" y="1947466"/>
            <a:ext cx="4320000" cy="1047990"/>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2109722539"/>
              </p:ext>
            </p:extLst>
          </p:nvPr>
        </p:nvGraphicFramePr>
        <p:xfrm>
          <a:off x="1448341" y="3793607"/>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37054716"/>
                    </a:ext>
                  </a:extLst>
                </a:gridCol>
                <a:gridCol w="2709333">
                  <a:extLst>
                    <a:ext uri="{9D8B030D-6E8A-4147-A177-3AD203B41FA5}">
                      <a16:colId xmlns:a16="http://schemas.microsoft.com/office/drawing/2014/main" val="2859153293"/>
                    </a:ext>
                  </a:extLst>
                </a:gridCol>
                <a:gridCol w="2709333">
                  <a:extLst>
                    <a:ext uri="{9D8B030D-6E8A-4147-A177-3AD203B41FA5}">
                      <a16:colId xmlns:a16="http://schemas.microsoft.com/office/drawing/2014/main" val="3112833725"/>
                    </a:ext>
                  </a:extLst>
                </a:gridCol>
              </a:tblGrid>
              <a:tr h="370840">
                <a:tc>
                  <a:txBody>
                    <a:bodyPr/>
                    <a:lstStyle/>
                    <a:p>
                      <a:r>
                        <a:rPr lang="en-US" dirty="0" err="1"/>
                        <a:t>EmpID</a:t>
                      </a:r>
                      <a:endParaRPr lang="en-I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EmpName</a:t>
                      </a:r>
                      <a:endParaRPr lang="en-I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DeptID</a:t>
                      </a:r>
                      <a:endParaRPr lang="en-IE" dirty="0"/>
                    </a:p>
                  </a:txBody>
                  <a:tcPr/>
                </a:tc>
                <a:extLst>
                  <a:ext uri="{0D108BD9-81ED-4DB2-BD59-A6C34878D82A}">
                    <a16:rowId xmlns:a16="http://schemas.microsoft.com/office/drawing/2014/main" val="1271732891"/>
                  </a:ext>
                </a:extLst>
              </a:tr>
              <a:tr h="370840">
                <a:tc>
                  <a:txBody>
                    <a:bodyPr/>
                    <a:lstStyle/>
                    <a:p>
                      <a:r>
                        <a:rPr lang="en-US" dirty="0"/>
                        <a:t>123</a:t>
                      </a:r>
                      <a:endParaRPr lang="en-IE" dirty="0"/>
                    </a:p>
                  </a:txBody>
                  <a:tcPr/>
                </a:tc>
                <a:tc>
                  <a:txBody>
                    <a:bodyPr/>
                    <a:lstStyle/>
                    <a:p>
                      <a:r>
                        <a:rPr lang="en-US" dirty="0"/>
                        <a:t>Sarah O’Connor</a:t>
                      </a:r>
                      <a:endParaRPr lang="en-IE" dirty="0"/>
                    </a:p>
                  </a:txBody>
                  <a:tcPr/>
                </a:tc>
                <a:tc>
                  <a:txBody>
                    <a:bodyPr/>
                    <a:lstStyle/>
                    <a:p>
                      <a:r>
                        <a:rPr lang="en-US" dirty="0"/>
                        <a:t>A</a:t>
                      </a:r>
                      <a:endParaRPr lang="en-IE" dirty="0"/>
                    </a:p>
                  </a:txBody>
                  <a:tcPr/>
                </a:tc>
                <a:extLst>
                  <a:ext uri="{0D108BD9-81ED-4DB2-BD59-A6C34878D82A}">
                    <a16:rowId xmlns:a16="http://schemas.microsoft.com/office/drawing/2014/main" val="860872982"/>
                  </a:ext>
                </a:extLst>
              </a:tr>
              <a:tr h="370840">
                <a:tc>
                  <a:txBody>
                    <a:bodyPr/>
                    <a:lstStyle/>
                    <a:p>
                      <a:r>
                        <a:rPr lang="en-US" dirty="0"/>
                        <a:t>356</a:t>
                      </a:r>
                      <a:endParaRPr lang="en-IE" dirty="0"/>
                    </a:p>
                  </a:txBody>
                  <a:tcPr/>
                </a:tc>
                <a:tc>
                  <a:txBody>
                    <a:bodyPr/>
                    <a:lstStyle/>
                    <a:p>
                      <a:r>
                        <a:rPr lang="en-US" dirty="0"/>
                        <a:t>Alice Smith</a:t>
                      </a:r>
                      <a:endParaRPr lang="en-IE" dirty="0"/>
                    </a:p>
                  </a:txBody>
                  <a:tcPr/>
                </a:tc>
                <a:tc>
                  <a:txBody>
                    <a:bodyPr/>
                    <a:lstStyle/>
                    <a:p>
                      <a:r>
                        <a:rPr lang="en-US" dirty="0"/>
                        <a:t>B</a:t>
                      </a:r>
                      <a:endParaRPr lang="en-IE" dirty="0"/>
                    </a:p>
                  </a:txBody>
                  <a:tcPr/>
                </a:tc>
                <a:extLst>
                  <a:ext uri="{0D108BD9-81ED-4DB2-BD59-A6C34878D82A}">
                    <a16:rowId xmlns:a16="http://schemas.microsoft.com/office/drawing/2014/main" val="189960285"/>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937144594"/>
              </p:ext>
            </p:extLst>
          </p:nvPr>
        </p:nvGraphicFramePr>
        <p:xfrm>
          <a:off x="1448341" y="5148018"/>
          <a:ext cx="5418666"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37054716"/>
                    </a:ext>
                  </a:extLst>
                </a:gridCol>
                <a:gridCol w="2709333">
                  <a:extLst>
                    <a:ext uri="{9D8B030D-6E8A-4147-A177-3AD203B41FA5}">
                      <a16:colId xmlns:a16="http://schemas.microsoft.com/office/drawing/2014/main" val="2859153293"/>
                    </a:ext>
                  </a:extLst>
                </a:gridCol>
              </a:tblGrid>
              <a:tr h="370840">
                <a:tc>
                  <a:txBody>
                    <a:bodyPr/>
                    <a:lstStyle/>
                    <a:p>
                      <a:r>
                        <a:rPr lang="en-US" dirty="0" err="1"/>
                        <a:t>DepID</a:t>
                      </a:r>
                      <a:endParaRPr lang="en-I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DepName</a:t>
                      </a:r>
                      <a:endParaRPr lang="en-IE" dirty="0"/>
                    </a:p>
                  </a:txBody>
                  <a:tcPr/>
                </a:tc>
                <a:extLst>
                  <a:ext uri="{0D108BD9-81ED-4DB2-BD59-A6C34878D82A}">
                    <a16:rowId xmlns:a16="http://schemas.microsoft.com/office/drawing/2014/main" val="1271732891"/>
                  </a:ext>
                </a:extLst>
              </a:tr>
              <a:tr h="370840">
                <a:tc>
                  <a:txBody>
                    <a:bodyPr/>
                    <a:lstStyle/>
                    <a:p>
                      <a:r>
                        <a:rPr lang="en-US" dirty="0"/>
                        <a:t>A</a:t>
                      </a:r>
                      <a:endParaRPr lang="en-IE" dirty="0"/>
                    </a:p>
                  </a:txBody>
                  <a:tcPr/>
                </a:tc>
                <a:tc>
                  <a:txBody>
                    <a:bodyPr/>
                    <a:lstStyle/>
                    <a:p>
                      <a:r>
                        <a:rPr lang="en-US" dirty="0"/>
                        <a:t>Web development</a:t>
                      </a:r>
                      <a:endParaRPr lang="en-IE" dirty="0"/>
                    </a:p>
                  </a:txBody>
                  <a:tcPr/>
                </a:tc>
                <a:extLst>
                  <a:ext uri="{0D108BD9-81ED-4DB2-BD59-A6C34878D82A}">
                    <a16:rowId xmlns:a16="http://schemas.microsoft.com/office/drawing/2014/main" val="860872982"/>
                  </a:ext>
                </a:extLst>
              </a:tr>
              <a:tr h="370840">
                <a:tc>
                  <a:txBody>
                    <a:bodyPr/>
                    <a:lstStyle/>
                    <a:p>
                      <a:r>
                        <a:rPr lang="en-US" dirty="0"/>
                        <a:t>B</a:t>
                      </a:r>
                      <a:endParaRPr lang="en-IE" dirty="0"/>
                    </a:p>
                  </a:txBody>
                  <a:tcPr/>
                </a:tc>
                <a:tc>
                  <a:txBody>
                    <a:bodyPr/>
                    <a:lstStyle/>
                    <a:p>
                      <a:r>
                        <a:rPr lang="en-US" dirty="0"/>
                        <a:t>General Engineering</a:t>
                      </a:r>
                      <a:endParaRPr lang="en-IE" dirty="0"/>
                    </a:p>
                  </a:txBody>
                  <a:tcPr/>
                </a:tc>
                <a:extLst>
                  <a:ext uri="{0D108BD9-81ED-4DB2-BD59-A6C34878D82A}">
                    <a16:rowId xmlns:a16="http://schemas.microsoft.com/office/drawing/2014/main" val="189960285"/>
                  </a:ext>
                </a:extLst>
              </a:tr>
            </a:tbl>
          </a:graphicData>
        </a:graphic>
      </p:graphicFrame>
    </p:spTree>
    <p:extLst>
      <p:ext uri="{BB962C8B-B14F-4D97-AF65-F5344CB8AC3E}">
        <p14:creationId xmlns:p14="http://schemas.microsoft.com/office/powerpoint/2010/main" val="201316547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IE" dirty="0"/>
              <a:t>Example: </a:t>
            </a:r>
            <a:r>
              <a:rPr lang="en-IE" b="0" dirty="0"/>
              <a:t>Referential Integrity</a:t>
            </a:r>
            <a:br>
              <a:rPr lang="en-IE" b="0" dirty="0"/>
            </a:br>
            <a:r>
              <a:rPr lang="en-IE" dirty="0"/>
              <a:t>ON DELETE CASCADE</a:t>
            </a:r>
            <a:r>
              <a:rPr lang="en-IE" b="0" dirty="0"/>
              <a:t> </a:t>
            </a:r>
          </a:p>
        </p:txBody>
      </p:sp>
      <p:sp>
        <p:nvSpPr>
          <p:cNvPr id="6" name="Slide Number Placeholder 5"/>
          <p:cNvSpPr>
            <a:spLocks noGrp="1"/>
          </p:cNvSpPr>
          <p:nvPr>
            <p:ph type="sldNum" sz="quarter" idx="12"/>
          </p:nvPr>
        </p:nvSpPr>
        <p:spPr/>
        <p:txBody>
          <a:bodyPr/>
          <a:lstStyle/>
          <a:p>
            <a:fld id="{E420F726-502A-4A13-B38C-4A07697E010C}" type="slidenum">
              <a:rPr lang="en-IE" smtClean="0"/>
              <a:pPr/>
              <a:t>33</a:t>
            </a:fld>
            <a:endParaRPr lang="en-IE"/>
          </a:p>
        </p:txBody>
      </p:sp>
      <p:pic>
        <p:nvPicPr>
          <p:cNvPr id="8" name="Picture 7" descr="Fig16.jpg"/>
          <p:cNvPicPr>
            <a:picLocks noChangeAspect="1"/>
          </p:cNvPicPr>
          <p:nvPr/>
        </p:nvPicPr>
        <p:blipFill>
          <a:blip r:embed="rId2" cstate="print"/>
          <a:stretch>
            <a:fillRect/>
          </a:stretch>
        </p:blipFill>
        <p:spPr>
          <a:xfrm>
            <a:off x="1983835" y="1947466"/>
            <a:ext cx="4320000" cy="1047990"/>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190969578"/>
              </p:ext>
            </p:extLst>
          </p:nvPr>
        </p:nvGraphicFramePr>
        <p:xfrm>
          <a:off x="1448341" y="3793607"/>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37054716"/>
                    </a:ext>
                  </a:extLst>
                </a:gridCol>
                <a:gridCol w="2709333">
                  <a:extLst>
                    <a:ext uri="{9D8B030D-6E8A-4147-A177-3AD203B41FA5}">
                      <a16:colId xmlns:a16="http://schemas.microsoft.com/office/drawing/2014/main" val="2859153293"/>
                    </a:ext>
                  </a:extLst>
                </a:gridCol>
                <a:gridCol w="2709333">
                  <a:extLst>
                    <a:ext uri="{9D8B030D-6E8A-4147-A177-3AD203B41FA5}">
                      <a16:colId xmlns:a16="http://schemas.microsoft.com/office/drawing/2014/main" val="3112833725"/>
                    </a:ext>
                  </a:extLst>
                </a:gridCol>
              </a:tblGrid>
              <a:tr h="370840">
                <a:tc>
                  <a:txBody>
                    <a:bodyPr/>
                    <a:lstStyle/>
                    <a:p>
                      <a:r>
                        <a:rPr lang="en-US" dirty="0" err="1"/>
                        <a:t>EmpID</a:t>
                      </a:r>
                      <a:endParaRPr lang="en-I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EmpName</a:t>
                      </a:r>
                      <a:endParaRPr lang="en-I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DeptID</a:t>
                      </a:r>
                      <a:endParaRPr lang="en-IE" dirty="0"/>
                    </a:p>
                  </a:txBody>
                  <a:tcPr/>
                </a:tc>
                <a:extLst>
                  <a:ext uri="{0D108BD9-81ED-4DB2-BD59-A6C34878D82A}">
                    <a16:rowId xmlns:a16="http://schemas.microsoft.com/office/drawing/2014/main" val="1271732891"/>
                  </a:ext>
                </a:extLst>
              </a:tr>
              <a:tr h="370840">
                <a:tc>
                  <a:txBody>
                    <a:bodyPr/>
                    <a:lstStyle/>
                    <a:p>
                      <a:r>
                        <a:rPr lang="en-US" dirty="0"/>
                        <a:t>123</a:t>
                      </a:r>
                      <a:endParaRPr lang="en-IE" dirty="0"/>
                    </a:p>
                  </a:txBody>
                  <a:tcPr/>
                </a:tc>
                <a:tc>
                  <a:txBody>
                    <a:bodyPr/>
                    <a:lstStyle/>
                    <a:p>
                      <a:r>
                        <a:rPr lang="en-US" dirty="0"/>
                        <a:t>Sarah O’Connor</a:t>
                      </a:r>
                      <a:endParaRPr lang="en-IE" dirty="0"/>
                    </a:p>
                  </a:txBody>
                  <a:tcPr/>
                </a:tc>
                <a:tc>
                  <a:txBody>
                    <a:bodyPr/>
                    <a:lstStyle/>
                    <a:p>
                      <a:r>
                        <a:rPr lang="en-US" dirty="0"/>
                        <a:t>A</a:t>
                      </a:r>
                      <a:endParaRPr lang="en-IE" dirty="0"/>
                    </a:p>
                  </a:txBody>
                  <a:tcPr/>
                </a:tc>
                <a:extLst>
                  <a:ext uri="{0D108BD9-81ED-4DB2-BD59-A6C34878D82A}">
                    <a16:rowId xmlns:a16="http://schemas.microsoft.com/office/drawing/2014/main" val="860872982"/>
                  </a:ext>
                </a:extLst>
              </a:tr>
              <a:tr h="370840">
                <a:tc>
                  <a:txBody>
                    <a:bodyPr/>
                    <a:lstStyle/>
                    <a:p>
                      <a:r>
                        <a:rPr lang="en-US" strike="noStrike" dirty="0"/>
                        <a:t>356</a:t>
                      </a:r>
                      <a:endParaRPr lang="en-IE" strike="noStrike" dirty="0"/>
                    </a:p>
                  </a:txBody>
                  <a:tcPr/>
                </a:tc>
                <a:tc>
                  <a:txBody>
                    <a:bodyPr/>
                    <a:lstStyle/>
                    <a:p>
                      <a:r>
                        <a:rPr lang="en-US" strike="noStrike" dirty="0"/>
                        <a:t>Alice Smith</a:t>
                      </a:r>
                      <a:endParaRPr lang="en-IE" strike="noStrike" dirty="0"/>
                    </a:p>
                  </a:txBody>
                  <a:tcPr/>
                </a:tc>
                <a:tc>
                  <a:txBody>
                    <a:bodyPr/>
                    <a:lstStyle/>
                    <a:p>
                      <a:r>
                        <a:rPr lang="en-US" strike="noStrike" dirty="0"/>
                        <a:t>B</a:t>
                      </a:r>
                      <a:endParaRPr lang="en-IE" strike="noStrike" dirty="0"/>
                    </a:p>
                  </a:txBody>
                  <a:tcPr/>
                </a:tc>
                <a:extLst>
                  <a:ext uri="{0D108BD9-81ED-4DB2-BD59-A6C34878D82A}">
                    <a16:rowId xmlns:a16="http://schemas.microsoft.com/office/drawing/2014/main" val="189960285"/>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449226506"/>
              </p:ext>
            </p:extLst>
          </p:nvPr>
        </p:nvGraphicFramePr>
        <p:xfrm>
          <a:off x="1448341" y="5148018"/>
          <a:ext cx="5418666"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37054716"/>
                    </a:ext>
                  </a:extLst>
                </a:gridCol>
                <a:gridCol w="2709333">
                  <a:extLst>
                    <a:ext uri="{9D8B030D-6E8A-4147-A177-3AD203B41FA5}">
                      <a16:colId xmlns:a16="http://schemas.microsoft.com/office/drawing/2014/main" val="2859153293"/>
                    </a:ext>
                  </a:extLst>
                </a:gridCol>
              </a:tblGrid>
              <a:tr h="370840">
                <a:tc>
                  <a:txBody>
                    <a:bodyPr/>
                    <a:lstStyle/>
                    <a:p>
                      <a:r>
                        <a:rPr lang="en-US" dirty="0" err="1"/>
                        <a:t>DepID</a:t>
                      </a:r>
                      <a:endParaRPr lang="en-I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DepName</a:t>
                      </a:r>
                      <a:endParaRPr lang="en-IE" dirty="0"/>
                    </a:p>
                  </a:txBody>
                  <a:tcPr/>
                </a:tc>
                <a:extLst>
                  <a:ext uri="{0D108BD9-81ED-4DB2-BD59-A6C34878D82A}">
                    <a16:rowId xmlns:a16="http://schemas.microsoft.com/office/drawing/2014/main" val="1271732891"/>
                  </a:ext>
                </a:extLst>
              </a:tr>
              <a:tr h="370840">
                <a:tc>
                  <a:txBody>
                    <a:bodyPr/>
                    <a:lstStyle/>
                    <a:p>
                      <a:r>
                        <a:rPr lang="en-US" dirty="0"/>
                        <a:t>A</a:t>
                      </a:r>
                      <a:endParaRPr lang="en-IE" dirty="0"/>
                    </a:p>
                  </a:txBody>
                  <a:tcPr/>
                </a:tc>
                <a:tc>
                  <a:txBody>
                    <a:bodyPr/>
                    <a:lstStyle/>
                    <a:p>
                      <a:r>
                        <a:rPr lang="en-US" dirty="0"/>
                        <a:t>Web development</a:t>
                      </a:r>
                      <a:endParaRPr lang="en-IE" dirty="0"/>
                    </a:p>
                  </a:txBody>
                  <a:tcPr/>
                </a:tc>
                <a:extLst>
                  <a:ext uri="{0D108BD9-81ED-4DB2-BD59-A6C34878D82A}">
                    <a16:rowId xmlns:a16="http://schemas.microsoft.com/office/drawing/2014/main" val="860872982"/>
                  </a:ext>
                </a:extLst>
              </a:tr>
              <a:tr h="370840">
                <a:tc>
                  <a:txBody>
                    <a:bodyPr/>
                    <a:lstStyle/>
                    <a:p>
                      <a:r>
                        <a:rPr lang="en-US" strike="sngStrike" dirty="0"/>
                        <a:t>B</a:t>
                      </a:r>
                      <a:endParaRPr lang="en-IE" strike="sngStrike" dirty="0"/>
                    </a:p>
                  </a:txBody>
                  <a:tcPr/>
                </a:tc>
                <a:tc>
                  <a:txBody>
                    <a:bodyPr/>
                    <a:lstStyle/>
                    <a:p>
                      <a:r>
                        <a:rPr lang="en-US" strike="sngStrike" dirty="0"/>
                        <a:t>General Engineering</a:t>
                      </a:r>
                      <a:endParaRPr lang="en-IE" strike="sngStrike" dirty="0"/>
                    </a:p>
                  </a:txBody>
                  <a:tcPr/>
                </a:tc>
                <a:extLst>
                  <a:ext uri="{0D108BD9-81ED-4DB2-BD59-A6C34878D82A}">
                    <a16:rowId xmlns:a16="http://schemas.microsoft.com/office/drawing/2014/main" val="189960285"/>
                  </a:ext>
                </a:extLst>
              </a:tr>
            </a:tbl>
          </a:graphicData>
        </a:graphic>
      </p:graphicFrame>
      <p:sp>
        <p:nvSpPr>
          <p:cNvPr id="3" name="Right Arrow 2"/>
          <p:cNvSpPr/>
          <p:nvPr/>
        </p:nvSpPr>
        <p:spPr>
          <a:xfrm>
            <a:off x="214009" y="5933872"/>
            <a:ext cx="1089497" cy="326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Delete</a:t>
            </a:r>
            <a:endParaRPr lang="en-IE" dirty="0"/>
          </a:p>
        </p:txBody>
      </p:sp>
    </p:spTree>
    <p:extLst>
      <p:ext uri="{BB962C8B-B14F-4D97-AF65-F5344CB8AC3E}">
        <p14:creationId xmlns:p14="http://schemas.microsoft.com/office/powerpoint/2010/main" val="230693618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IE" dirty="0"/>
              <a:t>Example: </a:t>
            </a:r>
            <a:r>
              <a:rPr lang="en-IE" b="0" dirty="0"/>
              <a:t>Referential Integrity</a:t>
            </a:r>
            <a:br>
              <a:rPr lang="en-IE" b="0" dirty="0"/>
            </a:br>
            <a:r>
              <a:rPr lang="en-IE" dirty="0"/>
              <a:t>ON DELETE CASCADE</a:t>
            </a:r>
            <a:r>
              <a:rPr lang="en-IE" b="0" dirty="0"/>
              <a:t> </a:t>
            </a:r>
          </a:p>
        </p:txBody>
      </p:sp>
      <p:sp>
        <p:nvSpPr>
          <p:cNvPr id="6" name="Slide Number Placeholder 5"/>
          <p:cNvSpPr>
            <a:spLocks noGrp="1"/>
          </p:cNvSpPr>
          <p:nvPr>
            <p:ph type="sldNum" sz="quarter" idx="12"/>
          </p:nvPr>
        </p:nvSpPr>
        <p:spPr/>
        <p:txBody>
          <a:bodyPr/>
          <a:lstStyle/>
          <a:p>
            <a:fld id="{E420F726-502A-4A13-B38C-4A07697E010C}" type="slidenum">
              <a:rPr lang="en-IE" smtClean="0"/>
              <a:pPr/>
              <a:t>34</a:t>
            </a:fld>
            <a:endParaRPr lang="en-IE"/>
          </a:p>
        </p:txBody>
      </p:sp>
      <p:pic>
        <p:nvPicPr>
          <p:cNvPr id="8" name="Picture 7" descr="Fig16.jpg"/>
          <p:cNvPicPr>
            <a:picLocks noChangeAspect="1"/>
          </p:cNvPicPr>
          <p:nvPr/>
        </p:nvPicPr>
        <p:blipFill>
          <a:blip r:embed="rId2" cstate="print"/>
          <a:stretch>
            <a:fillRect/>
          </a:stretch>
        </p:blipFill>
        <p:spPr>
          <a:xfrm>
            <a:off x="1983835" y="1947466"/>
            <a:ext cx="4320000" cy="1047990"/>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2415775060"/>
              </p:ext>
            </p:extLst>
          </p:nvPr>
        </p:nvGraphicFramePr>
        <p:xfrm>
          <a:off x="1448341" y="3793607"/>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37054716"/>
                    </a:ext>
                  </a:extLst>
                </a:gridCol>
                <a:gridCol w="2709333">
                  <a:extLst>
                    <a:ext uri="{9D8B030D-6E8A-4147-A177-3AD203B41FA5}">
                      <a16:colId xmlns:a16="http://schemas.microsoft.com/office/drawing/2014/main" val="2859153293"/>
                    </a:ext>
                  </a:extLst>
                </a:gridCol>
                <a:gridCol w="2709333">
                  <a:extLst>
                    <a:ext uri="{9D8B030D-6E8A-4147-A177-3AD203B41FA5}">
                      <a16:colId xmlns:a16="http://schemas.microsoft.com/office/drawing/2014/main" val="3112833725"/>
                    </a:ext>
                  </a:extLst>
                </a:gridCol>
              </a:tblGrid>
              <a:tr h="370840">
                <a:tc>
                  <a:txBody>
                    <a:bodyPr/>
                    <a:lstStyle/>
                    <a:p>
                      <a:r>
                        <a:rPr lang="en-US" dirty="0" err="1"/>
                        <a:t>EmpID</a:t>
                      </a:r>
                      <a:endParaRPr lang="en-I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EmpName</a:t>
                      </a:r>
                      <a:endParaRPr lang="en-I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DeptID</a:t>
                      </a:r>
                      <a:endParaRPr lang="en-IE" dirty="0"/>
                    </a:p>
                  </a:txBody>
                  <a:tcPr/>
                </a:tc>
                <a:extLst>
                  <a:ext uri="{0D108BD9-81ED-4DB2-BD59-A6C34878D82A}">
                    <a16:rowId xmlns:a16="http://schemas.microsoft.com/office/drawing/2014/main" val="1271732891"/>
                  </a:ext>
                </a:extLst>
              </a:tr>
              <a:tr h="370840">
                <a:tc>
                  <a:txBody>
                    <a:bodyPr/>
                    <a:lstStyle/>
                    <a:p>
                      <a:r>
                        <a:rPr lang="en-US" dirty="0"/>
                        <a:t>123</a:t>
                      </a:r>
                      <a:endParaRPr lang="en-IE" dirty="0"/>
                    </a:p>
                  </a:txBody>
                  <a:tcPr/>
                </a:tc>
                <a:tc>
                  <a:txBody>
                    <a:bodyPr/>
                    <a:lstStyle/>
                    <a:p>
                      <a:r>
                        <a:rPr lang="en-US" dirty="0"/>
                        <a:t>Sarah O’Connor</a:t>
                      </a:r>
                      <a:endParaRPr lang="en-IE" dirty="0"/>
                    </a:p>
                  </a:txBody>
                  <a:tcPr/>
                </a:tc>
                <a:tc>
                  <a:txBody>
                    <a:bodyPr/>
                    <a:lstStyle/>
                    <a:p>
                      <a:r>
                        <a:rPr lang="en-US" dirty="0"/>
                        <a:t>A</a:t>
                      </a:r>
                      <a:endParaRPr lang="en-IE" dirty="0"/>
                    </a:p>
                  </a:txBody>
                  <a:tcPr/>
                </a:tc>
                <a:extLst>
                  <a:ext uri="{0D108BD9-81ED-4DB2-BD59-A6C34878D82A}">
                    <a16:rowId xmlns:a16="http://schemas.microsoft.com/office/drawing/2014/main" val="860872982"/>
                  </a:ext>
                </a:extLst>
              </a:tr>
              <a:tr h="370840">
                <a:tc>
                  <a:txBody>
                    <a:bodyPr/>
                    <a:lstStyle/>
                    <a:p>
                      <a:r>
                        <a:rPr lang="en-US" strike="sngStrike" dirty="0"/>
                        <a:t>356</a:t>
                      </a:r>
                      <a:endParaRPr lang="en-IE" strike="sngStrike" dirty="0"/>
                    </a:p>
                  </a:txBody>
                  <a:tcPr/>
                </a:tc>
                <a:tc>
                  <a:txBody>
                    <a:bodyPr/>
                    <a:lstStyle/>
                    <a:p>
                      <a:r>
                        <a:rPr lang="en-US" strike="sngStrike" dirty="0"/>
                        <a:t>Alice Smith</a:t>
                      </a:r>
                      <a:endParaRPr lang="en-IE" strike="sngStrike" dirty="0"/>
                    </a:p>
                  </a:txBody>
                  <a:tcPr/>
                </a:tc>
                <a:tc>
                  <a:txBody>
                    <a:bodyPr/>
                    <a:lstStyle/>
                    <a:p>
                      <a:r>
                        <a:rPr lang="en-US" strike="sngStrike" dirty="0"/>
                        <a:t>B</a:t>
                      </a:r>
                      <a:endParaRPr lang="en-IE" strike="sngStrike" dirty="0"/>
                    </a:p>
                  </a:txBody>
                  <a:tcPr/>
                </a:tc>
                <a:extLst>
                  <a:ext uri="{0D108BD9-81ED-4DB2-BD59-A6C34878D82A}">
                    <a16:rowId xmlns:a16="http://schemas.microsoft.com/office/drawing/2014/main" val="189960285"/>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449226506"/>
              </p:ext>
            </p:extLst>
          </p:nvPr>
        </p:nvGraphicFramePr>
        <p:xfrm>
          <a:off x="1448341" y="5148018"/>
          <a:ext cx="5418666"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37054716"/>
                    </a:ext>
                  </a:extLst>
                </a:gridCol>
                <a:gridCol w="2709333">
                  <a:extLst>
                    <a:ext uri="{9D8B030D-6E8A-4147-A177-3AD203B41FA5}">
                      <a16:colId xmlns:a16="http://schemas.microsoft.com/office/drawing/2014/main" val="2859153293"/>
                    </a:ext>
                  </a:extLst>
                </a:gridCol>
              </a:tblGrid>
              <a:tr h="370840">
                <a:tc>
                  <a:txBody>
                    <a:bodyPr/>
                    <a:lstStyle/>
                    <a:p>
                      <a:r>
                        <a:rPr lang="en-US" dirty="0" err="1"/>
                        <a:t>DepID</a:t>
                      </a:r>
                      <a:endParaRPr lang="en-I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DepName</a:t>
                      </a:r>
                      <a:endParaRPr lang="en-IE" dirty="0"/>
                    </a:p>
                  </a:txBody>
                  <a:tcPr/>
                </a:tc>
                <a:extLst>
                  <a:ext uri="{0D108BD9-81ED-4DB2-BD59-A6C34878D82A}">
                    <a16:rowId xmlns:a16="http://schemas.microsoft.com/office/drawing/2014/main" val="1271732891"/>
                  </a:ext>
                </a:extLst>
              </a:tr>
              <a:tr h="370840">
                <a:tc>
                  <a:txBody>
                    <a:bodyPr/>
                    <a:lstStyle/>
                    <a:p>
                      <a:r>
                        <a:rPr lang="en-US" dirty="0"/>
                        <a:t>A</a:t>
                      </a:r>
                      <a:endParaRPr lang="en-IE" dirty="0"/>
                    </a:p>
                  </a:txBody>
                  <a:tcPr/>
                </a:tc>
                <a:tc>
                  <a:txBody>
                    <a:bodyPr/>
                    <a:lstStyle/>
                    <a:p>
                      <a:r>
                        <a:rPr lang="en-US" dirty="0"/>
                        <a:t>Web development</a:t>
                      </a:r>
                      <a:endParaRPr lang="en-IE" dirty="0"/>
                    </a:p>
                  </a:txBody>
                  <a:tcPr/>
                </a:tc>
                <a:extLst>
                  <a:ext uri="{0D108BD9-81ED-4DB2-BD59-A6C34878D82A}">
                    <a16:rowId xmlns:a16="http://schemas.microsoft.com/office/drawing/2014/main" val="860872982"/>
                  </a:ext>
                </a:extLst>
              </a:tr>
              <a:tr h="370840">
                <a:tc>
                  <a:txBody>
                    <a:bodyPr/>
                    <a:lstStyle/>
                    <a:p>
                      <a:r>
                        <a:rPr lang="en-US" strike="sngStrike" dirty="0"/>
                        <a:t>B</a:t>
                      </a:r>
                      <a:endParaRPr lang="en-IE" strike="sngStrike" dirty="0"/>
                    </a:p>
                  </a:txBody>
                  <a:tcPr/>
                </a:tc>
                <a:tc>
                  <a:txBody>
                    <a:bodyPr/>
                    <a:lstStyle/>
                    <a:p>
                      <a:r>
                        <a:rPr lang="en-US" strike="sngStrike" dirty="0"/>
                        <a:t>General Engineering</a:t>
                      </a:r>
                      <a:endParaRPr lang="en-IE" strike="sngStrike" dirty="0"/>
                    </a:p>
                  </a:txBody>
                  <a:tcPr/>
                </a:tc>
                <a:extLst>
                  <a:ext uri="{0D108BD9-81ED-4DB2-BD59-A6C34878D82A}">
                    <a16:rowId xmlns:a16="http://schemas.microsoft.com/office/drawing/2014/main" val="189960285"/>
                  </a:ext>
                </a:extLst>
              </a:tr>
            </a:tbl>
          </a:graphicData>
        </a:graphic>
      </p:graphicFrame>
      <p:sp>
        <p:nvSpPr>
          <p:cNvPr id="3" name="Right Arrow 2"/>
          <p:cNvSpPr/>
          <p:nvPr/>
        </p:nvSpPr>
        <p:spPr>
          <a:xfrm>
            <a:off x="214008" y="5441773"/>
            <a:ext cx="1089497" cy="11125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 Delete</a:t>
            </a:r>
            <a:endParaRPr lang="en-IE" dirty="0"/>
          </a:p>
        </p:txBody>
      </p:sp>
      <p:sp>
        <p:nvSpPr>
          <p:cNvPr id="10" name="Right Arrow 9"/>
          <p:cNvSpPr/>
          <p:nvPr/>
        </p:nvSpPr>
        <p:spPr>
          <a:xfrm>
            <a:off x="0" y="3793607"/>
            <a:ext cx="1448341" cy="1688358"/>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On Delete</a:t>
            </a:r>
          </a:p>
          <a:p>
            <a:pPr algn="ctr"/>
            <a:r>
              <a:rPr lang="en-US" dirty="0"/>
              <a:t>CASCADE</a:t>
            </a:r>
          </a:p>
        </p:txBody>
      </p:sp>
    </p:spTree>
    <p:extLst>
      <p:ext uri="{BB962C8B-B14F-4D97-AF65-F5344CB8AC3E}">
        <p14:creationId xmlns:p14="http://schemas.microsoft.com/office/powerpoint/2010/main" val="386871553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IE" dirty="0"/>
              <a:t>Example: </a:t>
            </a:r>
            <a:r>
              <a:rPr lang="en-IE" b="0" dirty="0"/>
              <a:t>Referential Integrity</a:t>
            </a:r>
            <a:br>
              <a:rPr lang="en-IE" b="0" dirty="0"/>
            </a:br>
            <a:r>
              <a:rPr lang="en-US" b="1" dirty="0"/>
              <a:t>ON DELETE RESTRICT</a:t>
            </a:r>
            <a:br>
              <a:rPr lang="en-US" b="1" dirty="0"/>
            </a:br>
            <a:r>
              <a:rPr lang="en-IE" b="0" dirty="0"/>
              <a:t> </a:t>
            </a:r>
          </a:p>
        </p:txBody>
      </p:sp>
      <p:sp>
        <p:nvSpPr>
          <p:cNvPr id="6" name="Slide Number Placeholder 5"/>
          <p:cNvSpPr>
            <a:spLocks noGrp="1"/>
          </p:cNvSpPr>
          <p:nvPr>
            <p:ph type="sldNum" sz="quarter" idx="12"/>
          </p:nvPr>
        </p:nvSpPr>
        <p:spPr/>
        <p:txBody>
          <a:bodyPr/>
          <a:lstStyle/>
          <a:p>
            <a:fld id="{E420F726-502A-4A13-B38C-4A07697E010C}" type="slidenum">
              <a:rPr lang="en-IE" smtClean="0"/>
              <a:pPr/>
              <a:t>35</a:t>
            </a:fld>
            <a:endParaRPr lang="en-IE"/>
          </a:p>
        </p:txBody>
      </p:sp>
      <p:pic>
        <p:nvPicPr>
          <p:cNvPr id="8" name="Picture 7" descr="Fig16.jpg"/>
          <p:cNvPicPr>
            <a:picLocks noChangeAspect="1"/>
          </p:cNvPicPr>
          <p:nvPr/>
        </p:nvPicPr>
        <p:blipFill>
          <a:blip r:embed="rId2" cstate="print"/>
          <a:stretch>
            <a:fillRect/>
          </a:stretch>
        </p:blipFill>
        <p:spPr>
          <a:xfrm>
            <a:off x="1983835" y="1947466"/>
            <a:ext cx="4320000" cy="1047990"/>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2109722539"/>
              </p:ext>
            </p:extLst>
          </p:nvPr>
        </p:nvGraphicFramePr>
        <p:xfrm>
          <a:off x="1448341" y="3793607"/>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37054716"/>
                    </a:ext>
                  </a:extLst>
                </a:gridCol>
                <a:gridCol w="2709333">
                  <a:extLst>
                    <a:ext uri="{9D8B030D-6E8A-4147-A177-3AD203B41FA5}">
                      <a16:colId xmlns:a16="http://schemas.microsoft.com/office/drawing/2014/main" val="2859153293"/>
                    </a:ext>
                  </a:extLst>
                </a:gridCol>
                <a:gridCol w="2709333">
                  <a:extLst>
                    <a:ext uri="{9D8B030D-6E8A-4147-A177-3AD203B41FA5}">
                      <a16:colId xmlns:a16="http://schemas.microsoft.com/office/drawing/2014/main" val="3112833725"/>
                    </a:ext>
                  </a:extLst>
                </a:gridCol>
              </a:tblGrid>
              <a:tr h="370840">
                <a:tc>
                  <a:txBody>
                    <a:bodyPr/>
                    <a:lstStyle/>
                    <a:p>
                      <a:r>
                        <a:rPr lang="en-US" dirty="0" err="1"/>
                        <a:t>EmpID</a:t>
                      </a:r>
                      <a:endParaRPr lang="en-I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EmpName</a:t>
                      </a:r>
                      <a:endParaRPr lang="en-I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DeptID</a:t>
                      </a:r>
                      <a:endParaRPr lang="en-IE" dirty="0"/>
                    </a:p>
                  </a:txBody>
                  <a:tcPr/>
                </a:tc>
                <a:extLst>
                  <a:ext uri="{0D108BD9-81ED-4DB2-BD59-A6C34878D82A}">
                    <a16:rowId xmlns:a16="http://schemas.microsoft.com/office/drawing/2014/main" val="1271732891"/>
                  </a:ext>
                </a:extLst>
              </a:tr>
              <a:tr h="370840">
                <a:tc>
                  <a:txBody>
                    <a:bodyPr/>
                    <a:lstStyle/>
                    <a:p>
                      <a:r>
                        <a:rPr lang="en-US" dirty="0"/>
                        <a:t>123</a:t>
                      </a:r>
                      <a:endParaRPr lang="en-IE" dirty="0"/>
                    </a:p>
                  </a:txBody>
                  <a:tcPr/>
                </a:tc>
                <a:tc>
                  <a:txBody>
                    <a:bodyPr/>
                    <a:lstStyle/>
                    <a:p>
                      <a:r>
                        <a:rPr lang="en-US" dirty="0"/>
                        <a:t>Sarah O’Connor</a:t>
                      </a:r>
                      <a:endParaRPr lang="en-IE" dirty="0"/>
                    </a:p>
                  </a:txBody>
                  <a:tcPr/>
                </a:tc>
                <a:tc>
                  <a:txBody>
                    <a:bodyPr/>
                    <a:lstStyle/>
                    <a:p>
                      <a:r>
                        <a:rPr lang="en-US" dirty="0"/>
                        <a:t>A</a:t>
                      </a:r>
                      <a:endParaRPr lang="en-IE" dirty="0"/>
                    </a:p>
                  </a:txBody>
                  <a:tcPr/>
                </a:tc>
                <a:extLst>
                  <a:ext uri="{0D108BD9-81ED-4DB2-BD59-A6C34878D82A}">
                    <a16:rowId xmlns:a16="http://schemas.microsoft.com/office/drawing/2014/main" val="860872982"/>
                  </a:ext>
                </a:extLst>
              </a:tr>
              <a:tr h="370840">
                <a:tc>
                  <a:txBody>
                    <a:bodyPr/>
                    <a:lstStyle/>
                    <a:p>
                      <a:r>
                        <a:rPr lang="en-US" dirty="0"/>
                        <a:t>356</a:t>
                      </a:r>
                      <a:endParaRPr lang="en-IE" dirty="0"/>
                    </a:p>
                  </a:txBody>
                  <a:tcPr/>
                </a:tc>
                <a:tc>
                  <a:txBody>
                    <a:bodyPr/>
                    <a:lstStyle/>
                    <a:p>
                      <a:r>
                        <a:rPr lang="en-US" dirty="0"/>
                        <a:t>Alice Smith</a:t>
                      </a:r>
                      <a:endParaRPr lang="en-IE" dirty="0"/>
                    </a:p>
                  </a:txBody>
                  <a:tcPr/>
                </a:tc>
                <a:tc>
                  <a:txBody>
                    <a:bodyPr/>
                    <a:lstStyle/>
                    <a:p>
                      <a:r>
                        <a:rPr lang="en-US" dirty="0"/>
                        <a:t>B</a:t>
                      </a:r>
                      <a:endParaRPr lang="en-IE" dirty="0"/>
                    </a:p>
                  </a:txBody>
                  <a:tcPr/>
                </a:tc>
                <a:extLst>
                  <a:ext uri="{0D108BD9-81ED-4DB2-BD59-A6C34878D82A}">
                    <a16:rowId xmlns:a16="http://schemas.microsoft.com/office/drawing/2014/main" val="189960285"/>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937144594"/>
              </p:ext>
            </p:extLst>
          </p:nvPr>
        </p:nvGraphicFramePr>
        <p:xfrm>
          <a:off x="1448341" y="5148018"/>
          <a:ext cx="5418666"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37054716"/>
                    </a:ext>
                  </a:extLst>
                </a:gridCol>
                <a:gridCol w="2709333">
                  <a:extLst>
                    <a:ext uri="{9D8B030D-6E8A-4147-A177-3AD203B41FA5}">
                      <a16:colId xmlns:a16="http://schemas.microsoft.com/office/drawing/2014/main" val="2859153293"/>
                    </a:ext>
                  </a:extLst>
                </a:gridCol>
              </a:tblGrid>
              <a:tr h="370840">
                <a:tc>
                  <a:txBody>
                    <a:bodyPr/>
                    <a:lstStyle/>
                    <a:p>
                      <a:r>
                        <a:rPr lang="en-US" dirty="0" err="1"/>
                        <a:t>DepID</a:t>
                      </a:r>
                      <a:endParaRPr lang="en-I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DepName</a:t>
                      </a:r>
                      <a:endParaRPr lang="en-IE" dirty="0"/>
                    </a:p>
                  </a:txBody>
                  <a:tcPr/>
                </a:tc>
                <a:extLst>
                  <a:ext uri="{0D108BD9-81ED-4DB2-BD59-A6C34878D82A}">
                    <a16:rowId xmlns:a16="http://schemas.microsoft.com/office/drawing/2014/main" val="1271732891"/>
                  </a:ext>
                </a:extLst>
              </a:tr>
              <a:tr h="370840">
                <a:tc>
                  <a:txBody>
                    <a:bodyPr/>
                    <a:lstStyle/>
                    <a:p>
                      <a:r>
                        <a:rPr lang="en-US" dirty="0"/>
                        <a:t>A</a:t>
                      </a:r>
                      <a:endParaRPr lang="en-IE" dirty="0"/>
                    </a:p>
                  </a:txBody>
                  <a:tcPr/>
                </a:tc>
                <a:tc>
                  <a:txBody>
                    <a:bodyPr/>
                    <a:lstStyle/>
                    <a:p>
                      <a:r>
                        <a:rPr lang="en-US" dirty="0"/>
                        <a:t>Web development</a:t>
                      </a:r>
                      <a:endParaRPr lang="en-IE" dirty="0"/>
                    </a:p>
                  </a:txBody>
                  <a:tcPr/>
                </a:tc>
                <a:extLst>
                  <a:ext uri="{0D108BD9-81ED-4DB2-BD59-A6C34878D82A}">
                    <a16:rowId xmlns:a16="http://schemas.microsoft.com/office/drawing/2014/main" val="860872982"/>
                  </a:ext>
                </a:extLst>
              </a:tr>
              <a:tr h="370840">
                <a:tc>
                  <a:txBody>
                    <a:bodyPr/>
                    <a:lstStyle/>
                    <a:p>
                      <a:r>
                        <a:rPr lang="en-US" dirty="0"/>
                        <a:t>B</a:t>
                      </a:r>
                      <a:endParaRPr lang="en-IE" dirty="0"/>
                    </a:p>
                  </a:txBody>
                  <a:tcPr/>
                </a:tc>
                <a:tc>
                  <a:txBody>
                    <a:bodyPr/>
                    <a:lstStyle/>
                    <a:p>
                      <a:r>
                        <a:rPr lang="en-US" dirty="0"/>
                        <a:t>General Engineering</a:t>
                      </a:r>
                      <a:endParaRPr lang="en-IE" dirty="0"/>
                    </a:p>
                  </a:txBody>
                  <a:tcPr/>
                </a:tc>
                <a:extLst>
                  <a:ext uri="{0D108BD9-81ED-4DB2-BD59-A6C34878D82A}">
                    <a16:rowId xmlns:a16="http://schemas.microsoft.com/office/drawing/2014/main" val="189960285"/>
                  </a:ext>
                </a:extLst>
              </a:tr>
            </a:tbl>
          </a:graphicData>
        </a:graphic>
      </p:graphicFrame>
      <p:sp>
        <p:nvSpPr>
          <p:cNvPr id="10" name="Right Arrow 9"/>
          <p:cNvSpPr/>
          <p:nvPr/>
        </p:nvSpPr>
        <p:spPr>
          <a:xfrm>
            <a:off x="214008" y="5441773"/>
            <a:ext cx="1089497" cy="11125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 Delete</a:t>
            </a:r>
            <a:endParaRPr lang="en-IE" dirty="0"/>
          </a:p>
        </p:txBody>
      </p:sp>
      <p:sp>
        <p:nvSpPr>
          <p:cNvPr id="3" name="TextBox 2"/>
          <p:cNvSpPr txBox="1"/>
          <p:nvPr/>
        </p:nvSpPr>
        <p:spPr>
          <a:xfrm>
            <a:off x="564204" y="4890037"/>
            <a:ext cx="1156511" cy="2215991"/>
          </a:xfrm>
          <a:prstGeom prst="rect">
            <a:avLst/>
          </a:prstGeom>
          <a:noFill/>
        </p:spPr>
        <p:txBody>
          <a:bodyPr wrap="square" rtlCol="0">
            <a:spAutoFit/>
          </a:bodyPr>
          <a:lstStyle/>
          <a:p>
            <a:r>
              <a:rPr lang="en-US" sz="13800" dirty="0">
                <a:ln w="57150">
                  <a:solidFill>
                    <a:schemeClr val="tx1"/>
                  </a:solidFill>
                </a:ln>
                <a:solidFill>
                  <a:srgbClr val="FF0000"/>
                </a:solidFill>
              </a:rPr>
              <a:t>X</a:t>
            </a:r>
            <a:endParaRPr lang="en-IE" sz="13800" dirty="0">
              <a:ln w="57150">
                <a:solidFill>
                  <a:schemeClr val="tx1"/>
                </a:solidFill>
              </a:ln>
              <a:solidFill>
                <a:srgbClr val="FF0000"/>
              </a:solidFill>
            </a:endParaRPr>
          </a:p>
        </p:txBody>
      </p:sp>
    </p:spTree>
    <p:extLst>
      <p:ext uri="{BB962C8B-B14F-4D97-AF65-F5344CB8AC3E}">
        <p14:creationId xmlns:p14="http://schemas.microsoft.com/office/powerpoint/2010/main" val="31709509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IE" dirty="0"/>
              <a:t>Example: </a:t>
            </a:r>
            <a:r>
              <a:rPr lang="en-IE" b="0" dirty="0"/>
              <a:t>Referential Integrity</a:t>
            </a:r>
            <a:br>
              <a:rPr lang="en-IE" b="0" dirty="0"/>
            </a:br>
            <a:r>
              <a:rPr lang="en-US" b="1" dirty="0"/>
              <a:t>ON DELETE NO ACTION</a:t>
            </a:r>
            <a:br>
              <a:rPr lang="en-US" b="1" dirty="0"/>
            </a:br>
            <a:r>
              <a:rPr lang="en-IE" b="0" dirty="0"/>
              <a:t> </a:t>
            </a:r>
          </a:p>
        </p:txBody>
      </p:sp>
      <p:sp>
        <p:nvSpPr>
          <p:cNvPr id="6" name="Slide Number Placeholder 5"/>
          <p:cNvSpPr>
            <a:spLocks noGrp="1"/>
          </p:cNvSpPr>
          <p:nvPr>
            <p:ph type="sldNum" sz="quarter" idx="12"/>
          </p:nvPr>
        </p:nvSpPr>
        <p:spPr/>
        <p:txBody>
          <a:bodyPr/>
          <a:lstStyle/>
          <a:p>
            <a:fld id="{E420F726-502A-4A13-B38C-4A07697E010C}" type="slidenum">
              <a:rPr lang="en-IE" smtClean="0"/>
              <a:pPr/>
              <a:t>36</a:t>
            </a:fld>
            <a:endParaRPr lang="en-IE"/>
          </a:p>
        </p:txBody>
      </p:sp>
      <p:pic>
        <p:nvPicPr>
          <p:cNvPr id="8" name="Picture 7" descr="Fig16.jpg"/>
          <p:cNvPicPr>
            <a:picLocks noChangeAspect="1"/>
          </p:cNvPicPr>
          <p:nvPr/>
        </p:nvPicPr>
        <p:blipFill>
          <a:blip r:embed="rId2" cstate="print"/>
          <a:stretch>
            <a:fillRect/>
          </a:stretch>
        </p:blipFill>
        <p:spPr>
          <a:xfrm>
            <a:off x="1983835" y="1947466"/>
            <a:ext cx="4320000" cy="1047990"/>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2109722539"/>
              </p:ext>
            </p:extLst>
          </p:nvPr>
        </p:nvGraphicFramePr>
        <p:xfrm>
          <a:off x="1448341" y="3793607"/>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37054716"/>
                    </a:ext>
                  </a:extLst>
                </a:gridCol>
                <a:gridCol w="2709333">
                  <a:extLst>
                    <a:ext uri="{9D8B030D-6E8A-4147-A177-3AD203B41FA5}">
                      <a16:colId xmlns:a16="http://schemas.microsoft.com/office/drawing/2014/main" val="2859153293"/>
                    </a:ext>
                  </a:extLst>
                </a:gridCol>
                <a:gridCol w="2709333">
                  <a:extLst>
                    <a:ext uri="{9D8B030D-6E8A-4147-A177-3AD203B41FA5}">
                      <a16:colId xmlns:a16="http://schemas.microsoft.com/office/drawing/2014/main" val="3112833725"/>
                    </a:ext>
                  </a:extLst>
                </a:gridCol>
              </a:tblGrid>
              <a:tr h="370840">
                <a:tc>
                  <a:txBody>
                    <a:bodyPr/>
                    <a:lstStyle/>
                    <a:p>
                      <a:r>
                        <a:rPr lang="en-US" dirty="0" err="1"/>
                        <a:t>EmpID</a:t>
                      </a:r>
                      <a:endParaRPr lang="en-I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EmpName</a:t>
                      </a:r>
                      <a:endParaRPr lang="en-I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DeptID</a:t>
                      </a:r>
                      <a:endParaRPr lang="en-IE" dirty="0"/>
                    </a:p>
                  </a:txBody>
                  <a:tcPr/>
                </a:tc>
                <a:extLst>
                  <a:ext uri="{0D108BD9-81ED-4DB2-BD59-A6C34878D82A}">
                    <a16:rowId xmlns:a16="http://schemas.microsoft.com/office/drawing/2014/main" val="1271732891"/>
                  </a:ext>
                </a:extLst>
              </a:tr>
              <a:tr h="370840">
                <a:tc>
                  <a:txBody>
                    <a:bodyPr/>
                    <a:lstStyle/>
                    <a:p>
                      <a:r>
                        <a:rPr lang="en-US" dirty="0"/>
                        <a:t>123</a:t>
                      </a:r>
                      <a:endParaRPr lang="en-IE" dirty="0"/>
                    </a:p>
                  </a:txBody>
                  <a:tcPr/>
                </a:tc>
                <a:tc>
                  <a:txBody>
                    <a:bodyPr/>
                    <a:lstStyle/>
                    <a:p>
                      <a:r>
                        <a:rPr lang="en-US" dirty="0"/>
                        <a:t>Sarah O’Connor</a:t>
                      </a:r>
                      <a:endParaRPr lang="en-IE" dirty="0"/>
                    </a:p>
                  </a:txBody>
                  <a:tcPr/>
                </a:tc>
                <a:tc>
                  <a:txBody>
                    <a:bodyPr/>
                    <a:lstStyle/>
                    <a:p>
                      <a:r>
                        <a:rPr lang="en-US" dirty="0"/>
                        <a:t>A</a:t>
                      </a:r>
                      <a:endParaRPr lang="en-IE" dirty="0"/>
                    </a:p>
                  </a:txBody>
                  <a:tcPr/>
                </a:tc>
                <a:extLst>
                  <a:ext uri="{0D108BD9-81ED-4DB2-BD59-A6C34878D82A}">
                    <a16:rowId xmlns:a16="http://schemas.microsoft.com/office/drawing/2014/main" val="860872982"/>
                  </a:ext>
                </a:extLst>
              </a:tr>
              <a:tr h="370840">
                <a:tc>
                  <a:txBody>
                    <a:bodyPr/>
                    <a:lstStyle/>
                    <a:p>
                      <a:r>
                        <a:rPr lang="en-US" dirty="0"/>
                        <a:t>356</a:t>
                      </a:r>
                      <a:endParaRPr lang="en-IE" dirty="0"/>
                    </a:p>
                  </a:txBody>
                  <a:tcPr/>
                </a:tc>
                <a:tc>
                  <a:txBody>
                    <a:bodyPr/>
                    <a:lstStyle/>
                    <a:p>
                      <a:r>
                        <a:rPr lang="en-US" dirty="0"/>
                        <a:t>Alice Smith</a:t>
                      </a:r>
                      <a:endParaRPr lang="en-IE" dirty="0"/>
                    </a:p>
                  </a:txBody>
                  <a:tcPr/>
                </a:tc>
                <a:tc>
                  <a:txBody>
                    <a:bodyPr/>
                    <a:lstStyle/>
                    <a:p>
                      <a:r>
                        <a:rPr lang="en-US" dirty="0"/>
                        <a:t>B</a:t>
                      </a:r>
                      <a:endParaRPr lang="en-IE" dirty="0"/>
                    </a:p>
                  </a:txBody>
                  <a:tcPr/>
                </a:tc>
                <a:extLst>
                  <a:ext uri="{0D108BD9-81ED-4DB2-BD59-A6C34878D82A}">
                    <a16:rowId xmlns:a16="http://schemas.microsoft.com/office/drawing/2014/main" val="189960285"/>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833819382"/>
              </p:ext>
            </p:extLst>
          </p:nvPr>
        </p:nvGraphicFramePr>
        <p:xfrm>
          <a:off x="1448341" y="5148018"/>
          <a:ext cx="5418666"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37054716"/>
                    </a:ext>
                  </a:extLst>
                </a:gridCol>
                <a:gridCol w="2709333">
                  <a:extLst>
                    <a:ext uri="{9D8B030D-6E8A-4147-A177-3AD203B41FA5}">
                      <a16:colId xmlns:a16="http://schemas.microsoft.com/office/drawing/2014/main" val="2859153293"/>
                    </a:ext>
                  </a:extLst>
                </a:gridCol>
              </a:tblGrid>
              <a:tr h="370840">
                <a:tc>
                  <a:txBody>
                    <a:bodyPr/>
                    <a:lstStyle/>
                    <a:p>
                      <a:r>
                        <a:rPr lang="en-US" dirty="0" err="1"/>
                        <a:t>DepID</a:t>
                      </a:r>
                      <a:endParaRPr lang="en-I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DepName</a:t>
                      </a:r>
                      <a:endParaRPr lang="en-IE" dirty="0"/>
                    </a:p>
                  </a:txBody>
                  <a:tcPr/>
                </a:tc>
                <a:extLst>
                  <a:ext uri="{0D108BD9-81ED-4DB2-BD59-A6C34878D82A}">
                    <a16:rowId xmlns:a16="http://schemas.microsoft.com/office/drawing/2014/main" val="1271732891"/>
                  </a:ext>
                </a:extLst>
              </a:tr>
              <a:tr h="370840">
                <a:tc>
                  <a:txBody>
                    <a:bodyPr/>
                    <a:lstStyle/>
                    <a:p>
                      <a:r>
                        <a:rPr lang="en-US" dirty="0"/>
                        <a:t>A</a:t>
                      </a:r>
                      <a:endParaRPr lang="en-IE" dirty="0"/>
                    </a:p>
                  </a:txBody>
                  <a:tcPr/>
                </a:tc>
                <a:tc>
                  <a:txBody>
                    <a:bodyPr/>
                    <a:lstStyle/>
                    <a:p>
                      <a:r>
                        <a:rPr lang="en-US" dirty="0"/>
                        <a:t>Web development</a:t>
                      </a:r>
                      <a:endParaRPr lang="en-IE" dirty="0"/>
                    </a:p>
                  </a:txBody>
                  <a:tcPr/>
                </a:tc>
                <a:extLst>
                  <a:ext uri="{0D108BD9-81ED-4DB2-BD59-A6C34878D82A}">
                    <a16:rowId xmlns:a16="http://schemas.microsoft.com/office/drawing/2014/main" val="860872982"/>
                  </a:ext>
                </a:extLst>
              </a:tr>
              <a:tr h="370840">
                <a:tc>
                  <a:txBody>
                    <a:bodyPr/>
                    <a:lstStyle/>
                    <a:p>
                      <a:r>
                        <a:rPr lang="en-US" strike="sngStrike" dirty="0"/>
                        <a:t>B</a:t>
                      </a:r>
                      <a:endParaRPr lang="en-IE" strike="sngStrike" dirty="0"/>
                    </a:p>
                  </a:txBody>
                  <a:tcPr/>
                </a:tc>
                <a:tc>
                  <a:txBody>
                    <a:bodyPr/>
                    <a:lstStyle/>
                    <a:p>
                      <a:r>
                        <a:rPr lang="en-US" strike="sngStrike" dirty="0"/>
                        <a:t>General Engineering</a:t>
                      </a:r>
                      <a:endParaRPr lang="en-IE" strike="sngStrike" dirty="0"/>
                    </a:p>
                  </a:txBody>
                  <a:tcPr/>
                </a:tc>
                <a:extLst>
                  <a:ext uri="{0D108BD9-81ED-4DB2-BD59-A6C34878D82A}">
                    <a16:rowId xmlns:a16="http://schemas.microsoft.com/office/drawing/2014/main" val="189960285"/>
                  </a:ext>
                </a:extLst>
              </a:tr>
            </a:tbl>
          </a:graphicData>
        </a:graphic>
      </p:graphicFrame>
      <p:sp>
        <p:nvSpPr>
          <p:cNvPr id="10" name="Right Arrow 9"/>
          <p:cNvSpPr/>
          <p:nvPr/>
        </p:nvSpPr>
        <p:spPr>
          <a:xfrm>
            <a:off x="214008" y="5441773"/>
            <a:ext cx="1089497" cy="11125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 Delete</a:t>
            </a:r>
            <a:endParaRPr lang="en-IE" dirty="0"/>
          </a:p>
        </p:txBody>
      </p:sp>
      <p:sp>
        <p:nvSpPr>
          <p:cNvPr id="3" name="Rectangle 2"/>
          <p:cNvSpPr/>
          <p:nvPr/>
        </p:nvSpPr>
        <p:spPr>
          <a:xfrm>
            <a:off x="6096000" y="4976879"/>
            <a:ext cx="6188745" cy="523220"/>
          </a:xfrm>
          <a:prstGeom prst="rect">
            <a:avLst/>
          </a:prstGeom>
        </p:spPr>
        <p:txBody>
          <a:bodyPr wrap="none">
            <a:spAutoFit/>
          </a:bodyPr>
          <a:lstStyle/>
          <a:p>
            <a:pPr lvl="2"/>
            <a:r>
              <a:rPr lang="en-US" sz="2800" dirty="0">
                <a:solidFill>
                  <a:srgbClr val="FF0000"/>
                </a:solidFill>
              </a:rPr>
              <a:t>The referential integrity is violated</a:t>
            </a:r>
          </a:p>
        </p:txBody>
      </p:sp>
    </p:spTree>
    <p:extLst>
      <p:ext uri="{BB962C8B-B14F-4D97-AF65-F5344CB8AC3E}">
        <p14:creationId xmlns:p14="http://schemas.microsoft.com/office/powerpoint/2010/main" val="84304521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IE" b="0" dirty="0"/>
              <a:t>Referential Integrity</a:t>
            </a:r>
            <a:br>
              <a:rPr lang="en-IE" b="0" dirty="0"/>
            </a:br>
            <a:r>
              <a:rPr lang="en-US" b="1" dirty="0"/>
              <a:t>ON DELETE NO ACTION</a:t>
            </a:r>
            <a:br>
              <a:rPr lang="en-US" b="1" dirty="0"/>
            </a:br>
            <a:r>
              <a:rPr lang="en-US" b="1" dirty="0"/>
              <a:t>Different DBMS</a:t>
            </a:r>
            <a:r>
              <a:rPr lang="en-IE" b="0" dirty="0"/>
              <a:t> </a:t>
            </a:r>
          </a:p>
        </p:txBody>
      </p:sp>
      <p:sp>
        <p:nvSpPr>
          <p:cNvPr id="12" name="Rectangle 1"/>
          <p:cNvSpPr>
            <a:spLocks noGrp="1" noChangeArrowheads="1"/>
          </p:cNvSpPr>
          <p:nvPr>
            <p:ph idx="1"/>
          </p:nvPr>
        </p:nvSpPr>
        <p:spPr bwMode="auto">
          <a:xfrm>
            <a:off x="975102" y="1750780"/>
            <a:ext cx="8503920" cy="45550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555555"/>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555555"/>
                </a:solidFill>
                <a:effectLst/>
                <a:latin typeface="Open Sans"/>
              </a:rPr>
              <a:t>In MySQL:</a:t>
            </a:r>
          </a:p>
          <a:p>
            <a:pPr>
              <a:lnSpc>
                <a:spcPct val="100000"/>
              </a:lnSpc>
            </a:pPr>
            <a:r>
              <a:rPr kumimoji="0" lang="en-US" altLang="en-US" sz="2400" b="0" i="0" u="none" strike="noStrike" cap="none" normalizeH="0" baseline="0" dirty="0">
                <a:ln>
                  <a:noFill/>
                </a:ln>
                <a:solidFill>
                  <a:srgbClr val="555555"/>
                </a:solidFill>
                <a:effectLst/>
                <a:latin typeface="Open Sans"/>
              </a:rPr>
              <a:t> NO ACTION is</a:t>
            </a:r>
            <a:r>
              <a:rPr kumimoji="0" lang="en-US" altLang="en-US" sz="2400" b="0" i="0" u="none" strike="noStrike" cap="none" normalizeH="0" dirty="0">
                <a:ln>
                  <a:noFill/>
                </a:ln>
                <a:solidFill>
                  <a:srgbClr val="555555"/>
                </a:solidFill>
                <a:effectLst/>
                <a:latin typeface="Open Sans"/>
              </a:rPr>
              <a:t> </a:t>
            </a:r>
            <a:r>
              <a:rPr kumimoji="0" lang="en-US" altLang="en-US" sz="2400" b="0" i="0" u="none" strike="noStrike" cap="none" normalizeH="0" baseline="0" dirty="0">
                <a:ln>
                  <a:noFill/>
                </a:ln>
                <a:solidFill>
                  <a:srgbClr val="555555"/>
                </a:solidFill>
                <a:effectLst/>
                <a:latin typeface="Open Sans"/>
              </a:rPr>
              <a:t>equivalent to</a:t>
            </a:r>
            <a:r>
              <a:rPr lang="en-US" altLang="en-US" sz="2400" dirty="0">
                <a:solidFill>
                  <a:srgbClr val="555555"/>
                </a:solidFill>
                <a:latin typeface="Open Sans"/>
              </a:rPr>
              <a:t> RESTRICT. </a:t>
            </a:r>
          </a:p>
          <a:p>
            <a:pPr>
              <a:lnSpc>
                <a:spcPct val="100000"/>
              </a:lnSpc>
            </a:pPr>
            <a:endParaRPr lang="en-US" altLang="en-US" sz="2400" dirty="0"/>
          </a:p>
          <a:p>
            <a:pPr>
              <a:lnSpc>
                <a:spcPct val="100000"/>
              </a:lnSpc>
            </a:pPr>
            <a:r>
              <a:rPr kumimoji="0" lang="en-US" altLang="en-US" sz="2400" b="0" i="0" u="none" strike="noStrike" cap="none" normalizeH="0" baseline="0" dirty="0">
                <a:ln>
                  <a:noFill/>
                </a:ln>
                <a:solidFill>
                  <a:schemeClr val="tx1"/>
                </a:solidFill>
                <a:effectLst/>
              </a:rPr>
              <a:t>Omitting the clause is the same as specifying RESTRICT or NO ACTION.</a:t>
            </a:r>
          </a:p>
          <a:p>
            <a:pPr>
              <a:lnSpc>
                <a:spcPct val="100000"/>
              </a:lnSpc>
            </a:pPr>
            <a:endParaRPr lang="en-US" altLang="en-US" sz="2400" dirty="0"/>
          </a:p>
          <a:p>
            <a:pPr marL="0" indent="0">
              <a:lnSpc>
                <a:spcPct val="100000"/>
              </a:lnSpc>
              <a:buNone/>
            </a:pPr>
            <a:r>
              <a:rPr kumimoji="0" lang="en-US" altLang="en-US" sz="2400" b="0" i="0" u="none" strike="noStrike" cap="none" normalizeH="0" baseline="0" dirty="0">
                <a:ln>
                  <a:noFill/>
                </a:ln>
                <a:solidFill>
                  <a:schemeClr val="tx1"/>
                </a:solidFill>
                <a:effectLst/>
              </a:rPr>
              <a:t>In SQLite:</a:t>
            </a:r>
          </a:p>
          <a:p>
            <a:pPr marL="0" indent="0">
              <a:lnSpc>
                <a:spcPct val="100000"/>
              </a:lnSpc>
              <a:buNone/>
            </a:pPr>
            <a:r>
              <a:rPr lang="en-US" dirty="0"/>
              <a:t>If an action is not explicitly specified, it defaults to "NO ACTION".</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p:txBody>
      </p:sp>
      <p:sp>
        <p:nvSpPr>
          <p:cNvPr id="6" name="Slide Number Placeholder 5"/>
          <p:cNvSpPr>
            <a:spLocks noGrp="1"/>
          </p:cNvSpPr>
          <p:nvPr>
            <p:ph type="sldNum" sz="quarter" idx="12"/>
          </p:nvPr>
        </p:nvSpPr>
        <p:spPr/>
        <p:txBody>
          <a:bodyPr/>
          <a:lstStyle/>
          <a:p>
            <a:fld id="{E420F726-502A-4A13-B38C-4A07697E010C}" type="slidenum">
              <a:rPr lang="en-IE" smtClean="0"/>
              <a:pPr/>
              <a:t>37</a:t>
            </a:fld>
            <a:endParaRPr lang="en-IE"/>
          </a:p>
        </p:txBody>
      </p:sp>
      <p:sp>
        <p:nvSpPr>
          <p:cNvPr id="5" name="Lightning Bolt 4"/>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1" name="Lightning Bolt 10"/>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53458604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dirty="0"/>
              <a:t>Practical Example University 2</a:t>
            </a:r>
            <a:endParaRPr lang="en-IE" dirty="0"/>
          </a:p>
        </p:txBody>
      </p:sp>
      <p:pic>
        <p:nvPicPr>
          <p:cNvPr id="6" name="Picture 5">
            <a:extLst>
              <a:ext uri="{FF2B5EF4-FFF2-40B4-BE49-F238E27FC236}">
                <a16:creationId xmlns:a16="http://schemas.microsoft.com/office/drawing/2014/main" id="{7E8DAC20-B984-E77F-9C87-9E863CAFB88C}"/>
              </a:ext>
            </a:extLst>
          </p:cNvPr>
          <p:cNvPicPr>
            <a:picLocks noChangeAspect="1"/>
          </p:cNvPicPr>
          <p:nvPr/>
        </p:nvPicPr>
        <p:blipFill>
          <a:blip r:embed="rId2"/>
          <a:stretch>
            <a:fillRect/>
          </a:stretch>
        </p:blipFill>
        <p:spPr>
          <a:xfrm>
            <a:off x="838200" y="1948086"/>
            <a:ext cx="4629583" cy="3668944"/>
          </a:xfrm>
          <a:prstGeom prst="rect">
            <a:avLst/>
          </a:prstGeom>
          <a:noFill/>
        </p:spPr>
      </p:pic>
      <p:sp>
        <p:nvSpPr>
          <p:cNvPr id="3" name="Content Placeholder 2"/>
          <p:cNvSpPr>
            <a:spLocks noGrp="1"/>
          </p:cNvSpPr>
          <p:nvPr>
            <p:ph sz="half" idx="2"/>
          </p:nvPr>
        </p:nvSpPr>
        <p:spPr>
          <a:xfrm>
            <a:off x="5856514" y="1825625"/>
            <a:ext cx="6335486" cy="4351338"/>
          </a:xfrm>
        </p:spPr>
        <p:txBody>
          <a:bodyPr>
            <a:normAutofit/>
          </a:bodyPr>
          <a:lstStyle/>
          <a:p>
            <a:pPr>
              <a:lnSpc>
                <a:spcPct val="140000"/>
              </a:lnSpc>
            </a:pPr>
            <a:r>
              <a:rPr lang="en-US" sz="2200" dirty="0"/>
              <a:t>Add the following constraint:</a:t>
            </a:r>
          </a:p>
          <a:p>
            <a:pPr marL="0" indent="0">
              <a:lnSpc>
                <a:spcPct val="140000"/>
              </a:lnSpc>
              <a:buNone/>
            </a:pPr>
            <a:r>
              <a:rPr lang="en-US" sz="2200" dirty="0"/>
              <a:t>FOREIGN KEY("</a:t>
            </a:r>
            <a:r>
              <a:rPr lang="en-US" sz="2200" dirty="0" err="1"/>
              <a:t>StudentID</a:t>
            </a:r>
            <a:r>
              <a:rPr lang="en-US" sz="2200" dirty="0"/>
              <a:t>") REFERENCES "students"("</a:t>
            </a:r>
            <a:r>
              <a:rPr lang="en-US" sz="2200" dirty="0" err="1"/>
              <a:t>StudentID</a:t>
            </a:r>
            <a:r>
              <a:rPr lang="en-US" sz="2200" dirty="0"/>
              <a:t>") ON DELETE CASCADE</a:t>
            </a:r>
          </a:p>
          <a:p>
            <a:pPr marL="0" indent="0">
              <a:lnSpc>
                <a:spcPct val="140000"/>
              </a:lnSpc>
              <a:buNone/>
            </a:pPr>
            <a:endParaRPr lang="en-US" sz="2200" dirty="0"/>
          </a:p>
          <a:p>
            <a:pPr>
              <a:lnSpc>
                <a:spcPct val="140000"/>
              </a:lnSpc>
            </a:pPr>
            <a:r>
              <a:rPr lang="en-US" sz="2200" dirty="0"/>
              <a:t>Delete student 1</a:t>
            </a:r>
          </a:p>
          <a:p>
            <a:pPr>
              <a:lnSpc>
                <a:spcPct val="140000"/>
              </a:lnSpc>
            </a:pPr>
            <a:r>
              <a:rPr lang="en-US" sz="2200" dirty="0"/>
              <a:t>Look at the </a:t>
            </a:r>
            <a:r>
              <a:rPr lang="en-US" sz="2200" dirty="0" err="1"/>
              <a:t>Student_takes_module</a:t>
            </a:r>
            <a:r>
              <a:rPr lang="en-US" sz="2200" dirty="0"/>
              <a:t> table to see the effect</a:t>
            </a:r>
            <a:endParaRPr lang="en-IE" sz="2200" dirty="0"/>
          </a:p>
        </p:txBody>
      </p:sp>
      <p:sp>
        <p:nvSpPr>
          <p:cNvPr id="4" name="Slide Number Placeholder 3"/>
          <p:cNvSpPr>
            <a:spLocks noGrp="1"/>
          </p:cNvSpPr>
          <p:nvPr>
            <p:ph type="sldNum" sz="quarter" idx="12"/>
          </p:nvPr>
        </p:nvSpPr>
        <p:spPr>
          <a:xfrm>
            <a:off x="8610600" y="6388249"/>
            <a:ext cx="2743200" cy="365125"/>
          </a:xfrm>
        </p:spPr>
        <p:txBody>
          <a:bodyPr anchor="ctr">
            <a:normAutofit/>
          </a:bodyPr>
          <a:lstStyle/>
          <a:p>
            <a:pPr>
              <a:spcAft>
                <a:spcPts val="600"/>
              </a:spcAft>
            </a:pPr>
            <a:fld id="{7341093E-ADCE-4CEF-A0BC-E1F79F413BC5}" type="slidenum">
              <a:rPr lang="en-IE" smtClean="0"/>
              <a:pPr>
                <a:spcAft>
                  <a:spcPts val="600"/>
                </a:spcAft>
              </a:pPr>
              <a:t>38</a:t>
            </a:fld>
            <a:endParaRPr lang="en-IE"/>
          </a:p>
        </p:txBody>
      </p:sp>
    </p:spTree>
    <p:extLst>
      <p:ext uri="{BB962C8B-B14F-4D97-AF65-F5344CB8AC3E}">
        <p14:creationId xmlns:p14="http://schemas.microsoft.com/office/powerpoint/2010/main" val="37420871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Practical Example University 2</a:t>
            </a:r>
            <a:endParaRPr lang="en-IE" dirty="0"/>
          </a:p>
        </p:txBody>
      </p:sp>
      <p:sp>
        <p:nvSpPr>
          <p:cNvPr id="4" name="Slide Number Placeholder 3"/>
          <p:cNvSpPr>
            <a:spLocks noGrp="1"/>
          </p:cNvSpPr>
          <p:nvPr>
            <p:ph type="sldNum" sz="quarter" idx="12"/>
          </p:nvPr>
        </p:nvSpPr>
        <p:spPr/>
        <p:txBody>
          <a:bodyPr/>
          <a:lstStyle/>
          <a:p>
            <a:fld id="{7341093E-ADCE-4CEF-A0BC-E1F79F413BC5}" type="slidenum">
              <a:rPr lang="en-IE" smtClean="0"/>
              <a:t>39</a:t>
            </a:fld>
            <a:endParaRPr lang="en-IE"/>
          </a:p>
        </p:txBody>
      </p:sp>
      <p:sp>
        <p:nvSpPr>
          <p:cNvPr id="7" name="Lightning Bolt 6"/>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8" name="Lightning Bolt 7"/>
          <p:cNvSpPr/>
          <p:nvPr/>
        </p:nvSpPr>
        <p:spPr>
          <a:xfrm>
            <a:off x="0" y="0"/>
            <a:ext cx="0" cy="0"/>
          </a:xfrm>
          <a:prstGeom prst="lightningBol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pic>
        <p:nvPicPr>
          <p:cNvPr id="10" name="Content Placeholder 4"/>
          <p:cNvPicPr>
            <a:picLocks noChangeAspect="1"/>
          </p:cNvPicPr>
          <p:nvPr/>
        </p:nvPicPr>
        <p:blipFill rotWithShape="1">
          <a:blip r:embed="rId2"/>
          <a:srcRect l="10068" t="32503" r="84634" b="27037"/>
          <a:stretch/>
        </p:blipFill>
        <p:spPr>
          <a:xfrm>
            <a:off x="1459832" y="1531965"/>
            <a:ext cx="1877728" cy="4712676"/>
          </a:xfrm>
          <a:prstGeom prst="rect">
            <a:avLst/>
          </a:prstGeom>
        </p:spPr>
      </p:pic>
      <p:pic>
        <p:nvPicPr>
          <p:cNvPr id="11" name="Content Placeholder 8"/>
          <p:cNvPicPr>
            <a:picLocks noGrp="1" noChangeAspect="1"/>
          </p:cNvPicPr>
          <p:nvPr>
            <p:ph sz="half" idx="2"/>
          </p:nvPr>
        </p:nvPicPr>
        <p:blipFill rotWithShape="1">
          <a:blip r:embed="rId3"/>
          <a:srcRect l="10587" t="32503" r="85133" b="27300"/>
          <a:stretch/>
        </p:blipFill>
        <p:spPr>
          <a:xfrm>
            <a:off x="6701939" y="1531965"/>
            <a:ext cx="1463493" cy="4712676"/>
          </a:xfrm>
          <a:prstGeom prst="rect">
            <a:avLst/>
          </a:prstGeom>
        </p:spPr>
      </p:pic>
    </p:spTree>
    <p:extLst>
      <p:ext uri="{BB962C8B-B14F-4D97-AF65-F5344CB8AC3E}">
        <p14:creationId xmlns:p14="http://schemas.microsoft.com/office/powerpoint/2010/main" val="8436543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4932" y="2816495"/>
            <a:ext cx="10515600" cy="1325563"/>
          </a:xfrm>
        </p:spPr>
        <p:txBody>
          <a:bodyPr/>
          <a:lstStyle/>
          <a:p>
            <a:r>
              <a:rPr lang="en-US" dirty="0" err="1"/>
              <a:t>Normalisation</a:t>
            </a:r>
            <a:endParaRPr lang="en-IE" dirty="0"/>
          </a:p>
        </p:txBody>
      </p:sp>
      <p:sp>
        <p:nvSpPr>
          <p:cNvPr id="3" name="Slide Number Placeholder 2"/>
          <p:cNvSpPr>
            <a:spLocks noGrp="1"/>
          </p:cNvSpPr>
          <p:nvPr>
            <p:ph type="sldNum" sz="quarter" idx="12"/>
          </p:nvPr>
        </p:nvSpPr>
        <p:spPr/>
        <p:txBody>
          <a:bodyPr/>
          <a:lstStyle/>
          <a:p>
            <a:fld id="{7341093E-ADCE-4CEF-A0BC-E1F79F413BC5}" type="slidenum">
              <a:rPr lang="en-IE" smtClean="0"/>
              <a:t>40</a:t>
            </a:fld>
            <a:endParaRPr lang="en-IE"/>
          </a:p>
        </p:txBody>
      </p:sp>
    </p:spTree>
    <p:extLst>
      <p:ext uri="{BB962C8B-B14F-4D97-AF65-F5344CB8AC3E}">
        <p14:creationId xmlns:p14="http://schemas.microsoft.com/office/powerpoint/2010/main" val="35219410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5410" name="AutoShape 2"/>
          <p:cNvSpPr>
            <a:spLocks noGrp="1" noChangeArrowheads="1"/>
          </p:cNvSpPr>
          <p:nvPr>
            <p:ph type="title"/>
          </p:nvPr>
        </p:nvSpPr>
        <p:spPr/>
        <p:txBody>
          <a:bodyPr/>
          <a:lstStyle/>
          <a:p>
            <a:r>
              <a:rPr lang="en-US" dirty="0"/>
              <a:t>Normalisation</a:t>
            </a:r>
            <a:endParaRPr lang="en-GB" dirty="0"/>
          </a:p>
        </p:txBody>
      </p:sp>
      <p:sp>
        <p:nvSpPr>
          <p:cNvPr id="3985411" name="Rectangle 3"/>
          <p:cNvSpPr>
            <a:spLocks noGrp="1" noChangeArrowheads="1"/>
          </p:cNvSpPr>
          <p:nvPr>
            <p:ph idx="1"/>
          </p:nvPr>
        </p:nvSpPr>
        <p:spPr/>
        <p:txBody>
          <a:bodyPr>
            <a:normAutofit/>
          </a:bodyPr>
          <a:lstStyle/>
          <a:p>
            <a:r>
              <a:rPr lang="en-IE" dirty="0"/>
              <a:t>The process of designing a database in the </a:t>
            </a:r>
            <a:r>
              <a:rPr lang="en-IE" b="1" dirty="0"/>
              <a:t>most efficient</a:t>
            </a:r>
            <a:r>
              <a:rPr lang="en-IE" dirty="0"/>
              <a:t> way possible.</a:t>
            </a:r>
          </a:p>
          <a:p>
            <a:r>
              <a:rPr lang="en-IE" dirty="0"/>
              <a:t>A technique for designing relational database tables to minimise </a:t>
            </a:r>
            <a:r>
              <a:rPr lang="en-IE" b="1" dirty="0"/>
              <a:t>duplication of information</a:t>
            </a:r>
            <a:r>
              <a:rPr lang="en-IE" dirty="0"/>
              <a:t> and, in doing so, to safeguard the database against certain types of </a:t>
            </a:r>
            <a:r>
              <a:rPr lang="en-IE" b="1" dirty="0"/>
              <a:t>logical inconsistency</a:t>
            </a:r>
            <a:r>
              <a:rPr lang="en-IE" dirty="0"/>
              <a:t>.</a:t>
            </a:r>
          </a:p>
        </p:txBody>
      </p:sp>
      <p:sp>
        <p:nvSpPr>
          <p:cNvPr id="6" name="Slide Number Placeholder 5"/>
          <p:cNvSpPr>
            <a:spLocks noGrp="1"/>
          </p:cNvSpPr>
          <p:nvPr>
            <p:ph type="sldNum" sz="quarter" idx="12"/>
          </p:nvPr>
        </p:nvSpPr>
        <p:spPr/>
        <p:txBody>
          <a:bodyPr/>
          <a:lstStyle/>
          <a:p>
            <a:fld id="{11A0CC35-C2E9-43D0-B401-2C1E30C048B2}" type="slidenum">
              <a:rPr lang="en-IE" smtClean="0"/>
              <a:pPr/>
              <a:t>41</a:t>
            </a:fld>
            <a:endParaRPr lang="en-IE"/>
          </a:p>
        </p:txBody>
      </p:sp>
    </p:spTree>
    <p:extLst>
      <p:ext uri="{BB962C8B-B14F-4D97-AF65-F5344CB8AC3E}">
        <p14:creationId xmlns:p14="http://schemas.microsoft.com/office/powerpoint/2010/main" val="9855588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5410" name="AutoShape 2"/>
          <p:cNvSpPr>
            <a:spLocks noGrp="1" noChangeArrowheads="1"/>
          </p:cNvSpPr>
          <p:nvPr>
            <p:ph type="title"/>
          </p:nvPr>
        </p:nvSpPr>
        <p:spPr/>
        <p:txBody>
          <a:bodyPr/>
          <a:lstStyle/>
          <a:p>
            <a:r>
              <a:rPr lang="en-US" dirty="0"/>
              <a:t>Normalisation</a:t>
            </a:r>
            <a:endParaRPr lang="en-GB" dirty="0"/>
          </a:p>
        </p:txBody>
      </p:sp>
      <p:sp>
        <p:nvSpPr>
          <p:cNvPr id="3985411" name="Rectangle 3"/>
          <p:cNvSpPr>
            <a:spLocks noGrp="1" noChangeArrowheads="1"/>
          </p:cNvSpPr>
          <p:nvPr>
            <p:ph idx="1"/>
          </p:nvPr>
        </p:nvSpPr>
        <p:spPr/>
        <p:txBody>
          <a:bodyPr>
            <a:normAutofit/>
          </a:bodyPr>
          <a:lstStyle/>
          <a:p>
            <a:pPr lvl="1"/>
            <a:r>
              <a:rPr lang="en-IE" dirty="0"/>
              <a:t>More highly normalised tables greatly </a:t>
            </a:r>
            <a:r>
              <a:rPr lang="en-IE" b="1" dirty="0"/>
              <a:t>simplify development</a:t>
            </a:r>
            <a:r>
              <a:rPr lang="en-IE" dirty="0"/>
              <a:t> and </a:t>
            </a:r>
            <a:r>
              <a:rPr lang="en-IE" b="1" dirty="0"/>
              <a:t>maintenance</a:t>
            </a:r>
            <a:r>
              <a:rPr lang="en-IE" dirty="0"/>
              <a:t> of the database and </a:t>
            </a:r>
            <a:r>
              <a:rPr lang="en-IE" b="1" dirty="0"/>
              <a:t>contribute</a:t>
            </a:r>
            <a:r>
              <a:rPr lang="en-IE" dirty="0"/>
              <a:t> to its </a:t>
            </a:r>
            <a:r>
              <a:rPr lang="en-IE" b="1" dirty="0"/>
              <a:t>extensibility</a:t>
            </a:r>
            <a:r>
              <a:rPr lang="en-IE" dirty="0"/>
              <a:t>.</a:t>
            </a:r>
          </a:p>
          <a:p>
            <a:pPr marL="0" indent="0">
              <a:buNone/>
            </a:pPr>
            <a:endParaRPr lang="en-IE" sz="400" dirty="0"/>
          </a:p>
        </p:txBody>
      </p:sp>
      <p:sp>
        <p:nvSpPr>
          <p:cNvPr id="6" name="Slide Number Placeholder 5"/>
          <p:cNvSpPr>
            <a:spLocks noGrp="1"/>
          </p:cNvSpPr>
          <p:nvPr>
            <p:ph type="sldNum" sz="quarter" idx="12"/>
          </p:nvPr>
        </p:nvSpPr>
        <p:spPr/>
        <p:txBody>
          <a:bodyPr/>
          <a:lstStyle/>
          <a:p>
            <a:fld id="{11A0CC35-C2E9-43D0-B401-2C1E30C048B2}" type="slidenum">
              <a:rPr lang="en-IE" smtClean="0"/>
              <a:pPr/>
              <a:t>42</a:t>
            </a:fld>
            <a:endParaRPr lang="en-IE"/>
          </a:p>
        </p:txBody>
      </p:sp>
    </p:spTree>
    <p:extLst>
      <p:ext uri="{BB962C8B-B14F-4D97-AF65-F5344CB8AC3E}">
        <p14:creationId xmlns:p14="http://schemas.microsoft.com/office/powerpoint/2010/main" val="1527124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5410" name="AutoShape 2"/>
          <p:cNvSpPr>
            <a:spLocks noGrp="1" noChangeArrowheads="1"/>
          </p:cNvSpPr>
          <p:nvPr>
            <p:ph type="title"/>
          </p:nvPr>
        </p:nvSpPr>
        <p:spPr/>
        <p:txBody>
          <a:bodyPr/>
          <a:lstStyle/>
          <a:p>
            <a:r>
              <a:rPr lang="en-US" dirty="0"/>
              <a:t>Normalisation</a:t>
            </a:r>
            <a:endParaRPr lang="en-GB" dirty="0"/>
          </a:p>
        </p:txBody>
      </p:sp>
      <p:sp>
        <p:nvSpPr>
          <p:cNvPr id="3985411" name="Rectangle 3"/>
          <p:cNvSpPr>
            <a:spLocks noGrp="1" noChangeArrowheads="1"/>
          </p:cNvSpPr>
          <p:nvPr>
            <p:ph idx="1"/>
          </p:nvPr>
        </p:nvSpPr>
        <p:spPr/>
        <p:txBody>
          <a:bodyPr>
            <a:normAutofit/>
          </a:bodyPr>
          <a:lstStyle/>
          <a:p>
            <a:endParaRPr lang="en-IE" sz="400" dirty="0"/>
          </a:p>
          <a:p>
            <a:r>
              <a:rPr lang="en-IE" dirty="0"/>
              <a:t>Properly executed, the normalisation process </a:t>
            </a:r>
            <a:r>
              <a:rPr lang="en-IE" b="1" dirty="0"/>
              <a:t>eliminates uncontrolled data redundancies</a:t>
            </a:r>
            <a:r>
              <a:rPr lang="en-IE" dirty="0"/>
              <a:t>,</a:t>
            </a:r>
          </a:p>
          <a:p>
            <a:pPr lvl="1"/>
            <a:r>
              <a:rPr lang="en-IE" dirty="0"/>
              <a:t>thus </a:t>
            </a:r>
            <a:r>
              <a:rPr lang="en-IE" b="1" dirty="0"/>
              <a:t>eliminating</a:t>
            </a:r>
            <a:r>
              <a:rPr lang="en-IE" dirty="0"/>
              <a:t> the </a:t>
            </a:r>
            <a:r>
              <a:rPr lang="en-IE" b="1" dirty="0"/>
              <a:t>data anomalies</a:t>
            </a:r>
            <a:r>
              <a:rPr lang="en-IE" dirty="0"/>
              <a:t>, and</a:t>
            </a:r>
          </a:p>
          <a:p>
            <a:pPr lvl="1"/>
            <a:r>
              <a:rPr lang="en-IE" dirty="0"/>
              <a:t>the </a:t>
            </a:r>
            <a:r>
              <a:rPr lang="en-IE" b="1" dirty="0"/>
              <a:t>data integrity problems</a:t>
            </a:r>
            <a:r>
              <a:rPr lang="en-IE" dirty="0"/>
              <a:t> that are produced by such redundancies.</a:t>
            </a:r>
          </a:p>
        </p:txBody>
      </p:sp>
      <p:sp>
        <p:nvSpPr>
          <p:cNvPr id="6" name="Slide Number Placeholder 5"/>
          <p:cNvSpPr>
            <a:spLocks noGrp="1"/>
          </p:cNvSpPr>
          <p:nvPr>
            <p:ph type="sldNum" sz="quarter" idx="12"/>
          </p:nvPr>
        </p:nvSpPr>
        <p:spPr/>
        <p:txBody>
          <a:bodyPr/>
          <a:lstStyle/>
          <a:p>
            <a:fld id="{11A0CC35-C2E9-43D0-B401-2C1E30C048B2}" type="slidenum">
              <a:rPr lang="en-IE" smtClean="0"/>
              <a:pPr/>
              <a:t>43</a:t>
            </a:fld>
            <a:endParaRPr lang="en-IE"/>
          </a:p>
        </p:txBody>
      </p:sp>
    </p:spTree>
    <p:extLst>
      <p:ext uri="{BB962C8B-B14F-4D97-AF65-F5344CB8AC3E}">
        <p14:creationId xmlns:p14="http://schemas.microsoft.com/office/powerpoint/2010/main" val="11348917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5410" name="AutoShape 2"/>
          <p:cNvSpPr>
            <a:spLocks noGrp="1" noChangeArrowheads="1"/>
          </p:cNvSpPr>
          <p:nvPr>
            <p:ph type="title"/>
          </p:nvPr>
        </p:nvSpPr>
        <p:spPr/>
        <p:txBody>
          <a:bodyPr/>
          <a:lstStyle/>
          <a:p>
            <a:r>
              <a:rPr lang="en-US" dirty="0"/>
              <a:t>Normalisation</a:t>
            </a:r>
            <a:endParaRPr lang="en-GB" dirty="0"/>
          </a:p>
        </p:txBody>
      </p:sp>
      <p:sp>
        <p:nvSpPr>
          <p:cNvPr id="3985411" name="Rectangle 3"/>
          <p:cNvSpPr>
            <a:spLocks noGrp="1" noChangeArrowheads="1"/>
          </p:cNvSpPr>
          <p:nvPr>
            <p:ph idx="1"/>
          </p:nvPr>
        </p:nvSpPr>
        <p:spPr/>
        <p:txBody>
          <a:bodyPr>
            <a:normAutofit/>
          </a:bodyPr>
          <a:lstStyle/>
          <a:p>
            <a:endParaRPr lang="en-IE" sz="400" dirty="0"/>
          </a:p>
          <a:p>
            <a:r>
              <a:rPr lang="en-IE" sz="2000" b="1" dirty="0"/>
              <a:t> </a:t>
            </a:r>
            <a:r>
              <a:rPr lang="en-IE" dirty="0"/>
              <a:t>Normalisation </a:t>
            </a:r>
            <a:r>
              <a:rPr lang="en-IE" b="1" u="sng" dirty="0"/>
              <a:t>does</a:t>
            </a:r>
            <a:r>
              <a:rPr lang="en-IE" b="1" dirty="0"/>
              <a:t> </a:t>
            </a:r>
            <a:r>
              <a:rPr lang="en-IE" b="1" u="sng" dirty="0"/>
              <a:t>not</a:t>
            </a:r>
            <a:r>
              <a:rPr lang="en-IE" dirty="0"/>
              <a:t> fully </a:t>
            </a:r>
            <a:r>
              <a:rPr lang="en-IE" b="1" dirty="0"/>
              <a:t>eliminate data redundancy</a:t>
            </a:r>
            <a:r>
              <a:rPr lang="en-IE" dirty="0"/>
              <a:t>. Instead, it produces the </a:t>
            </a:r>
            <a:r>
              <a:rPr lang="en-IE" b="1" dirty="0"/>
              <a:t>carefully controlled redundancy</a:t>
            </a:r>
            <a:r>
              <a:rPr lang="en-IE" dirty="0"/>
              <a:t> that lets you properly link database tables</a:t>
            </a:r>
            <a:r>
              <a:rPr lang="en-IE" sz="2000" dirty="0"/>
              <a:t>. </a:t>
            </a:r>
          </a:p>
        </p:txBody>
      </p:sp>
      <p:sp>
        <p:nvSpPr>
          <p:cNvPr id="6" name="Slide Number Placeholder 5"/>
          <p:cNvSpPr>
            <a:spLocks noGrp="1"/>
          </p:cNvSpPr>
          <p:nvPr>
            <p:ph type="sldNum" sz="quarter" idx="12"/>
          </p:nvPr>
        </p:nvSpPr>
        <p:spPr/>
        <p:txBody>
          <a:bodyPr/>
          <a:lstStyle/>
          <a:p>
            <a:fld id="{11A0CC35-C2E9-43D0-B401-2C1E30C048B2}" type="slidenum">
              <a:rPr lang="en-IE" smtClean="0"/>
              <a:pPr/>
              <a:t>44</a:t>
            </a:fld>
            <a:endParaRPr lang="en-IE"/>
          </a:p>
        </p:txBody>
      </p:sp>
    </p:spTree>
    <p:extLst>
      <p:ext uri="{BB962C8B-B14F-4D97-AF65-F5344CB8AC3E}">
        <p14:creationId xmlns:p14="http://schemas.microsoft.com/office/powerpoint/2010/main" val="31124635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Definitions relevant to </a:t>
            </a:r>
            <a:r>
              <a:rPr lang="en-US" dirty="0" err="1"/>
              <a:t>normalisation</a:t>
            </a:r>
            <a:endParaRPr lang="en-IE" dirty="0"/>
          </a:p>
        </p:txBody>
      </p:sp>
      <p:sp>
        <p:nvSpPr>
          <p:cNvPr id="3" name="Content Placeholder 2"/>
          <p:cNvSpPr>
            <a:spLocks noGrp="1"/>
          </p:cNvSpPr>
          <p:nvPr>
            <p:ph idx="1"/>
          </p:nvPr>
        </p:nvSpPr>
        <p:spPr/>
        <p:txBody>
          <a:bodyPr>
            <a:normAutofit lnSpcReduction="10000"/>
          </a:bodyPr>
          <a:lstStyle/>
          <a:p>
            <a:r>
              <a:rPr lang="en-US" dirty="0"/>
              <a:t>Data anomalies</a:t>
            </a:r>
          </a:p>
          <a:p>
            <a:r>
              <a:rPr lang="en-US" dirty="0"/>
              <a:t>Repeating groups</a:t>
            </a:r>
          </a:p>
          <a:p>
            <a:r>
              <a:rPr lang="en-US" dirty="0"/>
              <a:t>Dependencies</a:t>
            </a:r>
          </a:p>
          <a:p>
            <a:pPr lvl="1"/>
            <a:r>
              <a:rPr lang="en-US" dirty="0"/>
              <a:t>Functional and fully functional</a:t>
            </a:r>
          </a:p>
          <a:p>
            <a:pPr lvl="1"/>
            <a:r>
              <a:rPr lang="en-US" dirty="0"/>
              <a:t>Partial</a:t>
            </a:r>
          </a:p>
          <a:p>
            <a:pPr lvl="1"/>
            <a:r>
              <a:rPr lang="en-US" dirty="0"/>
              <a:t>Transitive</a:t>
            </a:r>
          </a:p>
          <a:p>
            <a:pPr lvl="1"/>
            <a:endParaRPr lang="en-US" dirty="0"/>
          </a:p>
          <a:p>
            <a:endParaRPr lang="en-IE" dirty="0"/>
          </a:p>
        </p:txBody>
      </p:sp>
      <p:sp>
        <p:nvSpPr>
          <p:cNvPr id="4" name="Slide Number Placeholder 3"/>
          <p:cNvSpPr>
            <a:spLocks noGrp="1"/>
          </p:cNvSpPr>
          <p:nvPr>
            <p:ph type="sldNum" sz="quarter" idx="12"/>
          </p:nvPr>
        </p:nvSpPr>
        <p:spPr/>
        <p:txBody>
          <a:bodyPr/>
          <a:lstStyle/>
          <a:p>
            <a:fld id="{7341093E-ADCE-4CEF-A0BC-E1F79F413BC5}" type="slidenum">
              <a:rPr lang="en-IE" smtClean="0"/>
              <a:t>45</a:t>
            </a:fld>
            <a:endParaRPr lang="en-IE"/>
          </a:p>
        </p:txBody>
      </p:sp>
    </p:spTree>
    <p:extLst>
      <p:ext uri="{BB962C8B-B14F-4D97-AF65-F5344CB8AC3E}">
        <p14:creationId xmlns:p14="http://schemas.microsoft.com/office/powerpoint/2010/main" val="17692174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5650" name="AutoShape 2"/>
          <p:cNvSpPr>
            <a:spLocks noGrp="1" noChangeArrowheads="1"/>
          </p:cNvSpPr>
          <p:nvPr>
            <p:ph type="title"/>
          </p:nvPr>
        </p:nvSpPr>
        <p:spPr/>
        <p:txBody>
          <a:bodyPr/>
          <a:lstStyle/>
          <a:p>
            <a:r>
              <a:rPr lang="en-US"/>
              <a:t>Data Anomalies</a:t>
            </a:r>
            <a:r>
              <a:rPr lang="en-GB"/>
              <a:t> </a:t>
            </a:r>
          </a:p>
        </p:txBody>
      </p:sp>
      <p:sp>
        <p:nvSpPr>
          <p:cNvPr id="3995651" name="Rectangle 3"/>
          <p:cNvSpPr>
            <a:spLocks noGrp="1" noChangeArrowheads="1"/>
          </p:cNvSpPr>
          <p:nvPr>
            <p:ph idx="1"/>
          </p:nvPr>
        </p:nvSpPr>
        <p:spPr/>
        <p:txBody>
          <a:bodyPr>
            <a:normAutofit lnSpcReduction="10000"/>
          </a:bodyPr>
          <a:lstStyle/>
          <a:p>
            <a:r>
              <a:rPr lang="en-US" dirty="0"/>
              <a:t>The most common </a:t>
            </a:r>
            <a:r>
              <a:rPr lang="en-US" b="1" dirty="0"/>
              <a:t>anomalies</a:t>
            </a:r>
            <a:r>
              <a:rPr lang="en-US" dirty="0"/>
              <a:t> considered when data redundancy exists are:</a:t>
            </a:r>
          </a:p>
          <a:p>
            <a:pPr lvl="1"/>
            <a:r>
              <a:rPr lang="en-US" b="1" dirty="0"/>
              <a:t>Update</a:t>
            </a:r>
            <a:r>
              <a:rPr lang="en-US" dirty="0"/>
              <a:t> anomalies</a:t>
            </a:r>
          </a:p>
          <a:p>
            <a:pPr lvl="1"/>
            <a:r>
              <a:rPr lang="en-US" b="1" dirty="0"/>
              <a:t>Insert</a:t>
            </a:r>
            <a:r>
              <a:rPr lang="en-US" dirty="0"/>
              <a:t> anomalies</a:t>
            </a:r>
          </a:p>
          <a:p>
            <a:pPr lvl="1"/>
            <a:r>
              <a:rPr lang="en-US" b="1" dirty="0"/>
              <a:t>Deletion</a:t>
            </a:r>
            <a:r>
              <a:rPr lang="en-US" dirty="0"/>
              <a:t> anomalies</a:t>
            </a:r>
          </a:p>
          <a:p>
            <a:endParaRPr lang="en-US" sz="400" dirty="0"/>
          </a:p>
          <a:p>
            <a:pPr>
              <a:buNone/>
            </a:pPr>
            <a:r>
              <a:rPr lang="en-US" dirty="0"/>
              <a:t>	All these can easily be </a:t>
            </a:r>
            <a:r>
              <a:rPr lang="en-US" b="1" dirty="0"/>
              <a:t>avoided</a:t>
            </a:r>
            <a:r>
              <a:rPr lang="en-US" dirty="0"/>
              <a:t> through </a:t>
            </a:r>
            <a:r>
              <a:rPr lang="en-US" b="1" dirty="0"/>
              <a:t>data</a:t>
            </a:r>
            <a:r>
              <a:rPr lang="en-US" dirty="0"/>
              <a:t> </a:t>
            </a:r>
            <a:r>
              <a:rPr lang="en-US" b="1" dirty="0"/>
              <a:t>normalisation</a:t>
            </a:r>
            <a:r>
              <a:rPr lang="en-US" dirty="0"/>
              <a:t>.</a:t>
            </a:r>
          </a:p>
          <a:p>
            <a:endParaRPr lang="en-US" sz="400" dirty="0"/>
          </a:p>
        </p:txBody>
      </p:sp>
      <p:sp>
        <p:nvSpPr>
          <p:cNvPr id="6" name="Slide Number Placeholder 5"/>
          <p:cNvSpPr>
            <a:spLocks noGrp="1"/>
          </p:cNvSpPr>
          <p:nvPr>
            <p:ph type="sldNum" sz="quarter" idx="12"/>
          </p:nvPr>
        </p:nvSpPr>
        <p:spPr/>
        <p:txBody>
          <a:bodyPr/>
          <a:lstStyle/>
          <a:p>
            <a:fld id="{CAD6B87C-D7DF-452C-B256-DE131B646AE2}" type="slidenum">
              <a:rPr lang="en-IE" smtClean="0"/>
              <a:pPr/>
              <a:t>46</a:t>
            </a:fld>
            <a:endParaRPr lang="en-IE"/>
          </a:p>
        </p:txBody>
      </p:sp>
    </p:spTree>
    <p:extLst>
      <p:ext uri="{BB962C8B-B14F-4D97-AF65-F5344CB8AC3E}">
        <p14:creationId xmlns:p14="http://schemas.microsoft.com/office/powerpoint/2010/main" val="27208348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3730" name="AutoShape 2"/>
          <p:cNvSpPr>
            <a:spLocks noGrp="1" noChangeArrowheads="1"/>
          </p:cNvSpPr>
          <p:nvPr>
            <p:ph type="title"/>
          </p:nvPr>
        </p:nvSpPr>
        <p:spPr/>
        <p:txBody>
          <a:bodyPr/>
          <a:lstStyle/>
          <a:p>
            <a:r>
              <a:rPr lang="en-IE" dirty="0"/>
              <a:t>Example: </a:t>
            </a:r>
            <a:r>
              <a:rPr lang="en-IE" b="0" dirty="0"/>
              <a:t>Data Anomalies</a:t>
            </a:r>
            <a:endParaRPr lang="en-US" b="0" dirty="0"/>
          </a:p>
        </p:txBody>
      </p:sp>
      <p:sp>
        <p:nvSpPr>
          <p:cNvPr id="39" name="Slide Number Placeholder 4"/>
          <p:cNvSpPr>
            <a:spLocks noGrp="1"/>
          </p:cNvSpPr>
          <p:nvPr>
            <p:ph type="sldNum" sz="quarter" idx="12"/>
          </p:nvPr>
        </p:nvSpPr>
        <p:spPr/>
        <p:txBody>
          <a:bodyPr/>
          <a:lstStyle/>
          <a:p>
            <a:fld id="{711D5B99-9697-4735-AF6B-90BF172872F7}" type="slidenum">
              <a:rPr lang="en-IE"/>
              <a:pPr/>
              <a:t>47</a:t>
            </a:fld>
            <a:endParaRPr lang="en-IE"/>
          </a:p>
        </p:txBody>
      </p:sp>
      <p:sp>
        <p:nvSpPr>
          <p:cNvPr id="3913731" name="Text Box 3"/>
          <p:cNvSpPr txBox="1">
            <a:spLocks noChangeArrowheads="1"/>
          </p:cNvSpPr>
          <p:nvPr/>
        </p:nvSpPr>
        <p:spPr bwMode="auto">
          <a:xfrm>
            <a:off x="927380" y="5465942"/>
            <a:ext cx="7916863" cy="972000"/>
          </a:xfrm>
          <a:prstGeom prst="rect">
            <a:avLst/>
          </a:prstGeom>
          <a:noFill/>
          <a:ln w="12700">
            <a:noFill/>
            <a:miter lim="800000"/>
            <a:headEnd type="none" w="sm" len="sm"/>
            <a:tailEnd type="none" w="sm" len="sm"/>
          </a:ln>
          <a:effectLst/>
        </p:spPr>
        <p:txBody>
          <a:bodyPr/>
          <a:lstStyle/>
          <a:p>
            <a:r>
              <a:rPr lang="en-GB" b="1" dirty="0">
                <a:solidFill>
                  <a:srgbClr val="0066FF"/>
                </a:solidFill>
                <a:latin typeface="Arial" charset="0"/>
              </a:rPr>
              <a:t>Deletion Anomaly</a:t>
            </a:r>
            <a:r>
              <a:rPr lang="en-GB" dirty="0">
                <a:solidFill>
                  <a:srgbClr val="0066FF"/>
                </a:solidFill>
                <a:latin typeface="Arial" charset="0"/>
              </a:rPr>
              <a:t>: </a:t>
            </a:r>
            <a:r>
              <a:rPr lang="en-GB" dirty="0">
                <a:latin typeface="Arial" charset="0"/>
              </a:rPr>
              <a:t>By removing employee SL10 (‘StaffNo’) you have removed all information pertaining to the ‘Sales Dept’ (‘Dept’, ‘</a:t>
            </a:r>
            <a:r>
              <a:rPr lang="en-GB" dirty="0" err="1">
                <a:latin typeface="Arial" charset="0"/>
              </a:rPr>
              <a:t>DeptName</a:t>
            </a:r>
            <a:r>
              <a:rPr lang="en-GB" dirty="0">
                <a:latin typeface="Arial" charset="0"/>
              </a:rPr>
              <a:t>’ &amp; ‘City’).</a:t>
            </a:r>
          </a:p>
        </p:txBody>
      </p:sp>
      <p:sp>
        <p:nvSpPr>
          <p:cNvPr id="3913732" name="Text Box 4"/>
          <p:cNvSpPr txBox="1">
            <a:spLocks noChangeArrowheads="1"/>
          </p:cNvSpPr>
          <p:nvPr/>
        </p:nvSpPr>
        <p:spPr bwMode="auto">
          <a:xfrm>
            <a:off x="927380" y="4396039"/>
            <a:ext cx="7916863" cy="972000"/>
          </a:xfrm>
          <a:prstGeom prst="rect">
            <a:avLst/>
          </a:prstGeom>
          <a:noFill/>
          <a:ln w="12700">
            <a:noFill/>
            <a:miter lim="800000"/>
            <a:headEnd type="none" w="sm" len="sm"/>
            <a:tailEnd type="none" w="sm" len="sm"/>
          </a:ln>
          <a:effectLst/>
        </p:spPr>
        <p:txBody>
          <a:bodyPr/>
          <a:lstStyle/>
          <a:p>
            <a:r>
              <a:rPr lang="en-GB" b="1" dirty="0">
                <a:solidFill>
                  <a:srgbClr val="0066FF"/>
                </a:solidFill>
                <a:latin typeface="Arial" charset="0"/>
              </a:rPr>
              <a:t>Update Anomaly</a:t>
            </a:r>
            <a:r>
              <a:rPr lang="en-GB" dirty="0">
                <a:solidFill>
                  <a:srgbClr val="0066FF"/>
                </a:solidFill>
                <a:latin typeface="Arial" charset="0"/>
              </a:rPr>
              <a:t>: </a:t>
            </a:r>
            <a:r>
              <a:rPr lang="en-GB" dirty="0">
                <a:latin typeface="Arial" charset="0"/>
              </a:rPr>
              <a:t>You could change the name of the ‘Dept’ that SA51 (‘StaffNo’) works in without simultaneously changing the ‘Dept’ that DS40 (‘StaffNo’) works in.</a:t>
            </a:r>
          </a:p>
        </p:txBody>
      </p:sp>
      <p:sp>
        <p:nvSpPr>
          <p:cNvPr id="3913733" name="Text Box 5"/>
          <p:cNvSpPr txBox="1">
            <a:spLocks noChangeArrowheads="1"/>
          </p:cNvSpPr>
          <p:nvPr/>
        </p:nvSpPr>
        <p:spPr bwMode="auto">
          <a:xfrm>
            <a:off x="927380" y="3650137"/>
            <a:ext cx="7916863" cy="648000"/>
          </a:xfrm>
          <a:prstGeom prst="rect">
            <a:avLst/>
          </a:prstGeom>
          <a:noFill/>
          <a:ln w="12700">
            <a:noFill/>
            <a:miter lim="800000"/>
            <a:headEnd type="none" w="sm" len="sm"/>
            <a:tailEnd type="none" w="sm" len="sm"/>
          </a:ln>
          <a:effectLst/>
        </p:spPr>
        <p:txBody>
          <a:bodyPr/>
          <a:lstStyle/>
          <a:p>
            <a:r>
              <a:rPr lang="en-GB" b="1" dirty="0">
                <a:solidFill>
                  <a:srgbClr val="0066FF"/>
                </a:solidFill>
                <a:latin typeface="Arial" charset="0"/>
              </a:rPr>
              <a:t>Insert Anomaly:</a:t>
            </a:r>
            <a:r>
              <a:rPr lang="en-GB" dirty="0">
                <a:solidFill>
                  <a:srgbClr val="0066FF"/>
                </a:solidFill>
                <a:latin typeface="Arial" charset="0"/>
              </a:rPr>
              <a:t>  </a:t>
            </a:r>
            <a:r>
              <a:rPr lang="en-GB" dirty="0">
                <a:latin typeface="Arial" charset="0"/>
              </a:rPr>
              <a:t>You could insert a new staff member and add incorrect details for the Department. </a:t>
            </a:r>
          </a:p>
        </p:txBody>
      </p:sp>
      <p:sp>
        <p:nvSpPr>
          <p:cNvPr id="3913734" name="Text Box 6"/>
          <p:cNvSpPr txBox="1">
            <a:spLocks noChangeArrowheads="1"/>
          </p:cNvSpPr>
          <p:nvPr/>
        </p:nvSpPr>
        <p:spPr bwMode="auto">
          <a:xfrm>
            <a:off x="927380" y="1539967"/>
            <a:ext cx="7916863" cy="366713"/>
          </a:xfrm>
          <a:prstGeom prst="rect">
            <a:avLst/>
          </a:prstGeom>
          <a:noFill/>
          <a:ln w="12700">
            <a:noFill/>
            <a:miter lim="800000"/>
            <a:headEnd type="none" w="sm" len="sm"/>
            <a:tailEnd type="none" w="sm" len="sm"/>
          </a:ln>
          <a:effectLst/>
        </p:spPr>
        <p:txBody>
          <a:bodyPr>
            <a:spAutoFit/>
          </a:bodyPr>
          <a:lstStyle/>
          <a:p>
            <a:r>
              <a:rPr lang="en-GB" dirty="0">
                <a:latin typeface="Arial" charset="0"/>
              </a:rPr>
              <a:t> The following relation contains staff and department details.</a:t>
            </a:r>
          </a:p>
        </p:txBody>
      </p:sp>
      <p:grpSp>
        <p:nvGrpSpPr>
          <p:cNvPr id="42" name="Group 41"/>
          <p:cNvGrpSpPr/>
          <p:nvPr/>
        </p:nvGrpSpPr>
        <p:grpSpPr>
          <a:xfrm>
            <a:off x="1067332" y="2077955"/>
            <a:ext cx="7633729" cy="1200150"/>
            <a:chOff x="795656" y="1941770"/>
            <a:chExt cx="7633729" cy="1200150"/>
          </a:xfrm>
        </p:grpSpPr>
        <p:sp>
          <p:nvSpPr>
            <p:cNvPr id="3913735" name="Text Box 7"/>
            <p:cNvSpPr txBox="1">
              <a:spLocks noChangeArrowheads="1"/>
            </p:cNvSpPr>
            <p:nvPr/>
          </p:nvSpPr>
          <p:spPr bwMode="auto">
            <a:xfrm>
              <a:off x="6027419" y="2083852"/>
              <a:ext cx="2401966" cy="923330"/>
            </a:xfrm>
            <a:prstGeom prst="rect">
              <a:avLst/>
            </a:prstGeom>
            <a:noFill/>
            <a:ln w="12700">
              <a:noFill/>
              <a:miter lim="800000"/>
              <a:headEnd type="none" w="sm" len="sm"/>
              <a:tailEnd type="none" w="sm" len="sm"/>
            </a:ln>
            <a:effectLst/>
          </p:spPr>
          <p:txBody>
            <a:bodyPr wrap="square">
              <a:spAutoFit/>
            </a:bodyPr>
            <a:lstStyle/>
            <a:p>
              <a:r>
                <a:rPr lang="en-GB" dirty="0"/>
                <a:t>Such </a:t>
              </a:r>
              <a:r>
                <a:rPr lang="en-GB" b="1" dirty="0"/>
                <a:t>‘</a:t>
              </a:r>
              <a:r>
                <a:rPr lang="en-GB" b="1" dirty="0">
                  <a:solidFill>
                    <a:srgbClr val="0000FF"/>
                  </a:solidFill>
                </a:rPr>
                <a:t>redundancy</a:t>
              </a:r>
              <a:r>
                <a:rPr lang="en-GB" b="1" dirty="0"/>
                <a:t>’</a:t>
              </a:r>
              <a:r>
                <a:rPr lang="en-GB" b="1" dirty="0">
                  <a:solidFill>
                    <a:srgbClr val="CF0E30"/>
                  </a:solidFill>
                </a:rPr>
                <a:t> </a:t>
              </a:r>
              <a:r>
                <a:rPr lang="en-GB" dirty="0"/>
                <a:t>could lead to the following </a:t>
              </a:r>
              <a:r>
                <a:rPr lang="en-GB" b="1" dirty="0"/>
                <a:t>‘</a:t>
              </a:r>
              <a:r>
                <a:rPr lang="en-GB" b="1" dirty="0">
                  <a:solidFill>
                    <a:srgbClr val="0000FF"/>
                  </a:solidFill>
                </a:rPr>
                <a:t>anomalies</a:t>
              </a:r>
              <a:r>
                <a:rPr lang="en-GB" b="1" dirty="0"/>
                <a:t>’</a:t>
              </a:r>
              <a:endParaRPr lang="en-GB" dirty="0"/>
            </a:p>
          </p:txBody>
        </p:sp>
        <p:sp>
          <p:nvSpPr>
            <p:cNvPr id="3913764" name="AutoShape 36"/>
            <p:cNvSpPr>
              <a:spLocks noChangeArrowheads="1"/>
            </p:cNvSpPr>
            <p:nvPr/>
          </p:nvSpPr>
          <p:spPr bwMode="auto">
            <a:xfrm rot="5400000">
              <a:off x="4971462" y="2301339"/>
              <a:ext cx="1200150" cy="48101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2"/>
            </a:solidFill>
            <a:ln w="12700" cap="sq">
              <a:solidFill>
                <a:schemeClr val="tx1"/>
              </a:solidFill>
              <a:miter lim="800000"/>
              <a:headEnd type="none" w="sm" len="sm"/>
              <a:tailEnd type="none" w="sm" len="sm"/>
            </a:ln>
            <a:effectLst>
              <a:outerShdw blurRad="50800" dist="38100" dir="18900000" algn="bl" rotWithShape="0">
                <a:prstClr val="black">
                  <a:alpha val="40000"/>
                </a:prstClr>
              </a:outerShdw>
            </a:effectLst>
          </p:spPr>
          <p:txBody>
            <a:bodyPr wrap="none" anchor="ctr"/>
            <a:lstStyle/>
            <a:p>
              <a:endParaRPr lang="en-IE" dirty="0"/>
            </a:p>
          </p:txBody>
        </p:sp>
        <p:pic>
          <p:nvPicPr>
            <p:cNvPr id="40" name="Picture 39" descr="Fig05.jpg"/>
            <p:cNvPicPr>
              <a:picLocks noChangeAspect="1"/>
            </p:cNvPicPr>
            <p:nvPr/>
          </p:nvPicPr>
          <p:blipFill>
            <a:blip r:embed="rId3" cstate="print"/>
            <a:stretch>
              <a:fillRect/>
            </a:stretch>
          </p:blipFill>
          <p:spPr>
            <a:xfrm>
              <a:off x="795656" y="1971252"/>
              <a:ext cx="4320000" cy="1141187"/>
            </a:xfrm>
            <a:prstGeom prst="rect">
              <a:avLst/>
            </a:prstGeom>
          </p:spPr>
        </p:pic>
      </p:grpSp>
    </p:spTree>
    <p:extLst>
      <p:ext uri="{BB962C8B-B14F-4D97-AF65-F5344CB8AC3E}">
        <p14:creationId xmlns:p14="http://schemas.microsoft.com/office/powerpoint/2010/main" val="42849263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AU" dirty="0"/>
              <a:t>Stages of Normalisation</a:t>
            </a:r>
            <a:endParaRPr lang="en-IE" dirty="0"/>
          </a:p>
        </p:txBody>
      </p:sp>
      <p:sp>
        <p:nvSpPr>
          <p:cNvPr id="6" name="Slide Number Placeholder 5"/>
          <p:cNvSpPr>
            <a:spLocks noGrp="1"/>
          </p:cNvSpPr>
          <p:nvPr>
            <p:ph type="sldNum" sz="quarter" idx="12"/>
          </p:nvPr>
        </p:nvSpPr>
        <p:spPr/>
        <p:txBody>
          <a:bodyPr/>
          <a:lstStyle/>
          <a:p>
            <a:fld id="{E420F726-502A-4A13-B38C-4A07697E010C}" type="slidenum">
              <a:rPr lang="en-IE" smtClean="0"/>
              <a:pPr/>
              <a:t>48</a:t>
            </a:fld>
            <a:endParaRPr lang="en-IE"/>
          </a:p>
        </p:txBody>
      </p:sp>
      <p:pic>
        <p:nvPicPr>
          <p:cNvPr id="8" name="Picture 7" descr="Fig03.jpg"/>
          <p:cNvPicPr>
            <a:picLocks noChangeAspect="1"/>
          </p:cNvPicPr>
          <p:nvPr/>
        </p:nvPicPr>
        <p:blipFill>
          <a:blip r:embed="rId2" cstate="print"/>
          <a:stretch>
            <a:fillRect/>
          </a:stretch>
        </p:blipFill>
        <p:spPr>
          <a:xfrm>
            <a:off x="4293881" y="1307277"/>
            <a:ext cx="4013539" cy="5466542"/>
          </a:xfrm>
          <a:prstGeom prst="rect">
            <a:avLst/>
          </a:prstGeom>
        </p:spPr>
      </p:pic>
    </p:spTree>
    <p:extLst>
      <p:ext uri="{BB962C8B-B14F-4D97-AF65-F5344CB8AC3E}">
        <p14:creationId xmlns:p14="http://schemas.microsoft.com/office/powerpoint/2010/main" val="253988707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0658" name="AutoShape 2"/>
          <p:cNvSpPr>
            <a:spLocks noGrp="1" noChangeArrowheads="1"/>
          </p:cNvSpPr>
          <p:nvPr>
            <p:ph type="title"/>
          </p:nvPr>
        </p:nvSpPr>
        <p:spPr/>
        <p:txBody>
          <a:bodyPr/>
          <a:lstStyle/>
          <a:p>
            <a:r>
              <a:rPr lang="en-IE" dirty="0"/>
              <a:t>Recap: </a:t>
            </a:r>
            <a:r>
              <a:rPr lang="en-IE" b="0" dirty="0"/>
              <a:t>Purpose of Normalisation</a:t>
            </a:r>
          </a:p>
        </p:txBody>
      </p:sp>
      <p:sp>
        <p:nvSpPr>
          <p:cNvPr id="3910659" name="Rectangle 3"/>
          <p:cNvSpPr>
            <a:spLocks noGrp="1" noChangeArrowheads="1"/>
          </p:cNvSpPr>
          <p:nvPr>
            <p:ph idx="1"/>
          </p:nvPr>
        </p:nvSpPr>
        <p:spPr/>
        <p:txBody>
          <a:bodyPr>
            <a:normAutofit/>
          </a:bodyPr>
          <a:lstStyle/>
          <a:p>
            <a:r>
              <a:rPr lang="en-US" dirty="0"/>
              <a:t>To </a:t>
            </a:r>
            <a:r>
              <a:rPr lang="en-US" b="1" dirty="0"/>
              <a:t>avoid redundancy</a:t>
            </a:r>
            <a:r>
              <a:rPr lang="en-US" dirty="0"/>
              <a:t> by storing each ‘</a:t>
            </a:r>
            <a:r>
              <a:rPr lang="en-US" b="1" dirty="0"/>
              <a:t>fact</a:t>
            </a:r>
            <a:r>
              <a:rPr lang="en-US" dirty="0"/>
              <a:t>’ within the database only once.</a:t>
            </a:r>
          </a:p>
          <a:p>
            <a:r>
              <a:rPr lang="en-US" dirty="0"/>
              <a:t>To put data into a form that </a:t>
            </a:r>
            <a:r>
              <a:rPr lang="en-US" b="1" dirty="0"/>
              <a:t>conforms</a:t>
            </a:r>
            <a:r>
              <a:rPr lang="en-US" dirty="0"/>
              <a:t> to </a:t>
            </a:r>
            <a:r>
              <a:rPr lang="en-US" b="1" dirty="0"/>
              <a:t>relational principles</a:t>
            </a:r>
            <a:endParaRPr lang="en-US" dirty="0"/>
          </a:p>
          <a:p>
            <a:pPr lvl="1"/>
            <a:r>
              <a:rPr lang="en-US" dirty="0"/>
              <a:t>single valued attributes,</a:t>
            </a:r>
          </a:p>
          <a:p>
            <a:pPr lvl="1"/>
            <a:r>
              <a:rPr lang="en-US" dirty="0"/>
              <a:t>each relation represents one entity, i.e. </a:t>
            </a:r>
            <a:r>
              <a:rPr lang="en-US" sz="2000" b="1" dirty="0">
                <a:solidFill>
                  <a:srgbClr val="0066FF"/>
                </a:solidFill>
              </a:rPr>
              <a:t>No Repeating Groups</a:t>
            </a:r>
          </a:p>
          <a:p>
            <a:endParaRPr lang="en-US" sz="400" dirty="0"/>
          </a:p>
        </p:txBody>
      </p:sp>
      <p:sp>
        <p:nvSpPr>
          <p:cNvPr id="6" name="Slide Number Placeholder 5"/>
          <p:cNvSpPr>
            <a:spLocks noGrp="1"/>
          </p:cNvSpPr>
          <p:nvPr>
            <p:ph type="sldNum" sz="quarter" idx="12"/>
          </p:nvPr>
        </p:nvSpPr>
        <p:spPr/>
        <p:txBody>
          <a:bodyPr/>
          <a:lstStyle/>
          <a:p>
            <a:fld id="{74FED8C6-1E0A-409B-80D0-B103D94452FF}" type="slidenum">
              <a:rPr lang="en-IE" smtClean="0"/>
              <a:pPr/>
              <a:t>49</a:t>
            </a:fld>
            <a:endParaRPr lang="en-IE"/>
          </a:p>
        </p:txBody>
      </p:sp>
    </p:spTree>
    <p:extLst>
      <p:ext uri="{BB962C8B-B14F-4D97-AF65-F5344CB8AC3E}">
        <p14:creationId xmlns:p14="http://schemas.microsoft.com/office/powerpoint/2010/main" val="27558982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0658" name="AutoShape 2"/>
          <p:cNvSpPr>
            <a:spLocks noGrp="1" noChangeArrowheads="1"/>
          </p:cNvSpPr>
          <p:nvPr>
            <p:ph type="title"/>
          </p:nvPr>
        </p:nvSpPr>
        <p:spPr/>
        <p:txBody>
          <a:bodyPr/>
          <a:lstStyle/>
          <a:p>
            <a:r>
              <a:rPr lang="en-IE" dirty="0"/>
              <a:t>Recap: </a:t>
            </a:r>
            <a:r>
              <a:rPr lang="en-IE" b="0" dirty="0"/>
              <a:t>Purpose of Normalisation</a:t>
            </a:r>
          </a:p>
        </p:txBody>
      </p:sp>
      <p:sp>
        <p:nvSpPr>
          <p:cNvPr id="3910659" name="Rectangle 3"/>
          <p:cNvSpPr>
            <a:spLocks noGrp="1" noChangeArrowheads="1"/>
          </p:cNvSpPr>
          <p:nvPr>
            <p:ph idx="1"/>
          </p:nvPr>
        </p:nvSpPr>
        <p:spPr/>
        <p:txBody>
          <a:bodyPr>
            <a:normAutofit/>
          </a:bodyPr>
          <a:lstStyle/>
          <a:p>
            <a:endParaRPr lang="en-US" sz="400" dirty="0"/>
          </a:p>
          <a:p>
            <a:r>
              <a:rPr lang="en-US" dirty="0"/>
              <a:t>To put the data into a form that is more able to </a:t>
            </a:r>
            <a:r>
              <a:rPr lang="en-US" b="1" dirty="0"/>
              <a:t>accurately</a:t>
            </a:r>
            <a:r>
              <a:rPr lang="en-US" dirty="0"/>
              <a:t> </a:t>
            </a:r>
            <a:r>
              <a:rPr lang="en-US" b="1" dirty="0"/>
              <a:t>accommodate</a:t>
            </a:r>
            <a:r>
              <a:rPr lang="en-US" dirty="0"/>
              <a:t> </a:t>
            </a:r>
            <a:r>
              <a:rPr lang="en-US" b="1" dirty="0"/>
              <a:t>change</a:t>
            </a:r>
            <a:r>
              <a:rPr lang="en-US" dirty="0"/>
              <a:t>.</a:t>
            </a:r>
          </a:p>
          <a:p>
            <a:r>
              <a:rPr lang="en-US" dirty="0"/>
              <a:t>To </a:t>
            </a:r>
            <a:r>
              <a:rPr lang="en-US" b="1" dirty="0"/>
              <a:t>avoid</a:t>
            </a:r>
            <a:r>
              <a:rPr lang="en-US" dirty="0"/>
              <a:t> certain updating ‘</a:t>
            </a:r>
            <a:r>
              <a:rPr lang="en-US" b="1" dirty="0"/>
              <a:t>anomalies</a:t>
            </a:r>
            <a:r>
              <a:rPr lang="en-US" dirty="0"/>
              <a:t>’.</a:t>
            </a:r>
          </a:p>
          <a:p>
            <a:r>
              <a:rPr lang="en-US" dirty="0"/>
              <a:t>To </a:t>
            </a:r>
            <a:r>
              <a:rPr lang="en-US" b="1" dirty="0"/>
              <a:t>facilitate</a:t>
            </a:r>
            <a:r>
              <a:rPr lang="en-US" dirty="0"/>
              <a:t> the </a:t>
            </a:r>
            <a:r>
              <a:rPr lang="en-US" b="1" dirty="0"/>
              <a:t>enforcement</a:t>
            </a:r>
            <a:r>
              <a:rPr lang="en-US" dirty="0"/>
              <a:t> of </a:t>
            </a:r>
            <a:r>
              <a:rPr lang="en-US" b="1" dirty="0"/>
              <a:t>data constraints</a:t>
            </a:r>
            <a:r>
              <a:rPr lang="en-US" dirty="0"/>
              <a:t>.</a:t>
            </a:r>
          </a:p>
        </p:txBody>
      </p:sp>
      <p:sp>
        <p:nvSpPr>
          <p:cNvPr id="6" name="Slide Number Placeholder 5"/>
          <p:cNvSpPr>
            <a:spLocks noGrp="1"/>
          </p:cNvSpPr>
          <p:nvPr>
            <p:ph type="sldNum" sz="quarter" idx="12"/>
          </p:nvPr>
        </p:nvSpPr>
        <p:spPr/>
        <p:txBody>
          <a:bodyPr/>
          <a:lstStyle/>
          <a:p>
            <a:fld id="{74FED8C6-1E0A-409B-80D0-B103D94452FF}" type="slidenum">
              <a:rPr lang="en-IE" smtClean="0"/>
              <a:pPr/>
              <a:t>50</a:t>
            </a:fld>
            <a:endParaRPr lang="en-IE"/>
          </a:p>
        </p:txBody>
      </p:sp>
    </p:spTree>
    <p:extLst>
      <p:ext uri="{BB962C8B-B14F-4D97-AF65-F5344CB8AC3E}">
        <p14:creationId xmlns:p14="http://schemas.microsoft.com/office/powerpoint/2010/main" val="34767725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682" name="AutoShape 2"/>
          <p:cNvSpPr>
            <a:spLocks noGrp="1" noChangeArrowheads="1"/>
          </p:cNvSpPr>
          <p:nvPr>
            <p:ph type="title"/>
          </p:nvPr>
        </p:nvSpPr>
        <p:spPr/>
        <p:txBody>
          <a:bodyPr/>
          <a:lstStyle/>
          <a:p>
            <a:r>
              <a:rPr lang="en-IE" dirty="0"/>
              <a:t>Normalisation: </a:t>
            </a:r>
            <a:r>
              <a:rPr lang="en-IE" b="0" dirty="0"/>
              <a:t>Relational Model</a:t>
            </a:r>
          </a:p>
        </p:txBody>
      </p:sp>
      <p:sp>
        <p:nvSpPr>
          <p:cNvPr id="3911683" name="Rectangle 3"/>
          <p:cNvSpPr>
            <a:spLocks noGrp="1" noChangeArrowheads="1"/>
          </p:cNvSpPr>
          <p:nvPr>
            <p:ph idx="1"/>
          </p:nvPr>
        </p:nvSpPr>
        <p:spPr/>
        <p:txBody>
          <a:bodyPr>
            <a:normAutofit lnSpcReduction="10000"/>
          </a:bodyPr>
          <a:lstStyle/>
          <a:p>
            <a:pPr marL="419100" indent="-419100">
              <a:buNone/>
            </a:pPr>
            <a:r>
              <a:rPr lang="en-IE" dirty="0"/>
              <a:t>In order to comply with the relational model it is necessary to </a:t>
            </a:r>
          </a:p>
          <a:p>
            <a:pPr marL="838200" lvl="1" indent="-381000">
              <a:buClr>
                <a:srgbClr val="A50021"/>
              </a:buClr>
              <a:buSzPct val="90000"/>
              <a:buFontTx/>
              <a:buAutoNum type="arabicPeriod"/>
            </a:pPr>
            <a:r>
              <a:rPr lang="en-IE" dirty="0"/>
              <a:t>Remove </a:t>
            </a:r>
            <a:r>
              <a:rPr lang="en-IE" b="1" dirty="0"/>
              <a:t>repeating groups</a:t>
            </a:r>
            <a:r>
              <a:rPr lang="en-IE" dirty="0"/>
              <a:t>, and </a:t>
            </a:r>
          </a:p>
          <a:p>
            <a:pPr marL="838200" lvl="1" indent="-381000">
              <a:buClr>
                <a:srgbClr val="A50021"/>
              </a:buClr>
              <a:buSzPct val="90000"/>
              <a:buFontTx/>
              <a:buAutoNum type="arabicPeriod"/>
            </a:pPr>
            <a:r>
              <a:rPr lang="en-IE" dirty="0"/>
              <a:t>Avoid </a:t>
            </a:r>
            <a:r>
              <a:rPr lang="en-IE" b="1" dirty="0"/>
              <a:t>redundancy</a:t>
            </a:r>
            <a:r>
              <a:rPr lang="en-IE" dirty="0"/>
              <a:t> and </a:t>
            </a:r>
            <a:r>
              <a:rPr lang="en-IE" b="1" dirty="0"/>
              <a:t>data anomalies</a:t>
            </a:r>
            <a:r>
              <a:rPr lang="en-IE" dirty="0"/>
              <a:t> by removing </a:t>
            </a:r>
            <a:r>
              <a:rPr lang="en-IE" b="1" dirty="0"/>
              <a:t>partial</a:t>
            </a:r>
            <a:r>
              <a:rPr lang="en-IE" dirty="0"/>
              <a:t> and </a:t>
            </a:r>
            <a:r>
              <a:rPr lang="en-IE" b="1" dirty="0"/>
              <a:t>transitive</a:t>
            </a:r>
            <a:r>
              <a:rPr lang="en-IE" b="1" i="1" dirty="0"/>
              <a:t> </a:t>
            </a:r>
            <a:r>
              <a:rPr lang="en-IE" b="1" dirty="0"/>
              <a:t>functional dependencies</a:t>
            </a:r>
            <a:r>
              <a:rPr lang="en-IE" dirty="0"/>
              <a:t>.</a:t>
            </a:r>
          </a:p>
          <a:p>
            <a:pPr marL="419100" indent="-419100"/>
            <a:endParaRPr lang="en-IE" sz="1000" dirty="0"/>
          </a:p>
          <a:p>
            <a:pPr marL="0" indent="22225">
              <a:buNone/>
            </a:pPr>
            <a:r>
              <a:rPr lang="en-IE" dirty="0"/>
              <a:t>All attributes in a table must be ‘</a:t>
            </a:r>
            <a:r>
              <a:rPr lang="en-IE" b="1" dirty="0"/>
              <a:t>atomic</a:t>
            </a:r>
            <a:r>
              <a:rPr lang="en-IE" dirty="0"/>
              <a:t>’, and </a:t>
            </a:r>
            <a:r>
              <a:rPr lang="en-IE" b="1" dirty="0"/>
              <a:t>solely</a:t>
            </a:r>
            <a:r>
              <a:rPr lang="en-IE" dirty="0"/>
              <a:t> </a:t>
            </a:r>
            <a:r>
              <a:rPr lang="en-IE" b="1" dirty="0"/>
              <a:t>dependant</a:t>
            </a:r>
            <a:r>
              <a:rPr lang="en-IE" dirty="0"/>
              <a:t> fully upon the </a:t>
            </a:r>
            <a:r>
              <a:rPr lang="en-IE" b="1" dirty="0"/>
              <a:t>primary key</a:t>
            </a:r>
            <a:r>
              <a:rPr lang="en-IE" dirty="0"/>
              <a:t> of that table.</a:t>
            </a:r>
          </a:p>
          <a:p>
            <a:pPr marL="419100" indent="-419100"/>
            <a:endParaRPr lang="en-IE" sz="1000" dirty="0"/>
          </a:p>
          <a:p>
            <a:pPr marL="419100" indent="-419100"/>
            <a:endParaRPr lang="en-IE" dirty="0"/>
          </a:p>
        </p:txBody>
      </p:sp>
      <p:sp>
        <p:nvSpPr>
          <p:cNvPr id="6" name="Slide Number Placeholder 5"/>
          <p:cNvSpPr>
            <a:spLocks noGrp="1"/>
          </p:cNvSpPr>
          <p:nvPr>
            <p:ph type="sldNum" sz="quarter" idx="12"/>
          </p:nvPr>
        </p:nvSpPr>
        <p:spPr/>
        <p:txBody>
          <a:bodyPr/>
          <a:lstStyle/>
          <a:p>
            <a:fld id="{B79A8C1B-624A-429F-B6FE-3FCA841B6CA1}" type="slidenum">
              <a:rPr lang="en-IE"/>
              <a:pPr/>
              <a:t>51</a:t>
            </a:fld>
            <a:endParaRPr lang="en-IE"/>
          </a:p>
        </p:txBody>
      </p:sp>
    </p:spTree>
    <p:extLst>
      <p:ext uri="{BB962C8B-B14F-4D97-AF65-F5344CB8AC3E}">
        <p14:creationId xmlns:p14="http://schemas.microsoft.com/office/powerpoint/2010/main" val="13242751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endParaRPr lang="en-IE" dirty="0"/>
          </a:p>
        </p:txBody>
      </p:sp>
      <p:sp>
        <p:nvSpPr>
          <p:cNvPr id="3" name="Content Placeholder 2"/>
          <p:cNvSpPr>
            <a:spLocks noGrp="1"/>
          </p:cNvSpPr>
          <p:nvPr>
            <p:ph idx="1"/>
          </p:nvPr>
        </p:nvSpPr>
        <p:spPr/>
        <p:txBody>
          <a:bodyPr/>
          <a:lstStyle/>
          <a:p>
            <a:endParaRPr lang="en-US" dirty="0"/>
          </a:p>
          <a:p>
            <a:endParaRPr lang="en-US" dirty="0"/>
          </a:p>
          <a:p>
            <a:r>
              <a:rPr lang="en-US" dirty="0"/>
              <a:t>Edmund </a:t>
            </a:r>
            <a:r>
              <a:rPr lang="en-US" dirty="0" err="1"/>
              <a:t>Nevin</a:t>
            </a:r>
            <a:r>
              <a:rPr lang="en-US" dirty="0"/>
              <a:t> </a:t>
            </a:r>
            <a:r>
              <a:rPr lang="en-IE" dirty="0"/>
              <a:t>for a earlier versions of these lecture notes</a:t>
            </a:r>
          </a:p>
        </p:txBody>
      </p:sp>
      <p:sp>
        <p:nvSpPr>
          <p:cNvPr id="4" name="Slide Number Placeholder 3"/>
          <p:cNvSpPr>
            <a:spLocks noGrp="1"/>
          </p:cNvSpPr>
          <p:nvPr>
            <p:ph type="sldNum" sz="quarter" idx="12"/>
          </p:nvPr>
        </p:nvSpPr>
        <p:spPr/>
        <p:txBody>
          <a:bodyPr/>
          <a:lstStyle/>
          <a:p>
            <a:fld id="{7341093E-ADCE-4CEF-A0BC-E1F79F413BC5}" type="slidenum">
              <a:rPr lang="en-IE" smtClean="0"/>
              <a:t>52</a:t>
            </a:fld>
            <a:endParaRPr lang="en-IE"/>
          </a:p>
        </p:txBody>
      </p:sp>
    </p:spTree>
    <p:extLst>
      <p:ext uri="{BB962C8B-B14F-4D97-AF65-F5344CB8AC3E}">
        <p14:creationId xmlns:p14="http://schemas.microsoft.com/office/powerpoint/2010/main" val="30650680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4 </a:t>
            </a:r>
            <a:endParaRPr lang="en-IE" dirty="0"/>
          </a:p>
        </p:txBody>
      </p:sp>
      <p:sp>
        <p:nvSpPr>
          <p:cNvPr id="3" name="Content Placeholder 2"/>
          <p:cNvSpPr>
            <a:spLocks noGrp="1"/>
          </p:cNvSpPr>
          <p:nvPr>
            <p:ph idx="1"/>
          </p:nvPr>
        </p:nvSpPr>
        <p:spPr/>
        <p:txBody>
          <a:bodyPr>
            <a:noAutofit/>
          </a:bodyPr>
          <a:lstStyle/>
          <a:p>
            <a:pPr marL="0" indent="0">
              <a:buNone/>
            </a:pPr>
            <a:r>
              <a:rPr lang="en-US" sz="2400" dirty="0"/>
              <a:t>A university library needs a new DBMS. The system needs to handle users borrowing and returning books and keep track of the overall status of the library. The library is located across several sites and all students can borrow up to 10 books at a time from any of the sites. For some popular books, the library keeps multiple copies across different sites to facilitate students’ access. Details of site manager, authors and publishers are also kept.</a:t>
            </a:r>
            <a:endParaRPr lang="en-IE" sz="2400" dirty="0"/>
          </a:p>
        </p:txBody>
      </p:sp>
      <p:sp>
        <p:nvSpPr>
          <p:cNvPr id="4" name="Slide Number Placeholder 3"/>
          <p:cNvSpPr>
            <a:spLocks noGrp="1"/>
          </p:cNvSpPr>
          <p:nvPr>
            <p:ph type="sldNum" sz="quarter" idx="12"/>
          </p:nvPr>
        </p:nvSpPr>
        <p:spPr/>
        <p:txBody>
          <a:bodyPr/>
          <a:lstStyle/>
          <a:p>
            <a:fld id="{7341093E-ADCE-4CEF-A0BC-E1F79F413BC5}" type="slidenum">
              <a:rPr lang="en-IE" smtClean="0"/>
              <a:t>53</a:t>
            </a:fld>
            <a:endParaRPr lang="en-IE"/>
          </a:p>
        </p:txBody>
      </p:sp>
    </p:spTree>
    <p:extLst>
      <p:ext uri="{BB962C8B-B14F-4D97-AF65-F5344CB8AC3E}">
        <p14:creationId xmlns:p14="http://schemas.microsoft.com/office/powerpoint/2010/main" val="22257115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4 </a:t>
            </a:r>
            <a:endParaRPr lang="en-IE" dirty="0"/>
          </a:p>
        </p:txBody>
      </p:sp>
      <p:sp>
        <p:nvSpPr>
          <p:cNvPr id="3" name="Content Placeholder 2"/>
          <p:cNvSpPr>
            <a:spLocks noGrp="1"/>
          </p:cNvSpPr>
          <p:nvPr>
            <p:ph idx="1"/>
          </p:nvPr>
        </p:nvSpPr>
        <p:spPr/>
        <p:txBody>
          <a:bodyPr>
            <a:noAutofit/>
          </a:bodyPr>
          <a:lstStyle/>
          <a:p>
            <a:pPr marL="0" indent="0">
              <a:buNone/>
            </a:pPr>
            <a:r>
              <a:rPr lang="en-US" sz="2400" dirty="0"/>
              <a:t>Extra requirements:</a:t>
            </a:r>
            <a:endParaRPr lang="en-IE" sz="2400" dirty="0"/>
          </a:p>
          <a:p>
            <a:pPr lvl="0"/>
            <a:r>
              <a:rPr lang="en-US" sz="2400" dirty="0"/>
              <a:t> Each site has one manager and managers can only manage one site.</a:t>
            </a:r>
            <a:endParaRPr lang="en-IE" sz="2400" dirty="0"/>
          </a:p>
          <a:p>
            <a:pPr lvl="0"/>
            <a:r>
              <a:rPr lang="en-US" sz="2400" dirty="0"/>
              <a:t> Assume books only have one author (for now).</a:t>
            </a:r>
          </a:p>
          <a:p>
            <a:pPr marL="0" lvl="0" indent="0">
              <a:buNone/>
            </a:pPr>
            <a:r>
              <a:rPr lang="en-US" sz="2400" dirty="0"/>
              <a:t>Pay attention</a:t>
            </a:r>
          </a:p>
          <a:p>
            <a:r>
              <a:rPr lang="en-IE" sz="2400" dirty="0"/>
              <a:t>A copy of the book is different to the generic book</a:t>
            </a:r>
          </a:p>
          <a:p>
            <a:r>
              <a:rPr lang="en-IE" sz="2400" dirty="0"/>
              <a:t>Decide what information is needed in the database and what can be calculated at a later stage</a:t>
            </a:r>
          </a:p>
          <a:p>
            <a:endParaRPr lang="en-IE" sz="2400" dirty="0"/>
          </a:p>
        </p:txBody>
      </p:sp>
      <p:sp>
        <p:nvSpPr>
          <p:cNvPr id="4" name="Slide Number Placeholder 3"/>
          <p:cNvSpPr>
            <a:spLocks noGrp="1"/>
          </p:cNvSpPr>
          <p:nvPr>
            <p:ph type="sldNum" sz="quarter" idx="12"/>
          </p:nvPr>
        </p:nvSpPr>
        <p:spPr/>
        <p:txBody>
          <a:bodyPr/>
          <a:lstStyle/>
          <a:p>
            <a:fld id="{7341093E-ADCE-4CEF-A0BC-E1F79F413BC5}" type="slidenum">
              <a:rPr lang="en-IE" smtClean="0"/>
              <a:t>54</a:t>
            </a:fld>
            <a:endParaRPr lang="en-IE"/>
          </a:p>
        </p:txBody>
      </p:sp>
    </p:spTree>
    <p:extLst>
      <p:ext uri="{BB962C8B-B14F-4D97-AF65-F5344CB8AC3E}">
        <p14:creationId xmlns:p14="http://schemas.microsoft.com/office/powerpoint/2010/main" val="15725657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5143499" cy="6858000"/>
          </a:xfrm>
        </p:spPr>
      </p:pic>
      <p:sp>
        <p:nvSpPr>
          <p:cNvPr id="2" name="Slide Number Placeholder 1"/>
          <p:cNvSpPr>
            <a:spLocks noGrp="1"/>
          </p:cNvSpPr>
          <p:nvPr>
            <p:ph type="sldNum" sz="quarter" idx="12"/>
          </p:nvPr>
        </p:nvSpPr>
        <p:spPr/>
        <p:txBody>
          <a:bodyPr/>
          <a:lstStyle/>
          <a:p>
            <a:fld id="{7341093E-ADCE-4CEF-A0BC-E1F79F413BC5}" type="slidenum">
              <a:rPr lang="en-IE" smtClean="0"/>
              <a:t>55</a:t>
            </a:fld>
            <a:endParaRPr lang="en-IE"/>
          </a:p>
        </p:txBody>
      </p:sp>
    </p:spTree>
    <p:extLst>
      <p:ext uri="{BB962C8B-B14F-4D97-AF65-F5344CB8AC3E}">
        <p14:creationId xmlns:p14="http://schemas.microsoft.com/office/powerpoint/2010/main" val="34320067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8ac162ce-97a9-4e9e-b24c-7c4d47bb89e0"/>
</p:tagLst>
</file>

<file path=ppt/theme/theme1.xml><?xml version="1.0" encoding="utf-8"?>
<a:theme xmlns:a="http://schemas.openxmlformats.org/drawingml/2006/main" name="AccessibleTemplate">
  <a:themeElements>
    <a:clrScheme name="TU D SoC">
      <a:dk1>
        <a:sysClr val="windowText" lastClr="000000"/>
      </a:dk1>
      <a:lt1>
        <a:srgbClr val="FAFBFD"/>
      </a:lt1>
      <a:dk2>
        <a:srgbClr val="004C6C"/>
      </a:dk2>
      <a:lt2>
        <a:srgbClr val="FAFBFD"/>
      </a:lt2>
      <a:accent1>
        <a:srgbClr val="00A9B7"/>
      </a:accent1>
      <a:accent2>
        <a:srgbClr val="EB5793"/>
      </a:accent2>
      <a:accent3>
        <a:srgbClr val="B60057"/>
      </a:accent3>
      <a:accent4>
        <a:srgbClr val="CFC600"/>
      </a:accent4>
      <a:accent5>
        <a:srgbClr val="F49D6C"/>
      </a:accent5>
      <a:accent6>
        <a:srgbClr val="E94A41"/>
      </a:accent6>
      <a:hlink>
        <a:srgbClr val="6359A6"/>
      </a:hlink>
      <a:folHlink>
        <a:srgbClr val="837EBA"/>
      </a:folHlink>
    </a:clrScheme>
    <a:fontScheme name="Custom 3">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Template.potx" id="{19A76EF7-685B-4DD9-AEC2-DD2E690A5E16}" vid="{F9D02FCD-DE17-4A7B-9E71-714D7E1CC4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86a8af6-524e-48fb-a2b5-8db5625d742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E497A5DDE61EC49B38F08F69D7D1C30" ma:contentTypeVersion="15" ma:contentTypeDescription="Create a new document." ma:contentTypeScope="" ma:versionID="9bb0376d8ed59645cd949b27d95b7409">
  <xsd:schema xmlns:xsd="http://www.w3.org/2001/XMLSchema" xmlns:xs="http://www.w3.org/2001/XMLSchema" xmlns:p="http://schemas.microsoft.com/office/2006/metadata/properties" xmlns:ns3="186a8af6-524e-48fb-a2b5-8db5625d742b" xmlns:ns4="8713c86b-11c3-4892-8b22-8e1103c1c89f" targetNamespace="http://schemas.microsoft.com/office/2006/metadata/properties" ma:root="true" ma:fieldsID="dc57b1baf380e13117ae7081a2a87d27" ns3:_="" ns4:_="">
    <xsd:import namespace="186a8af6-524e-48fb-a2b5-8db5625d742b"/>
    <xsd:import namespace="8713c86b-11c3-4892-8b22-8e1103c1c89f"/>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86a8af6-524e-48fb-a2b5-8db5625d74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713c86b-11c3-4892-8b22-8e1103c1c89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33E6A38-1633-4FB4-9752-3CA2FFEE9428}">
  <ds:schemaRefs>
    <ds:schemaRef ds:uri="http://schemas.microsoft.com/office/2006/metadata/properties"/>
    <ds:schemaRef ds:uri="http://schemas.microsoft.com/office/2006/documentManagement/types"/>
    <ds:schemaRef ds:uri="http://schemas.openxmlformats.org/package/2006/metadata/core-properties"/>
    <ds:schemaRef ds:uri="http://www.w3.org/XML/1998/namespace"/>
    <ds:schemaRef ds:uri="http://purl.org/dc/elements/1.1/"/>
    <ds:schemaRef ds:uri="http://purl.org/dc/dcmitype/"/>
    <ds:schemaRef ds:uri="http://purl.org/dc/terms/"/>
    <ds:schemaRef ds:uri="http://schemas.microsoft.com/office/infopath/2007/PartnerControls"/>
    <ds:schemaRef ds:uri="8713c86b-11c3-4892-8b22-8e1103c1c89f"/>
    <ds:schemaRef ds:uri="186a8af6-524e-48fb-a2b5-8db5625d742b"/>
  </ds:schemaRefs>
</ds:datastoreItem>
</file>

<file path=customXml/itemProps2.xml><?xml version="1.0" encoding="utf-8"?>
<ds:datastoreItem xmlns:ds="http://schemas.openxmlformats.org/officeDocument/2006/customXml" ds:itemID="{21AD33CF-84CF-4B4A-9B2F-DA49936129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86a8af6-524e-48fb-a2b5-8db5625d742b"/>
    <ds:schemaRef ds:uri="8713c86b-11c3-4892-8b22-8e1103c1c89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46C5DF5-36F3-4774-8906-D2975ED20D2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AccessibleTemplate</Template>
  <TotalTime>27320</TotalTime>
  <Words>2222</Words>
  <Application>Microsoft Office PowerPoint</Application>
  <PresentationFormat>Widescreen</PresentationFormat>
  <Paragraphs>528</Paragraphs>
  <Slides>55</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Arial</vt:lpstr>
      <vt:lpstr>Calibri</vt:lpstr>
      <vt:lpstr>Helvetica</vt:lpstr>
      <vt:lpstr>Open Sans</vt:lpstr>
      <vt:lpstr>AccessibleTemplate</vt:lpstr>
      <vt:lpstr>PowerPoint Presentation</vt:lpstr>
      <vt:lpstr>Week 4 Keys and Constraints</vt:lpstr>
      <vt:lpstr>Agenda</vt:lpstr>
      <vt:lpstr>Data Models</vt:lpstr>
      <vt:lpstr>Database Terminology</vt:lpstr>
      <vt:lpstr>Database Terminology</vt:lpstr>
      <vt:lpstr>Database Terminology</vt:lpstr>
      <vt:lpstr>Database Terminology</vt:lpstr>
      <vt:lpstr>Identifiers/keys</vt:lpstr>
      <vt:lpstr>Identifiers/Keys</vt:lpstr>
      <vt:lpstr>Identifiers/Keys Notation</vt:lpstr>
      <vt:lpstr>Identifiers/Keys Types</vt:lpstr>
      <vt:lpstr>Identifiers/Keys</vt:lpstr>
      <vt:lpstr>Identifiers/Keys Superkey</vt:lpstr>
      <vt:lpstr>Example Superkeys</vt:lpstr>
      <vt:lpstr>Identifiers/Keys Candidate Key</vt:lpstr>
      <vt:lpstr>Example superkeys and candidate keys</vt:lpstr>
      <vt:lpstr>Identifiers/Keys PK </vt:lpstr>
      <vt:lpstr>Identifiers/Keys FKs</vt:lpstr>
      <vt:lpstr>Identifiers/Keys</vt:lpstr>
      <vt:lpstr>Identifiers/Keys</vt:lpstr>
      <vt:lpstr>Constraints</vt:lpstr>
      <vt:lpstr>Constraint Classification</vt:lpstr>
      <vt:lpstr>Constraint Classification</vt:lpstr>
      <vt:lpstr>Constraint Classification</vt:lpstr>
      <vt:lpstr>Practical Example University 2</vt:lpstr>
      <vt:lpstr>Practice</vt:lpstr>
      <vt:lpstr>Referential Actions</vt:lpstr>
      <vt:lpstr>Referential Actions ON DELETE</vt:lpstr>
      <vt:lpstr>Referential Actions ON DELETE</vt:lpstr>
      <vt:lpstr>Referential Actions ON UPDATE</vt:lpstr>
      <vt:lpstr>Example: Referential Integrity </vt:lpstr>
      <vt:lpstr>Example: Referential Integrity ON DELETE CASCADE </vt:lpstr>
      <vt:lpstr>Example: Referential Integrity ON DELETE CASCADE </vt:lpstr>
      <vt:lpstr>Example: Referential Integrity ON DELETE RESTRICT  </vt:lpstr>
      <vt:lpstr>Example: Referential Integrity ON DELETE NO ACTION  </vt:lpstr>
      <vt:lpstr>Referential Integrity ON DELETE NO ACTION Different DBMS </vt:lpstr>
      <vt:lpstr>Practical Example University 2</vt:lpstr>
      <vt:lpstr>Practical Example University 2</vt:lpstr>
      <vt:lpstr>Normalisation</vt:lpstr>
      <vt:lpstr>Normalisation</vt:lpstr>
      <vt:lpstr>Normalisation</vt:lpstr>
      <vt:lpstr>Normalisation</vt:lpstr>
      <vt:lpstr>Normalisation</vt:lpstr>
      <vt:lpstr>Definitions relevant to normalisation</vt:lpstr>
      <vt:lpstr>Data Anomalies </vt:lpstr>
      <vt:lpstr>Example: Data Anomalies</vt:lpstr>
      <vt:lpstr>Stages of Normalisation</vt:lpstr>
      <vt:lpstr>Recap: Purpose of Normalisation</vt:lpstr>
      <vt:lpstr>Recap: Purpose of Normalisation</vt:lpstr>
      <vt:lpstr>Normalisation: Relational Model</vt:lpstr>
      <vt:lpstr>Thanks</vt:lpstr>
      <vt:lpstr>Lab 4 </vt:lpstr>
      <vt:lpstr>Lab 4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Marisa Llorens Salvador</dc:creator>
  <cp:lastModifiedBy>Marisa Llorens Salvador</cp:lastModifiedBy>
  <cp:revision>127</cp:revision>
  <dcterms:created xsi:type="dcterms:W3CDTF">2020-07-08T11:07:05Z</dcterms:created>
  <dcterms:modified xsi:type="dcterms:W3CDTF">2024-10-07T14:29:38Z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0x010100CE497A5DDE61EC49B38F08F69D7D1C30</vt:lpwstr>
  </property>
</Properties>
</file>